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6256000" cy="9144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54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0A92D4-8867-D534-ECFF-DE8BBDD028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D9BE12E-D215-27A1-8F52-C96F651244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13D4E9-8197-C43E-F31F-A86F625E4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5AE73-10C3-464D-81D5-DF4618A85C42}" type="datetimeFigureOut">
              <a:rPr lang="zh-CN" altLang="en-US" smtClean="0"/>
              <a:t>2026/5/3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C0025C-5930-152A-5E5B-5A2D35020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412FF0-59EF-0406-D154-0CE3E6663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59864-4B30-4F6A-B84D-FD429C1F1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3247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48D116-1EBE-8099-B84D-1743B53F1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42C736-62B6-648D-0285-15D16206B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2C36E9-098C-AB7D-C6E3-0F6B9D58B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5AE73-10C3-464D-81D5-DF4618A85C42}" type="datetimeFigureOut">
              <a:rPr lang="zh-CN" altLang="en-US" smtClean="0"/>
              <a:t>2026/5/3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8062D7-FD30-108D-9F6E-824E22AE6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AB5C97-2A52-8FA0-EAAB-51BCB25A5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59864-4B30-4F6A-B84D-FD429C1F1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3759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4FC384-03F1-B954-E3BA-687CDAC41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3"/>
            <a:ext cx="140208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DB8115-8502-590C-D734-8E136085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6"/>
            <a:ext cx="140208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6C2708-4DE2-9318-0BDC-B0BD15564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5AE73-10C3-464D-81D5-DF4618A85C42}" type="datetimeFigureOut">
              <a:rPr lang="zh-CN" altLang="en-US" smtClean="0"/>
              <a:t>2026/5/3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8C4B99-187F-45D5-A2FC-719A8675F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7D4F4C-7B30-4636-7791-F7BF83CCF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59864-4B30-4F6A-B84D-FD429C1F1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153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54099E-06C3-FD62-DBCA-BD8E54741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F1D929-BD0A-45DC-FAE7-4C1FF757F1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7029F5-2BC7-2D24-1903-7052F1B221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77370B-BE80-AC54-1DEE-02AEAF780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5AE73-10C3-464D-81D5-DF4618A85C42}" type="datetimeFigureOut">
              <a:rPr lang="zh-CN" altLang="en-US" smtClean="0"/>
              <a:t>2026/5/3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F9569EC-5D93-52DF-4D95-0F590C7BF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3CAA00E-3769-601E-04F1-0E138ADD6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59864-4B30-4F6A-B84D-FD429C1F1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9213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25795C-42B0-7C9D-54D8-76E9F6EB9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6"/>
            <a:ext cx="14020800" cy="176741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0AEBCA-CC01-5C64-C270-88E9288F8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9" y="2241551"/>
            <a:ext cx="6877049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AB969E-4F3A-5BB4-72D8-92CE1EDAE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9" y="3340100"/>
            <a:ext cx="6877049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B4D3992-AFF0-D25E-02DB-81AFEBC814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1" y="2241551"/>
            <a:ext cx="691091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2888457-892D-FB9A-299E-ACA6E52BAF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1" y="3340100"/>
            <a:ext cx="6910917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F23F42A-0C6D-6D42-4EB3-AA6B4E554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5AE73-10C3-464D-81D5-DF4618A85C42}" type="datetimeFigureOut">
              <a:rPr lang="zh-CN" altLang="en-US" smtClean="0"/>
              <a:t>2026/5/3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42C63BB-E3E9-F1DF-BD3A-47B4F789D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11FD939-D253-AA96-4160-AB707A943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59864-4B30-4F6A-B84D-FD429C1F1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4147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5E1FE6-8103-CDB8-FC84-AE5682A83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1CAF740-5CA0-0CB7-D770-C9E560A07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5AE73-10C3-464D-81D5-DF4618A85C42}" type="datetimeFigureOut">
              <a:rPr lang="zh-CN" altLang="en-US" smtClean="0"/>
              <a:t>2026/5/3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0C5F636-4541-C876-8663-E7208AF40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56FB8A5-1831-EA5C-0662-C58DCBA9C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59864-4B30-4F6A-B84D-FD429C1F1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1803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2CFB3A3-5BFF-A4F4-CBF6-0A2235B2D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5AE73-10C3-464D-81D5-DF4618A85C42}" type="datetimeFigureOut">
              <a:rPr lang="zh-CN" altLang="en-US" smtClean="0"/>
              <a:t>2026/5/3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21EB38E-8841-3C9C-D5BC-65038EA27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45A4F1-3701-8EF1-C4D5-651C95085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59864-4B30-4F6A-B84D-FD429C1F1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8769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10BBC8-E56E-2BD6-978C-738249275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FE7EC6-8EA2-3997-1802-3872129F2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EE9A135-0049-3CF2-0D4C-6578C4610B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2C5F0DD-3B74-96A6-138B-CBB84FFD8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5AE73-10C3-464D-81D5-DF4618A85C42}" type="datetimeFigureOut">
              <a:rPr lang="zh-CN" altLang="en-US" smtClean="0"/>
              <a:t>2026/5/3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F2B3E59-C951-9621-DEC7-F81778C23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DD5291-3213-3896-1F35-8676F856F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59864-4B30-4F6A-B84D-FD429C1F1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3011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04DF8-F0E4-0192-D2CC-E2D53F87A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6F39616-0E6F-D4D4-2940-F056F3F74F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481418A-FDB7-3CFA-56BB-3022DBEC5D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B165F8C-599D-4CA7-DCB2-1D3E7F5AB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5AE73-10C3-464D-81D5-DF4618A85C42}" type="datetimeFigureOut">
              <a:rPr lang="zh-CN" altLang="en-US" smtClean="0"/>
              <a:t>2026/5/3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11F7D0-9439-CA01-5A60-4CB7DA992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E5408B-A9DE-8F2F-7BCB-27947BCC6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59864-4B30-4F6A-B84D-FD429C1F1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4709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7AD514-1657-EA21-4342-4AD189205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D4806E7-0871-C3DA-B72A-D247ABB3DB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519ECD-1693-0E5C-61EC-5296AD3F5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5AE73-10C3-464D-81D5-DF4618A85C42}" type="datetimeFigureOut">
              <a:rPr lang="zh-CN" altLang="en-US" smtClean="0"/>
              <a:t>2026/5/3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7AEC75-DC5C-E7FE-4471-17351A6B8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720EA9-B974-C229-8873-A8018A157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59864-4B30-4F6A-B84D-FD429C1F1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4292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575E1D5-8A5E-70CF-2EC7-534E8F3782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4F1B69C-45E9-7DF2-83D9-9751027011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55C4C9-78B9-4AFB-1BB0-A2F943B61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5AE73-10C3-464D-81D5-DF4618A85C42}" type="datetimeFigureOut">
              <a:rPr lang="zh-CN" altLang="en-US" smtClean="0"/>
              <a:t>2026/5/3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8340D9-FB00-2D29-EB51-1A9F13B51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24E009-C842-05EB-6577-8F5680BB3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59864-4B30-4F6A-B84D-FD429C1F1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9653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74A452C-288C-9276-145F-21A5EB8DF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6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0EDCBF-91BD-BFF1-23CB-98EAF10BF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4CE1D1-E4A5-DC5B-9AA4-2659CC172A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05AE73-10C3-464D-81D5-DF4618A85C42}" type="datetimeFigureOut">
              <a:rPr lang="zh-CN" altLang="en-US" smtClean="0"/>
              <a:t>2026/5/3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186753-FC60-132D-B9FC-E53B80C555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6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3DBC43-83C9-6AF5-5052-CCFFFC4F36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B59864-4B30-4F6A-B84D-FD429C1F1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9145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1">
            <a:extLst>
              <a:ext uri="{FF2B5EF4-FFF2-40B4-BE49-F238E27FC236}">
                <a16:creationId xmlns:a16="http://schemas.microsoft.com/office/drawing/2014/main" id="{C3EC35D3-74DE-8CDF-5DAD-768D5C63BA8A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70B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F6A54DA-E5E0-72FE-34F9-49D6054FD0F3}"/>
              </a:ext>
            </a:extLst>
          </p:cNvPr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D6AD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EC25B0C-7899-411D-BC9D-B6150551C6FC}"/>
              </a:ext>
            </a:extLst>
          </p:cNvPr>
          <p:cNvSpPr/>
          <p:nvPr/>
        </p:nvSpPr>
        <p:spPr>
          <a:xfrm>
            <a:off x="762000" y="571500"/>
            <a:ext cx="3937000" cy="3937000"/>
          </a:xfrm>
          <a:prstGeom prst="ellipse">
            <a:avLst/>
          </a:prstGeom>
          <a:solidFill>
            <a:srgbClr val="D6AD61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5E7E7FE-B5BA-2CB0-9777-1BB3F104E385}"/>
              </a:ext>
            </a:extLst>
          </p:cNvPr>
          <p:cNvSpPr/>
          <p:nvPr/>
        </p:nvSpPr>
        <p:spPr>
          <a:xfrm>
            <a:off x="11430000" y="889000"/>
            <a:ext cx="3556000" cy="3556000"/>
          </a:xfrm>
          <a:prstGeom prst="ellipse">
            <a:avLst/>
          </a:prstGeom>
          <a:solidFill>
            <a:srgbClr val="20C7AE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3C6FAE4-5361-2BFD-B495-197B13F8651D}"/>
              </a:ext>
            </a:extLst>
          </p:cNvPr>
          <p:cNvSpPr/>
          <p:nvPr/>
        </p:nvSpPr>
        <p:spPr>
          <a:xfrm>
            <a:off x="10414000" y="5969000"/>
            <a:ext cx="3302000" cy="3302000"/>
          </a:xfrm>
          <a:prstGeom prst="ellipse">
            <a:avLst/>
          </a:prstGeom>
          <a:solidFill>
            <a:srgbClr val="9B75F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A31303F-8D63-171C-CBDB-5254ACBC50DB}"/>
              </a:ext>
            </a:extLst>
          </p:cNvPr>
          <p:cNvCxnSpPr/>
          <p:nvPr/>
        </p:nvCxnSpPr>
        <p:spPr>
          <a:xfrm>
            <a:off x="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8B8770D-5B4A-8B5F-81D1-ABEFBD262900}"/>
              </a:ext>
            </a:extLst>
          </p:cNvPr>
          <p:cNvCxnSpPr/>
          <p:nvPr/>
        </p:nvCxnSpPr>
        <p:spPr>
          <a:xfrm>
            <a:off x="812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0784095-F831-8B20-5D27-6D9819095BD9}"/>
              </a:ext>
            </a:extLst>
          </p:cNvPr>
          <p:cNvCxnSpPr/>
          <p:nvPr/>
        </p:nvCxnSpPr>
        <p:spPr>
          <a:xfrm>
            <a:off x="1625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6E9C387-A8E8-75D0-98E7-3E67502A3000}"/>
              </a:ext>
            </a:extLst>
          </p:cNvPr>
          <p:cNvCxnSpPr/>
          <p:nvPr/>
        </p:nvCxnSpPr>
        <p:spPr>
          <a:xfrm>
            <a:off x="2438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95037AD-B1B5-09EF-AB98-DB44275C015E}"/>
              </a:ext>
            </a:extLst>
          </p:cNvPr>
          <p:cNvCxnSpPr/>
          <p:nvPr/>
        </p:nvCxnSpPr>
        <p:spPr>
          <a:xfrm>
            <a:off x="3251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179F27E-417C-C823-F96A-63FAFAAACCF5}"/>
              </a:ext>
            </a:extLst>
          </p:cNvPr>
          <p:cNvCxnSpPr/>
          <p:nvPr/>
        </p:nvCxnSpPr>
        <p:spPr>
          <a:xfrm>
            <a:off x="4064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6AA1476-076B-DADF-C4FC-09C2BD08404C}"/>
              </a:ext>
            </a:extLst>
          </p:cNvPr>
          <p:cNvCxnSpPr/>
          <p:nvPr/>
        </p:nvCxnSpPr>
        <p:spPr>
          <a:xfrm>
            <a:off x="4876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841C5FFB-A873-2335-850D-E503E21E9DC7}"/>
              </a:ext>
            </a:extLst>
          </p:cNvPr>
          <p:cNvCxnSpPr/>
          <p:nvPr/>
        </p:nvCxnSpPr>
        <p:spPr>
          <a:xfrm>
            <a:off x="5689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BB4610B4-2302-558B-E171-D0AE210D8138}"/>
              </a:ext>
            </a:extLst>
          </p:cNvPr>
          <p:cNvCxnSpPr/>
          <p:nvPr/>
        </p:nvCxnSpPr>
        <p:spPr>
          <a:xfrm>
            <a:off x="6502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87F6E6F9-20DF-A41A-C5C2-3F3D5F3B3731}"/>
              </a:ext>
            </a:extLst>
          </p:cNvPr>
          <p:cNvCxnSpPr/>
          <p:nvPr/>
        </p:nvCxnSpPr>
        <p:spPr>
          <a:xfrm>
            <a:off x="7315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0C8A36F-820F-63F5-E6DD-77C15F2B774B}"/>
              </a:ext>
            </a:extLst>
          </p:cNvPr>
          <p:cNvCxnSpPr/>
          <p:nvPr/>
        </p:nvCxnSpPr>
        <p:spPr>
          <a:xfrm>
            <a:off x="8128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BCD2526E-7890-63FD-7AAF-24751AA56F9D}"/>
              </a:ext>
            </a:extLst>
          </p:cNvPr>
          <p:cNvCxnSpPr/>
          <p:nvPr/>
        </p:nvCxnSpPr>
        <p:spPr>
          <a:xfrm>
            <a:off x="8940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1F1A7A99-46C4-0DE7-6941-85A7E27EB3EC}"/>
              </a:ext>
            </a:extLst>
          </p:cNvPr>
          <p:cNvCxnSpPr/>
          <p:nvPr/>
        </p:nvCxnSpPr>
        <p:spPr>
          <a:xfrm>
            <a:off x="9753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ED778762-5604-0F52-F7BD-1D9356E73411}"/>
              </a:ext>
            </a:extLst>
          </p:cNvPr>
          <p:cNvCxnSpPr/>
          <p:nvPr/>
        </p:nvCxnSpPr>
        <p:spPr>
          <a:xfrm>
            <a:off x="10566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15AAC8AF-098A-217E-7FEA-6835CD071266}"/>
              </a:ext>
            </a:extLst>
          </p:cNvPr>
          <p:cNvCxnSpPr/>
          <p:nvPr/>
        </p:nvCxnSpPr>
        <p:spPr>
          <a:xfrm>
            <a:off x="11379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96944115-A696-6CDD-0083-D2448B1D9609}"/>
              </a:ext>
            </a:extLst>
          </p:cNvPr>
          <p:cNvCxnSpPr/>
          <p:nvPr/>
        </p:nvCxnSpPr>
        <p:spPr>
          <a:xfrm>
            <a:off x="12192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FA73CA20-3D8B-5AB4-D052-6C0D4C486436}"/>
              </a:ext>
            </a:extLst>
          </p:cNvPr>
          <p:cNvCxnSpPr/>
          <p:nvPr/>
        </p:nvCxnSpPr>
        <p:spPr>
          <a:xfrm>
            <a:off x="13004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928BF158-6239-7F7A-FD7E-6AB9E4C8219D}"/>
              </a:ext>
            </a:extLst>
          </p:cNvPr>
          <p:cNvCxnSpPr/>
          <p:nvPr/>
        </p:nvCxnSpPr>
        <p:spPr>
          <a:xfrm>
            <a:off x="13817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A98ED099-1F90-A8DC-7799-8E56A297DDA7}"/>
              </a:ext>
            </a:extLst>
          </p:cNvPr>
          <p:cNvCxnSpPr/>
          <p:nvPr/>
        </p:nvCxnSpPr>
        <p:spPr>
          <a:xfrm>
            <a:off x="14630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0BD886D0-8786-2AAC-6348-88DC881E4080}"/>
              </a:ext>
            </a:extLst>
          </p:cNvPr>
          <p:cNvCxnSpPr/>
          <p:nvPr/>
        </p:nvCxnSpPr>
        <p:spPr>
          <a:xfrm>
            <a:off x="15443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173593C7-C375-AD9A-2B6E-46DD913D1E78}"/>
              </a:ext>
            </a:extLst>
          </p:cNvPr>
          <p:cNvCxnSpPr/>
          <p:nvPr/>
        </p:nvCxnSpPr>
        <p:spPr>
          <a:xfrm>
            <a:off x="0" y="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E8BBE7D-4EAE-55DA-BD13-F6A46C9A81F5}"/>
              </a:ext>
            </a:extLst>
          </p:cNvPr>
          <p:cNvCxnSpPr/>
          <p:nvPr/>
        </p:nvCxnSpPr>
        <p:spPr>
          <a:xfrm>
            <a:off x="0" y="812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F7240601-2C5A-7363-80E9-6F0B43115813}"/>
              </a:ext>
            </a:extLst>
          </p:cNvPr>
          <p:cNvCxnSpPr/>
          <p:nvPr/>
        </p:nvCxnSpPr>
        <p:spPr>
          <a:xfrm>
            <a:off x="0" y="1625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C44382A2-E22B-CBEC-BDA4-80550576C222}"/>
              </a:ext>
            </a:extLst>
          </p:cNvPr>
          <p:cNvCxnSpPr/>
          <p:nvPr/>
        </p:nvCxnSpPr>
        <p:spPr>
          <a:xfrm>
            <a:off x="0" y="2438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1C91D509-05E0-A862-35FD-111BD935FA54}"/>
              </a:ext>
            </a:extLst>
          </p:cNvPr>
          <p:cNvCxnSpPr/>
          <p:nvPr/>
        </p:nvCxnSpPr>
        <p:spPr>
          <a:xfrm>
            <a:off x="0" y="3251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13E3A006-7A9A-F647-23C9-4E0AE2DD431C}"/>
              </a:ext>
            </a:extLst>
          </p:cNvPr>
          <p:cNvCxnSpPr/>
          <p:nvPr/>
        </p:nvCxnSpPr>
        <p:spPr>
          <a:xfrm>
            <a:off x="0" y="4064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4282361B-BDE6-B202-482E-725AD5D0B8D0}"/>
              </a:ext>
            </a:extLst>
          </p:cNvPr>
          <p:cNvCxnSpPr/>
          <p:nvPr/>
        </p:nvCxnSpPr>
        <p:spPr>
          <a:xfrm>
            <a:off x="0" y="4876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04005D15-E2A5-00F9-2F63-E068CE2D5B30}"/>
              </a:ext>
            </a:extLst>
          </p:cNvPr>
          <p:cNvCxnSpPr/>
          <p:nvPr/>
        </p:nvCxnSpPr>
        <p:spPr>
          <a:xfrm>
            <a:off x="0" y="5689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FA85BB0B-AC83-A2FE-E57C-12F9192D7FB8}"/>
              </a:ext>
            </a:extLst>
          </p:cNvPr>
          <p:cNvCxnSpPr/>
          <p:nvPr/>
        </p:nvCxnSpPr>
        <p:spPr>
          <a:xfrm>
            <a:off x="0" y="6502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313ADD0C-18EB-FD25-6758-419F10D2C716}"/>
              </a:ext>
            </a:extLst>
          </p:cNvPr>
          <p:cNvCxnSpPr/>
          <p:nvPr/>
        </p:nvCxnSpPr>
        <p:spPr>
          <a:xfrm>
            <a:off x="0" y="7315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74CD1F2F-D175-D9EB-BAF4-DD2A7AECC98A}"/>
              </a:ext>
            </a:extLst>
          </p:cNvPr>
          <p:cNvCxnSpPr/>
          <p:nvPr/>
        </p:nvCxnSpPr>
        <p:spPr>
          <a:xfrm>
            <a:off x="0" y="8128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D6701475-706A-CF38-709B-70A2F2E0F75D}"/>
              </a:ext>
            </a:extLst>
          </p:cNvPr>
          <p:cNvCxnSpPr/>
          <p:nvPr/>
        </p:nvCxnSpPr>
        <p:spPr>
          <a:xfrm>
            <a:off x="0" y="8940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1984D383-0B5D-F66A-4EC3-961C151841EE}"/>
              </a:ext>
            </a:extLst>
          </p:cNvPr>
          <p:cNvSpPr txBox="1"/>
          <p:nvPr/>
        </p:nvSpPr>
        <p:spPr>
          <a:xfrm>
            <a:off x="1168400" y="1333500"/>
            <a:ext cx="114300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500">
                <a:solidFill>
                  <a:srgbClr val="20C7AE"/>
                </a:solidFill>
                <a:latin typeface="Consolas" panose="020B0609020204030204" pitchFamily="49" charset="0"/>
              </a:rPr>
              <a:t>AI Practical Sharing / Product Team</a:t>
            </a:r>
            <a:endParaRPr lang="zh-CN" altLang="en-US" sz="1500">
              <a:solidFill>
                <a:srgbClr val="20C7AE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AC7FB7C-8E1F-3AB5-FDD9-B7FEEDD122B4}"/>
              </a:ext>
            </a:extLst>
          </p:cNvPr>
          <p:cNvSpPr txBox="1"/>
          <p:nvPr/>
        </p:nvSpPr>
        <p:spPr>
          <a:xfrm>
            <a:off x="1168400" y="1905000"/>
            <a:ext cx="9652000" cy="196977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6400" b="1">
                <a:solidFill>
                  <a:srgbClr val="EFECE5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驯化野生
硅基伙伴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64C490AE-F99C-E73A-7124-B583AA383995}"/>
              </a:ext>
            </a:extLst>
          </p:cNvPr>
          <p:cNvSpPr txBox="1"/>
          <p:nvPr/>
        </p:nvSpPr>
        <p:spPr>
          <a:xfrm>
            <a:off x="1168400" y="4445000"/>
            <a:ext cx="10541000" cy="3847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25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从真实痛点出发，把 </a:t>
            </a:r>
            <a:r>
              <a:rPr lang="en-US" altLang="zh-CN" sz="25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AI </a:t>
            </a:r>
            <a:r>
              <a:rPr lang="zh-CN" altLang="en-US" sz="25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训练成能帮你做事、甚至帮你造工具的伙伴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17AA27C-02D3-6DF2-70F5-43E06E31DB21}"/>
              </a:ext>
            </a:extLst>
          </p:cNvPr>
          <p:cNvSpPr txBox="1"/>
          <p:nvPr/>
        </p:nvSpPr>
        <p:spPr>
          <a:xfrm>
            <a:off x="1168400" y="7670800"/>
            <a:ext cx="8636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面向：中心内部产品岗 </a:t>
            </a:r>
            <a:r>
              <a:rPr lang="en-US" altLang="zh-CN" sz="15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 </a:t>
            </a:r>
            <a:r>
              <a:rPr lang="zh-CN" altLang="en-US" sz="15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对 </a:t>
            </a:r>
            <a:r>
              <a:rPr lang="en-US" altLang="zh-CN" sz="15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AI </a:t>
            </a:r>
            <a:r>
              <a:rPr lang="zh-CN" altLang="en-US" sz="15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实用有困惑的同学
分享人：孙懿（猫姐）</a:t>
            </a:r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2C9729CA-F520-65E6-6247-B74FEA1DEC30}"/>
              </a:ext>
            </a:extLst>
          </p:cNvPr>
          <p:cNvSpPr/>
          <p:nvPr/>
        </p:nvSpPr>
        <p:spPr>
          <a:xfrm>
            <a:off x="12090400" y="5461000"/>
            <a:ext cx="2794000" cy="2794000"/>
          </a:xfrm>
          <a:prstGeom prst="ellipse">
            <a:avLst/>
          </a:prstGeom>
          <a:solidFill>
            <a:srgbClr val="20C7AE">
              <a:alpha val="70000"/>
            </a:srgbClr>
          </a:solidFill>
          <a:ln w="12700" cap="flat" cmpd="sng" algn="ctr">
            <a:solidFill>
              <a:srgbClr val="D6AD61">
                <a:alpha val="7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0DF427E0-BF06-7C85-C690-D680938D95D6}"/>
              </a:ext>
            </a:extLst>
          </p:cNvPr>
          <p:cNvSpPr txBox="1"/>
          <p:nvPr/>
        </p:nvSpPr>
        <p:spPr>
          <a:xfrm>
            <a:off x="14351000" y="8534400"/>
            <a:ext cx="1016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697184"/>
                </a:solidFill>
                <a:latin typeface="Consolas" panose="020B0609020204030204" pitchFamily="49" charset="0"/>
              </a:rPr>
              <a:t>01 / 18</a:t>
            </a:r>
            <a:endParaRPr lang="zh-CN" altLang="en-US" sz="1100">
              <a:solidFill>
                <a:srgbClr val="697184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3636E7AC-57E5-D1A4-B605-EFD953D9E572}"/>
              </a:ext>
            </a:extLst>
          </p:cNvPr>
          <p:cNvSpPr/>
          <p:nvPr/>
        </p:nvSpPr>
        <p:spPr>
          <a:xfrm>
            <a:off x="0" y="9093200"/>
            <a:ext cx="903111" cy="50800"/>
          </a:xfrm>
          <a:prstGeom prst="rect">
            <a:avLst/>
          </a:prstGeom>
          <a:solidFill>
            <a:srgbClr val="20C7A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4966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2">
            <a:extLst>
              <a:ext uri="{FF2B5EF4-FFF2-40B4-BE49-F238E27FC236}">
                <a16:creationId xmlns:a16="http://schemas.microsoft.com/office/drawing/2014/main" id="{6A11F7E2-6114-D0AE-1643-FDC9E718191A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70B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ABF8563-2961-2FAB-5DCE-B31592B43ACB}"/>
              </a:ext>
            </a:extLst>
          </p:cNvPr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D6AD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5432F0DE-1053-83CF-0503-DC14AD242809}"/>
              </a:ext>
            </a:extLst>
          </p:cNvPr>
          <p:cNvSpPr/>
          <p:nvPr/>
        </p:nvSpPr>
        <p:spPr>
          <a:xfrm>
            <a:off x="762000" y="571500"/>
            <a:ext cx="3937000" cy="3937000"/>
          </a:xfrm>
          <a:prstGeom prst="ellipse">
            <a:avLst/>
          </a:prstGeom>
          <a:solidFill>
            <a:srgbClr val="D6AD61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D4E4504D-556A-93DE-A93A-C201082712B5}"/>
              </a:ext>
            </a:extLst>
          </p:cNvPr>
          <p:cNvSpPr/>
          <p:nvPr/>
        </p:nvSpPr>
        <p:spPr>
          <a:xfrm>
            <a:off x="11430000" y="889000"/>
            <a:ext cx="3556000" cy="3556000"/>
          </a:xfrm>
          <a:prstGeom prst="ellipse">
            <a:avLst/>
          </a:prstGeom>
          <a:solidFill>
            <a:srgbClr val="20C7AE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510D7FD-6137-086F-C191-CEBE6268293C}"/>
              </a:ext>
            </a:extLst>
          </p:cNvPr>
          <p:cNvSpPr/>
          <p:nvPr/>
        </p:nvSpPr>
        <p:spPr>
          <a:xfrm>
            <a:off x="10414000" y="5969000"/>
            <a:ext cx="3302000" cy="3302000"/>
          </a:xfrm>
          <a:prstGeom prst="ellipse">
            <a:avLst/>
          </a:prstGeom>
          <a:solidFill>
            <a:srgbClr val="9B75F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672D593-9110-3617-B5B7-6EF70CE4215B}"/>
              </a:ext>
            </a:extLst>
          </p:cNvPr>
          <p:cNvCxnSpPr/>
          <p:nvPr/>
        </p:nvCxnSpPr>
        <p:spPr>
          <a:xfrm>
            <a:off x="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1135987-7523-C7DF-D0D7-6B53DC1D5BE1}"/>
              </a:ext>
            </a:extLst>
          </p:cNvPr>
          <p:cNvCxnSpPr/>
          <p:nvPr/>
        </p:nvCxnSpPr>
        <p:spPr>
          <a:xfrm>
            <a:off x="812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CB89D6F2-0476-DACE-7566-D36754905DEA}"/>
              </a:ext>
            </a:extLst>
          </p:cNvPr>
          <p:cNvCxnSpPr/>
          <p:nvPr/>
        </p:nvCxnSpPr>
        <p:spPr>
          <a:xfrm>
            <a:off x="1625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6BA4F08-768D-4F69-F348-AC3DB483A79E}"/>
              </a:ext>
            </a:extLst>
          </p:cNvPr>
          <p:cNvCxnSpPr/>
          <p:nvPr/>
        </p:nvCxnSpPr>
        <p:spPr>
          <a:xfrm>
            <a:off x="2438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3571CFD3-B461-EDBB-A925-7068025D7372}"/>
              </a:ext>
            </a:extLst>
          </p:cNvPr>
          <p:cNvCxnSpPr/>
          <p:nvPr/>
        </p:nvCxnSpPr>
        <p:spPr>
          <a:xfrm>
            <a:off x="3251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CE6CFEE-43BE-ACDF-DF77-5EEE744410FC}"/>
              </a:ext>
            </a:extLst>
          </p:cNvPr>
          <p:cNvCxnSpPr/>
          <p:nvPr/>
        </p:nvCxnSpPr>
        <p:spPr>
          <a:xfrm>
            <a:off x="4064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E7AD530-B756-6688-B561-AFED354AACF2}"/>
              </a:ext>
            </a:extLst>
          </p:cNvPr>
          <p:cNvCxnSpPr/>
          <p:nvPr/>
        </p:nvCxnSpPr>
        <p:spPr>
          <a:xfrm>
            <a:off x="4876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BD45EC8C-4D3A-9C0B-AD58-30E462EB33E1}"/>
              </a:ext>
            </a:extLst>
          </p:cNvPr>
          <p:cNvCxnSpPr/>
          <p:nvPr/>
        </p:nvCxnSpPr>
        <p:spPr>
          <a:xfrm>
            <a:off x="5689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340A9879-1F77-8EBE-2D40-F163048FDD0F}"/>
              </a:ext>
            </a:extLst>
          </p:cNvPr>
          <p:cNvCxnSpPr/>
          <p:nvPr/>
        </p:nvCxnSpPr>
        <p:spPr>
          <a:xfrm>
            <a:off x="6502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F3C793F-B57C-0E74-DC73-F524197D768E}"/>
              </a:ext>
            </a:extLst>
          </p:cNvPr>
          <p:cNvCxnSpPr/>
          <p:nvPr/>
        </p:nvCxnSpPr>
        <p:spPr>
          <a:xfrm>
            <a:off x="7315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8BE4448-C44A-0896-9074-234482B888D1}"/>
              </a:ext>
            </a:extLst>
          </p:cNvPr>
          <p:cNvCxnSpPr/>
          <p:nvPr/>
        </p:nvCxnSpPr>
        <p:spPr>
          <a:xfrm>
            <a:off x="8128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C236ACD9-4862-C572-817D-62101C88637C}"/>
              </a:ext>
            </a:extLst>
          </p:cNvPr>
          <p:cNvCxnSpPr/>
          <p:nvPr/>
        </p:nvCxnSpPr>
        <p:spPr>
          <a:xfrm>
            <a:off x="8940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C6F5E4FE-1C94-8474-6816-391021E41E11}"/>
              </a:ext>
            </a:extLst>
          </p:cNvPr>
          <p:cNvCxnSpPr/>
          <p:nvPr/>
        </p:nvCxnSpPr>
        <p:spPr>
          <a:xfrm>
            <a:off x="9753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6CF9EFC8-7CDB-4FE2-3688-BADAE5CB33FA}"/>
              </a:ext>
            </a:extLst>
          </p:cNvPr>
          <p:cNvCxnSpPr/>
          <p:nvPr/>
        </p:nvCxnSpPr>
        <p:spPr>
          <a:xfrm>
            <a:off x="10566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5FC61D44-4A5C-CC8E-2EA6-62579A5C0332}"/>
              </a:ext>
            </a:extLst>
          </p:cNvPr>
          <p:cNvCxnSpPr/>
          <p:nvPr/>
        </p:nvCxnSpPr>
        <p:spPr>
          <a:xfrm>
            <a:off x="11379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94D52E58-8501-3060-8C3A-BB1D93830484}"/>
              </a:ext>
            </a:extLst>
          </p:cNvPr>
          <p:cNvCxnSpPr/>
          <p:nvPr/>
        </p:nvCxnSpPr>
        <p:spPr>
          <a:xfrm>
            <a:off x="12192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A31E550C-70ED-0CA8-3615-2D65D8B6AC92}"/>
              </a:ext>
            </a:extLst>
          </p:cNvPr>
          <p:cNvCxnSpPr/>
          <p:nvPr/>
        </p:nvCxnSpPr>
        <p:spPr>
          <a:xfrm>
            <a:off x="13004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BD23E8BB-2CEE-F146-8972-E0DF4A0AA08B}"/>
              </a:ext>
            </a:extLst>
          </p:cNvPr>
          <p:cNvCxnSpPr/>
          <p:nvPr/>
        </p:nvCxnSpPr>
        <p:spPr>
          <a:xfrm>
            <a:off x="13817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75591DFA-97F0-6934-9898-01A9D362B218}"/>
              </a:ext>
            </a:extLst>
          </p:cNvPr>
          <p:cNvCxnSpPr/>
          <p:nvPr/>
        </p:nvCxnSpPr>
        <p:spPr>
          <a:xfrm>
            <a:off x="14630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EBF84D3A-982D-D990-C5EE-04F9807C0BD7}"/>
              </a:ext>
            </a:extLst>
          </p:cNvPr>
          <p:cNvCxnSpPr/>
          <p:nvPr/>
        </p:nvCxnSpPr>
        <p:spPr>
          <a:xfrm>
            <a:off x="15443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EF14F1A3-3E88-B629-E73D-B1E9CB7CC084}"/>
              </a:ext>
            </a:extLst>
          </p:cNvPr>
          <p:cNvCxnSpPr/>
          <p:nvPr/>
        </p:nvCxnSpPr>
        <p:spPr>
          <a:xfrm>
            <a:off x="0" y="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50181537-1215-A622-A318-73E829009A2D}"/>
              </a:ext>
            </a:extLst>
          </p:cNvPr>
          <p:cNvCxnSpPr/>
          <p:nvPr/>
        </p:nvCxnSpPr>
        <p:spPr>
          <a:xfrm>
            <a:off x="0" y="812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6865FB22-4019-D3B6-01A3-F6E256ED317A}"/>
              </a:ext>
            </a:extLst>
          </p:cNvPr>
          <p:cNvCxnSpPr/>
          <p:nvPr/>
        </p:nvCxnSpPr>
        <p:spPr>
          <a:xfrm>
            <a:off x="0" y="1625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491EB903-B81B-7497-0648-DB43E1081547}"/>
              </a:ext>
            </a:extLst>
          </p:cNvPr>
          <p:cNvCxnSpPr/>
          <p:nvPr/>
        </p:nvCxnSpPr>
        <p:spPr>
          <a:xfrm>
            <a:off x="0" y="2438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E2F0E72-EBC9-4231-114B-C3457E16FF8C}"/>
              </a:ext>
            </a:extLst>
          </p:cNvPr>
          <p:cNvCxnSpPr/>
          <p:nvPr/>
        </p:nvCxnSpPr>
        <p:spPr>
          <a:xfrm>
            <a:off x="0" y="3251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6E05F384-485D-0289-DB57-FCDB2A12AFD1}"/>
              </a:ext>
            </a:extLst>
          </p:cNvPr>
          <p:cNvCxnSpPr/>
          <p:nvPr/>
        </p:nvCxnSpPr>
        <p:spPr>
          <a:xfrm>
            <a:off x="0" y="4064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A1CCB045-62F5-ED83-4DD7-0E5FA1D598C1}"/>
              </a:ext>
            </a:extLst>
          </p:cNvPr>
          <p:cNvCxnSpPr/>
          <p:nvPr/>
        </p:nvCxnSpPr>
        <p:spPr>
          <a:xfrm>
            <a:off x="0" y="4876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EA2AB74B-98AB-25F9-3B50-3D0A162119E3}"/>
              </a:ext>
            </a:extLst>
          </p:cNvPr>
          <p:cNvCxnSpPr/>
          <p:nvPr/>
        </p:nvCxnSpPr>
        <p:spPr>
          <a:xfrm>
            <a:off x="0" y="5689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40BC54B6-DFEF-7FAB-E520-AF215101226A}"/>
              </a:ext>
            </a:extLst>
          </p:cNvPr>
          <p:cNvCxnSpPr/>
          <p:nvPr/>
        </p:nvCxnSpPr>
        <p:spPr>
          <a:xfrm>
            <a:off x="0" y="6502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B2F2FFDE-87E3-5FC0-D20D-98013361C8BC}"/>
              </a:ext>
            </a:extLst>
          </p:cNvPr>
          <p:cNvCxnSpPr/>
          <p:nvPr/>
        </p:nvCxnSpPr>
        <p:spPr>
          <a:xfrm>
            <a:off x="0" y="7315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DCE9C9CB-F711-4001-A02F-2F42A65226B5}"/>
              </a:ext>
            </a:extLst>
          </p:cNvPr>
          <p:cNvCxnSpPr/>
          <p:nvPr/>
        </p:nvCxnSpPr>
        <p:spPr>
          <a:xfrm>
            <a:off x="0" y="8128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C7B671D2-3728-CA29-8F25-00A49A1D46D7}"/>
              </a:ext>
            </a:extLst>
          </p:cNvPr>
          <p:cNvCxnSpPr/>
          <p:nvPr/>
        </p:nvCxnSpPr>
        <p:spPr>
          <a:xfrm>
            <a:off x="0" y="8940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C8181478-61C6-3661-B07A-2E34A92CCA7F}"/>
              </a:ext>
            </a:extLst>
          </p:cNvPr>
          <p:cNvSpPr txBox="1"/>
          <p:nvPr/>
        </p:nvSpPr>
        <p:spPr>
          <a:xfrm>
            <a:off x="914400" y="609600"/>
            <a:ext cx="11430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400">
                <a:solidFill>
                  <a:srgbClr val="D6AD61"/>
                </a:solidFill>
                <a:latin typeface="Consolas" panose="020B0609020204030204" pitchFamily="49" charset="0"/>
              </a:rPr>
              <a:t>Opening</a:t>
            </a:r>
            <a:endParaRPr lang="zh-CN" altLang="en-US" sz="1400">
              <a:solidFill>
                <a:srgbClr val="D6AD6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C1DAAF9A-D1D4-F337-2E6D-B2778B322816}"/>
              </a:ext>
            </a:extLst>
          </p:cNvPr>
          <p:cNvSpPr txBox="1"/>
          <p:nvPr/>
        </p:nvSpPr>
        <p:spPr>
          <a:xfrm>
            <a:off x="914400" y="990600"/>
            <a:ext cx="13208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it-IT" sz="3600" b="1">
                <a:solidFill>
                  <a:srgbClr val="EFECE5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今天不做“</a:t>
            </a:r>
            <a:r>
              <a:rPr lang="it-IT" altLang="zh-CN" sz="3600" b="1">
                <a:solidFill>
                  <a:srgbClr val="EFECE5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AI </a:t>
            </a:r>
            <a:r>
              <a:rPr lang="zh-CN" altLang="it-IT" sz="3600" b="1">
                <a:solidFill>
                  <a:srgbClr val="EFECE5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工具大全”</a:t>
            </a:r>
            <a:endParaRPr lang="zh-CN" altLang="en-US" sz="3600" b="1">
              <a:solidFill>
                <a:srgbClr val="EFECE5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75F296DF-C3FB-AC2D-19E0-4383B38E9EDB}"/>
              </a:ext>
            </a:extLst>
          </p:cNvPr>
          <p:cNvSpPr txBox="1"/>
          <p:nvPr/>
        </p:nvSpPr>
        <p:spPr>
          <a:xfrm>
            <a:off x="914400" y="1905000"/>
            <a:ext cx="1270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只讲一件事：怎么把通用 </a:t>
            </a:r>
            <a:r>
              <a:rPr lang="en-US" altLang="zh-CN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AI </a:t>
            </a:r>
            <a:r>
              <a:rPr lang="zh-CN" altLang="en-US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驯化成自己的硅基伙伴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872C71E-A427-C5DB-9061-569A69C6EE02}"/>
              </a:ext>
            </a:extLst>
          </p:cNvPr>
          <p:cNvSpPr txBox="1"/>
          <p:nvPr/>
        </p:nvSpPr>
        <p:spPr>
          <a:xfrm>
            <a:off x="914400" y="8686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1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驯化野生硅基伙伴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6EB141F1-DCE1-CE9A-1302-AA45AA17D33C}"/>
              </a:ext>
            </a:extLst>
          </p:cNvPr>
          <p:cNvSpPr txBox="1"/>
          <p:nvPr/>
        </p:nvSpPr>
        <p:spPr>
          <a:xfrm>
            <a:off x="14732000" y="86868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697184"/>
                </a:solidFill>
                <a:latin typeface="Consolas" panose="020B0609020204030204" pitchFamily="49" charset="0"/>
              </a:rPr>
              <a:t>02 / 18</a:t>
            </a:r>
            <a:endParaRPr lang="zh-CN" altLang="en-US" sz="1100">
              <a:solidFill>
                <a:srgbClr val="697184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133DA60-9A9E-F0E1-50F6-785D531CDAAA}"/>
              </a:ext>
            </a:extLst>
          </p:cNvPr>
          <p:cNvSpPr/>
          <p:nvPr/>
        </p:nvSpPr>
        <p:spPr>
          <a:xfrm>
            <a:off x="0" y="9093200"/>
            <a:ext cx="1806222" cy="50800"/>
          </a:xfrm>
          <a:prstGeom prst="rect">
            <a:avLst/>
          </a:prstGeom>
          <a:solidFill>
            <a:srgbClr val="20C7A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8" name="quote_1">
            <a:extLst>
              <a:ext uri="{FF2B5EF4-FFF2-40B4-BE49-F238E27FC236}">
                <a16:creationId xmlns:a16="http://schemas.microsoft.com/office/drawing/2014/main" id="{AF633E9E-A9A1-7337-88E1-C3F44DB2F27C}"/>
              </a:ext>
            </a:extLst>
          </p:cNvPr>
          <p:cNvGrpSpPr/>
          <p:nvPr/>
        </p:nvGrpSpPr>
        <p:grpSpPr>
          <a:xfrm>
            <a:off x="1168400" y="2603500"/>
            <a:ext cx="13919200" cy="1270000"/>
            <a:chOff x="1168400" y="2603500"/>
            <a:chExt cx="13919200" cy="1270000"/>
          </a:xfrm>
        </p:grpSpPr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4B635AC5-DE49-5BD8-DE9C-D427DBDF980C}"/>
                </a:ext>
              </a:extLst>
            </p:cNvPr>
            <p:cNvSpPr/>
            <p:nvPr/>
          </p:nvSpPr>
          <p:spPr>
            <a:xfrm>
              <a:off x="1168400" y="2603500"/>
              <a:ext cx="13919200" cy="1270000"/>
            </a:xfrm>
            <a:prstGeom prst="roundRect">
              <a:avLst/>
            </a:prstGeom>
            <a:solidFill>
              <a:srgbClr val="D6AD61">
                <a:alpha val="12000"/>
              </a:srgbClr>
            </a:solidFill>
            <a:ln w="12700" cap="flat" cmpd="sng" algn="ctr">
              <a:solidFill>
                <a:srgbClr val="D6AD61">
                  <a:alpha val="5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81F40EA7-F94D-529E-5CC5-F2AE8A5EC4D4}"/>
                </a:ext>
              </a:extLst>
            </p:cNvPr>
            <p:cNvSpPr/>
            <p:nvPr/>
          </p:nvSpPr>
          <p:spPr>
            <a:xfrm>
              <a:off x="1168400" y="2603500"/>
              <a:ext cx="76200" cy="1270000"/>
            </a:xfrm>
            <a:prstGeom prst="rect">
              <a:avLst/>
            </a:prstGeom>
            <a:solidFill>
              <a:srgbClr val="D6AD6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C76BBD5B-2C57-792F-E214-FC8CECE63B8F}"/>
                </a:ext>
              </a:extLst>
            </p:cNvPr>
            <p:cNvSpPr txBox="1"/>
            <p:nvPr/>
          </p:nvSpPr>
          <p:spPr>
            <a:xfrm>
              <a:off x="1524000" y="2806700"/>
              <a:ext cx="13258800" cy="80021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600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真正的变化不是多了一个聊天工具，而是每个人都有机会把通用 </a:t>
              </a:r>
              <a:r>
                <a:rPr lang="en-US" altLang="zh-CN" sz="2600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AI </a:t>
              </a:r>
              <a:r>
                <a:rPr lang="zh-CN" altLang="en-US" sz="2600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驯化成自己的伙伴，甚至把长期存在的痛点变成工具、模板和流程。</a:t>
              </a:r>
            </a:p>
          </p:txBody>
        </p:sp>
      </p:grpSp>
      <p:grpSp>
        <p:nvGrpSpPr>
          <p:cNvPr id="54" name="card_2">
            <a:extLst>
              <a:ext uri="{FF2B5EF4-FFF2-40B4-BE49-F238E27FC236}">
                <a16:creationId xmlns:a16="http://schemas.microsoft.com/office/drawing/2014/main" id="{F9687DA3-4049-38CC-35A0-440789F2283E}"/>
              </a:ext>
            </a:extLst>
          </p:cNvPr>
          <p:cNvGrpSpPr/>
          <p:nvPr/>
        </p:nvGrpSpPr>
        <p:grpSpPr>
          <a:xfrm>
            <a:off x="1168400" y="4229100"/>
            <a:ext cx="3308350" cy="2286000"/>
            <a:chOff x="1168400" y="4229100"/>
            <a:chExt cx="3308350" cy="2286000"/>
          </a:xfrm>
        </p:grpSpPr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189C8FC5-0EE2-5D06-F567-A90267047498}"/>
                </a:ext>
              </a:extLst>
            </p:cNvPr>
            <p:cNvSpPr/>
            <p:nvPr/>
          </p:nvSpPr>
          <p:spPr>
            <a:xfrm>
              <a:off x="1168400" y="4229100"/>
              <a:ext cx="3308350" cy="2286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7C15C512-7E81-104D-8D00-0340C485BC89}"/>
                </a:ext>
              </a:extLst>
            </p:cNvPr>
            <p:cNvSpPr/>
            <p:nvPr/>
          </p:nvSpPr>
          <p:spPr>
            <a:xfrm>
              <a:off x="1168400" y="4229100"/>
              <a:ext cx="63500" cy="2286000"/>
            </a:xfrm>
            <a:prstGeom prst="rect">
              <a:avLst/>
            </a:prstGeom>
            <a:solidFill>
              <a:srgbClr val="D6AD6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93E378EA-15B7-9856-E0C3-EB0318842D76}"/>
                </a:ext>
              </a:extLst>
            </p:cNvPr>
            <p:cNvSpPr txBox="1"/>
            <p:nvPr/>
          </p:nvSpPr>
          <p:spPr>
            <a:xfrm>
              <a:off x="1498600" y="4508500"/>
              <a:ext cx="2749550" cy="169277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en-US" altLang="zh-CN" sz="1100">
                  <a:solidFill>
                    <a:srgbClr val="697184"/>
                  </a:solidFill>
                  <a:latin typeface="Consolas" panose="020B0609020204030204" pitchFamily="49" charset="0"/>
                </a:rPr>
                <a:t>Question 01</a:t>
              </a:r>
              <a:endParaRPr lang="zh-CN" altLang="en-US" sz="1100">
                <a:solidFill>
                  <a:srgbClr val="697184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77326242-14FB-197E-9B2A-35A90F312AAA}"/>
                </a:ext>
              </a:extLst>
            </p:cNvPr>
            <p:cNvSpPr txBox="1"/>
            <p:nvPr/>
          </p:nvSpPr>
          <p:spPr>
            <a:xfrm>
              <a:off x="1498600" y="4800600"/>
              <a:ext cx="2749550" cy="32316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en-US" altLang="zh-CN" sz="2100" b="1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Question 01</a:t>
              </a:r>
              <a:endParaRPr lang="zh-CN" altLang="en-US" sz="2100" b="1">
                <a:solidFill>
                  <a:srgbClr val="EFECE5"/>
                </a:solidFill>
                <a:latin typeface="SimSun" panose="02010600030101010101" pitchFamily="2" charset="-122"/>
                <a:ea typeface="SimSun" panose="02010600030101010101" pitchFamily="2" charset="-122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5E9C7BC0-0B4D-E3DF-3A78-A98189D12150}"/>
                </a:ext>
              </a:extLst>
            </p:cNvPr>
            <p:cNvSpPr txBox="1"/>
            <p:nvPr/>
          </p:nvSpPr>
          <p:spPr>
            <a:xfrm>
              <a:off x="1498600" y="5346700"/>
              <a:ext cx="2749550" cy="24622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为什么很多人觉得 </a:t>
              </a:r>
              <a:r>
                <a:rPr lang="en-US" altLang="zh-CN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AI </a:t>
              </a:r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不好用？</a:t>
              </a:r>
            </a:p>
          </p:txBody>
        </p:sp>
      </p:grpSp>
      <p:grpSp>
        <p:nvGrpSpPr>
          <p:cNvPr id="60" name="card_3">
            <a:extLst>
              <a:ext uri="{FF2B5EF4-FFF2-40B4-BE49-F238E27FC236}">
                <a16:creationId xmlns:a16="http://schemas.microsoft.com/office/drawing/2014/main" id="{2C79148E-2BF1-ECA0-67B8-9F367AE564C8}"/>
              </a:ext>
            </a:extLst>
          </p:cNvPr>
          <p:cNvGrpSpPr/>
          <p:nvPr/>
        </p:nvGrpSpPr>
        <p:grpSpPr>
          <a:xfrm>
            <a:off x="4705350" y="4229100"/>
            <a:ext cx="3308350" cy="2286000"/>
            <a:chOff x="4705350" y="4229100"/>
            <a:chExt cx="3308350" cy="2286000"/>
          </a:xfrm>
        </p:grpSpPr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881C78F5-E96F-8411-4F0C-FA565A9CA4BA}"/>
                </a:ext>
              </a:extLst>
            </p:cNvPr>
            <p:cNvSpPr/>
            <p:nvPr/>
          </p:nvSpPr>
          <p:spPr>
            <a:xfrm>
              <a:off x="4705350" y="4229100"/>
              <a:ext cx="3308350" cy="2286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D180573B-737E-B650-83B5-5EA108678C4D}"/>
                </a:ext>
              </a:extLst>
            </p:cNvPr>
            <p:cNvSpPr/>
            <p:nvPr/>
          </p:nvSpPr>
          <p:spPr>
            <a:xfrm>
              <a:off x="4705350" y="4229100"/>
              <a:ext cx="63500" cy="2286000"/>
            </a:xfrm>
            <a:prstGeom prst="rect">
              <a:avLst/>
            </a:prstGeom>
            <a:solidFill>
              <a:srgbClr val="20C7A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18AC26C6-BBBF-159E-F8B7-11A83F527A44}"/>
                </a:ext>
              </a:extLst>
            </p:cNvPr>
            <p:cNvSpPr txBox="1"/>
            <p:nvPr/>
          </p:nvSpPr>
          <p:spPr>
            <a:xfrm>
              <a:off x="5035550" y="4508500"/>
              <a:ext cx="2749550" cy="169277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en-US" altLang="zh-CN" sz="1100">
                  <a:solidFill>
                    <a:srgbClr val="697184"/>
                  </a:solidFill>
                  <a:latin typeface="Consolas" panose="020B0609020204030204" pitchFamily="49" charset="0"/>
                </a:rPr>
                <a:t>Question 02</a:t>
              </a:r>
              <a:endParaRPr lang="zh-CN" altLang="en-US" sz="1100">
                <a:solidFill>
                  <a:srgbClr val="697184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706B3368-85E7-F70D-AEE5-F74F613B9992}"/>
                </a:ext>
              </a:extLst>
            </p:cNvPr>
            <p:cNvSpPr txBox="1"/>
            <p:nvPr/>
          </p:nvSpPr>
          <p:spPr>
            <a:xfrm>
              <a:off x="5035550" y="4800600"/>
              <a:ext cx="2749550" cy="32316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en-US" altLang="zh-CN" sz="2100" b="1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Question 02</a:t>
              </a:r>
              <a:endParaRPr lang="zh-CN" altLang="en-US" sz="2100" b="1">
                <a:solidFill>
                  <a:srgbClr val="EFECE5"/>
                </a:solidFill>
                <a:latin typeface="SimSun" panose="02010600030101010101" pitchFamily="2" charset="-122"/>
                <a:ea typeface="SimSun" panose="02010600030101010101" pitchFamily="2" charset="-122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DF6D922E-4E06-FD70-173A-24CA6E1AD421}"/>
                </a:ext>
              </a:extLst>
            </p:cNvPr>
            <p:cNvSpPr txBox="1"/>
            <p:nvPr/>
          </p:nvSpPr>
          <p:spPr>
            <a:xfrm>
              <a:off x="5035550" y="5346700"/>
              <a:ext cx="2749550" cy="24622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工作里真正的“钉子”是什么？</a:t>
              </a:r>
            </a:p>
          </p:txBody>
        </p:sp>
      </p:grpSp>
      <p:grpSp>
        <p:nvGrpSpPr>
          <p:cNvPr id="66" name="card_4">
            <a:extLst>
              <a:ext uri="{FF2B5EF4-FFF2-40B4-BE49-F238E27FC236}">
                <a16:creationId xmlns:a16="http://schemas.microsoft.com/office/drawing/2014/main" id="{FDAB5A0D-3795-81FD-7D11-B6C4B85AA7D9}"/>
              </a:ext>
            </a:extLst>
          </p:cNvPr>
          <p:cNvGrpSpPr/>
          <p:nvPr/>
        </p:nvGrpSpPr>
        <p:grpSpPr>
          <a:xfrm>
            <a:off x="8242300" y="4229100"/>
            <a:ext cx="3308350" cy="2286000"/>
            <a:chOff x="8242300" y="4229100"/>
            <a:chExt cx="3308350" cy="2286000"/>
          </a:xfrm>
        </p:grpSpPr>
        <p:sp>
          <p:nvSpPr>
            <p:cNvPr id="61" name="矩形: 圆角 60">
              <a:extLst>
                <a:ext uri="{FF2B5EF4-FFF2-40B4-BE49-F238E27FC236}">
                  <a16:creationId xmlns:a16="http://schemas.microsoft.com/office/drawing/2014/main" id="{597FC4E6-9EAF-1717-2FCC-4C34E486F117}"/>
                </a:ext>
              </a:extLst>
            </p:cNvPr>
            <p:cNvSpPr/>
            <p:nvPr/>
          </p:nvSpPr>
          <p:spPr>
            <a:xfrm>
              <a:off x="8242300" y="4229100"/>
              <a:ext cx="3308350" cy="2286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A1E97076-D5F9-F65E-5454-6348FCE8400C}"/>
                </a:ext>
              </a:extLst>
            </p:cNvPr>
            <p:cNvSpPr/>
            <p:nvPr/>
          </p:nvSpPr>
          <p:spPr>
            <a:xfrm>
              <a:off x="8242300" y="4229100"/>
              <a:ext cx="63500" cy="2286000"/>
            </a:xfrm>
            <a:prstGeom prst="rect">
              <a:avLst/>
            </a:prstGeom>
            <a:solidFill>
              <a:srgbClr val="9B75F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7ABD3F8E-1A87-37E4-EAC6-83DF2CD6C26E}"/>
                </a:ext>
              </a:extLst>
            </p:cNvPr>
            <p:cNvSpPr txBox="1"/>
            <p:nvPr/>
          </p:nvSpPr>
          <p:spPr>
            <a:xfrm>
              <a:off x="8572500" y="4508500"/>
              <a:ext cx="2749550" cy="169277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en-US" altLang="zh-CN" sz="1100">
                  <a:solidFill>
                    <a:srgbClr val="697184"/>
                  </a:solidFill>
                  <a:latin typeface="Consolas" panose="020B0609020204030204" pitchFamily="49" charset="0"/>
                </a:rPr>
                <a:t>Question 03</a:t>
              </a:r>
              <a:endParaRPr lang="zh-CN" altLang="en-US" sz="1100">
                <a:solidFill>
                  <a:srgbClr val="697184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D91B8CC6-1E2D-0765-D9E5-AE2828C7DD77}"/>
                </a:ext>
              </a:extLst>
            </p:cNvPr>
            <p:cNvSpPr txBox="1"/>
            <p:nvPr/>
          </p:nvSpPr>
          <p:spPr>
            <a:xfrm>
              <a:off x="8572500" y="4800600"/>
              <a:ext cx="2749550" cy="32316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en-US" altLang="zh-CN" sz="2100" b="1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Question 03</a:t>
              </a:r>
              <a:endParaRPr lang="zh-CN" altLang="en-US" sz="2100" b="1">
                <a:solidFill>
                  <a:srgbClr val="EFECE5"/>
                </a:solidFill>
                <a:latin typeface="SimSun" panose="02010600030101010101" pitchFamily="2" charset="-122"/>
                <a:ea typeface="SimSun" panose="02010600030101010101" pitchFamily="2" charset="-122"/>
              </a:endParaRPr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267BF1D8-B95D-9221-3B28-6BDB1C2CBBE1}"/>
                </a:ext>
              </a:extLst>
            </p:cNvPr>
            <p:cNvSpPr txBox="1"/>
            <p:nvPr/>
          </p:nvSpPr>
          <p:spPr>
            <a:xfrm>
              <a:off x="8572500" y="5346700"/>
              <a:ext cx="2749550" cy="492443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确定性硅基和概率性硅基怎么配合？</a:t>
              </a:r>
            </a:p>
          </p:txBody>
        </p:sp>
      </p:grpSp>
      <p:grpSp>
        <p:nvGrpSpPr>
          <p:cNvPr id="72" name="card_5">
            <a:extLst>
              <a:ext uri="{FF2B5EF4-FFF2-40B4-BE49-F238E27FC236}">
                <a16:creationId xmlns:a16="http://schemas.microsoft.com/office/drawing/2014/main" id="{274A77D3-8294-91B7-8664-44AA91A133B0}"/>
              </a:ext>
            </a:extLst>
          </p:cNvPr>
          <p:cNvGrpSpPr/>
          <p:nvPr/>
        </p:nvGrpSpPr>
        <p:grpSpPr>
          <a:xfrm>
            <a:off x="11779250" y="4229100"/>
            <a:ext cx="3308350" cy="2286000"/>
            <a:chOff x="11779250" y="4229100"/>
            <a:chExt cx="3308350" cy="2286000"/>
          </a:xfrm>
        </p:grpSpPr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621F1E8A-7BA4-3BC4-64C6-8AC8ECF0E7D1}"/>
                </a:ext>
              </a:extLst>
            </p:cNvPr>
            <p:cNvSpPr/>
            <p:nvPr/>
          </p:nvSpPr>
          <p:spPr>
            <a:xfrm>
              <a:off x="11779250" y="4229100"/>
              <a:ext cx="3308350" cy="2286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B6D38B5F-7DDB-B3E3-D31A-A49EAA869F3A}"/>
                </a:ext>
              </a:extLst>
            </p:cNvPr>
            <p:cNvSpPr/>
            <p:nvPr/>
          </p:nvSpPr>
          <p:spPr>
            <a:xfrm>
              <a:off x="11779250" y="4229100"/>
              <a:ext cx="63500" cy="2286000"/>
            </a:xfrm>
            <a:prstGeom prst="rect">
              <a:avLst/>
            </a:prstGeom>
            <a:solidFill>
              <a:srgbClr val="4C8DF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3558D7E9-981F-3B91-75C1-9018A4C76002}"/>
                </a:ext>
              </a:extLst>
            </p:cNvPr>
            <p:cNvSpPr txBox="1"/>
            <p:nvPr/>
          </p:nvSpPr>
          <p:spPr>
            <a:xfrm>
              <a:off x="12109450" y="4508500"/>
              <a:ext cx="2749550" cy="169277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en-US" altLang="zh-CN" sz="1100">
                  <a:solidFill>
                    <a:srgbClr val="697184"/>
                  </a:solidFill>
                  <a:latin typeface="Consolas" panose="020B0609020204030204" pitchFamily="49" charset="0"/>
                </a:rPr>
                <a:t>Question 04</a:t>
              </a:r>
              <a:endParaRPr lang="zh-CN" altLang="en-US" sz="1100">
                <a:solidFill>
                  <a:srgbClr val="697184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47032C2E-F9E1-DEA7-0720-2FB335B34610}"/>
                </a:ext>
              </a:extLst>
            </p:cNvPr>
            <p:cNvSpPr txBox="1"/>
            <p:nvPr/>
          </p:nvSpPr>
          <p:spPr>
            <a:xfrm>
              <a:off x="12109450" y="4800600"/>
              <a:ext cx="2749550" cy="32316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en-US" altLang="zh-CN" sz="2100" b="1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Question 04</a:t>
              </a:r>
              <a:endParaRPr lang="zh-CN" altLang="en-US" sz="2100" b="1">
                <a:solidFill>
                  <a:srgbClr val="EFECE5"/>
                </a:solidFill>
                <a:latin typeface="SimSun" panose="02010600030101010101" pitchFamily="2" charset="-122"/>
                <a:ea typeface="SimSun" panose="02010600030101010101" pitchFamily="2" charset="-122"/>
              </a:endParaRPr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3E447CC4-0F15-105A-9F41-092BA25562B8}"/>
                </a:ext>
              </a:extLst>
            </p:cNvPr>
            <p:cNvSpPr txBox="1"/>
            <p:nvPr/>
          </p:nvSpPr>
          <p:spPr>
            <a:xfrm>
              <a:off x="12109450" y="5346700"/>
              <a:ext cx="2749550" cy="24622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产品岗今天怎么跑通一轮驯化？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27873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3">
            <a:extLst>
              <a:ext uri="{FF2B5EF4-FFF2-40B4-BE49-F238E27FC236}">
                <a16:creationId xmlns:a16="http://schemas.microsoft.com/office/drawing/2014/main" id="{DE10AF32-E73B-E36B-ABA1-05041CE600D6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70B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3FB3CAE-5F94-0631-0C62-55837EB06209}"/>
              </a:ext>
            </a:extLst>
          </p:cNvPr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D6AD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6B640474-6010-79FF-472D-87E2A8D0DCC1}"/>
              </a:ext>
            </a:extLst>
          </p:cNvPr>
          <p:cNvSpPr/>
          <p:nvPr/>
        </p:nvSpPr>
        <p:spPr>
          <a:xfrm>
            <a:off x="762000" y="571500"/>
            <a:ext cx="3937000" cy="3937000"/>
          </a:xfrm>
          <a:prstGeom prst="ellipse">
            <a:avLst/>
          </a:prstGeom>
          <a:solidFill>
            <a:srgbClr val="D6AD61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29B9E8F7-900A-8CCD-4BC0-966DF847B979}"/>
              </a:ext>
            </a:extLst>
          </p:cNvPr>
          <p:cNvSpPr/>
          <p:nvPr/>
        </p:nvSpPr>
        <p:spPr>
          <a:xfrm>
            <a:off x="11430000" y="889000"/>
            <a:ext cx="3556000" cy="3556000"/>
          </a:xfrm>
          <a:prstGeom prst="ellipse">
            <a:avLst/>
          </a:prstGeom>
          <a:solidFill>
            <a:srgbClr val="20C7AE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8690F210-F248-643B-8994-78430553431F}"/>
              </a:ext>
            </a:extLst>
          </p:cNvPr>
          <p:cNvSpPr/>
          <p:nvPr/>
        </p:nvSpPr>
        <p:spPr>
          <a:xfrm>
            <a:off x="10414000" y="5969000"/>
            <a:ext cx="3302000" cy="3302000"/>
          </a:xfrm>
          <a:prstGeom prst="ellipse">
            <a:avLst/>
          </a:prstGeom>
          <a:solidFill>
            <a:srgbClr val="9B75F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0D9B3A7-4F52-DE57-49DF-6BB5034AB827}"/>
              </a:ext>
            </a:extLst>
          </p:cNvPr>
          <p:cNvCxnSpPr/>
          <p:nvPr/>
        </p:nvCxnSpPr>
        <p:spPr>
          <a:xfrm>
            <a:off x="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8FCE932-4734-3DE6-0B88-55851FA996E3}"/>
              </a:ext>
            </a:extLst>
          </p:cNvPr>
          <p:cNvCxnSpPr/>
          <p:nvPr/>
        </p:nvCxnSpPr>
        <p:spPr>
          <a:xfrm>
            <a:off x="812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B7D2F77B-1CEE-7192-477F-BC73447D674E}"/>
              </a:ext>
            </a:extLst>
          </p:cNvPr>
          <p:cNvCxnSpPr/>
          <p:nvPr/>
        </p:nvCxnSpPr>
        <p:spPr>
          <a:xfrm>
            <a:off x="1625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70456BE6-07CE-FD5B-2D19-41490BA5FA41}"/>
              </a:ext>
            </a:extLst>
          </p:cNvPr>
          <p:cNvCxnSpPr/>
          <p:nvPr/>
        </p:nvCxnSpPr>
        <p:spPr>
          <a:xfrm>
            <a:off x="2438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80E20935-43EC-3C25-A645-4DA061B42493}"/>
              </a:ext>
            </a:extLst>
          </p:cNvPr>
          <p:cNvCxnSpPr/>
          <p:nvPr/>
        </p:nvCxnSpPr>
        <p:spPr>
          <a:xfrm>
            <a:off x="3251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ECC9236-E7C9-A2D4-9413-E5AAA7E40E84}"/>
              </a:ext>
            </a:extLst>
          </p:cNvPr>
          <p:cNvCxnSpPr/>
          <p:nvPr/>
        </p:nvCxnSpPr>
        <p:spPr>
          <a:xfrm>
            <a:off x="4064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2206D34-B2B5-9E42-ECB2-D8E11AA643A3}"/>
              </a:ext>
            </a:extLst>
          </p:cNvPr>
          <p:cNvCxnSpPr/>
          <p:nvPr/>
        </p:nvCxnSpPr>
        <p:spPr>
          <a:xfrm>
            <a:off x="4876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05DA4A29-BD40-0849-7948-8C3A53C0153C}"/>
              </a:ext>
            </a:extLst>
          </p:cNvPr>
          <p:cNvCxnSpPr/>
          <p:nvPr/>
        </p:nvCxnSpPr>
        <p:spPr>
          <a:xfrm>
            <a:off x="5689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FBCD2AE-1972-A839-6A9F-A77F2A27FA1A}"/>
              </a:ext>
            </a:extLst>
          </p:cNvPr>
          <p:cNvCxnSpPr/>
          <p:nvPr/>
        </p:nvCxnSpPr>
        <p:spPr>
          <a:xfrm>
            <a:off x="6502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4A8AB6BA-2FE6-14B4-D164-AE2E4F83DA8D}"/>
              </a:ext>
            </a:extLst>
          </p:cNvPr>
          <p:cNvCxnSpPr/>
          <p:nvPr/>
        </p:nvCxnSpPr>
        <p:spPr>
          <a:xfrm>
            <a:off x="7315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5925E86-BF78-7A46-D1E7-66326AA9995E}"/>
              </a:ext>
            </a:extLst>
          </p:cNvPr>
          <p:cNvCxnSpPr/>
          <p:nvPr/>
        </p:nvCxnSpPr>
        <p:spPr>
          <a:xfrm>
            <a:off x="8128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67E4EA8-2A4C-C0E6-2E4F-35FF633791FB}"/>
              </a:ext>
            </a:extLst>
          </p:cNvPr>
          <p:cNvCxnSpPr/>
          <p:nvPr/>
        </p:nvCxnSpPr>
        <p:spPr>
          <a:xfrm>
            <a:off x="8940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F955FFB-652E-7012-D5F5-84A909397261}"/>
              </a:ext>
            </a:extLst>
          </p:cNvPr>
          <p:cNvCxnSpPr/>
          <p:nvPr/>
        </p:nvCxnSpPr>
        <p:spPr>
          <a:xfrm>
            <a:off x="9753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7935FEBE-066B-5F78-B0D0-57E1780DAFAA}"/>
              </a:ext>
            </a:extLst>
          </p:cNvPr>
          <p:cNvCxnSpPr/>
          <p:nvPr/>
        </p:nvCxnSpPr>
        <p:spPr>
          <a:xfrm>
            <a:off x="10566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5F78C5FE-FD1A-3660-CEE7-089570A9F15D}"/>
              </a:ext>
            </a:extLst>
          </p:cNvPr>
          <p:cNvCxnSpPr/>
          <p:nvPr/>
        </p:nvCxnSpPr>
        <p:spPr>
          <a:xfrm>
            <a:off x="11379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6D0445A8-D063-B97F-B642-07151A3DC1CB}"/>
              </a:ext>
            </a:extLst>
          </p:cNvPr>
          <p:cNvCxnSpPr/>
          <p:nvPr/>
        </p:nvCxnSpPr>
        <p:spPr>
          <a:xfrm>
            <a:off x="12192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CC903B9B-4ECF-E297-CF1C-D195733FAC8E}"/>
              </a:ext>
            </a:extLst>
          </p:cNvPr>
          <p:cNvCxnSpPr/>
          <p:nvPr/>
        </p:nvCxnSpPr>
        <p:spPr>
          <a:xfrm>
            <a:off x="13004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F0B5711-3265-2CC2-7EA3-009D647EF84E}"/>
              </a:ext>
            </a:extLst>
          </p:cNvPr>
          <p:cNvCxnSpPr/>
          <p:nvPr/>
        </p:nvCxnSpPr>
        <p:spPr>
          <a:xfrm>
            <a:off x="13817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2441181C-CA3B-356C-C6D7-4C36A4090415}"/>
              </a:ext>
            </a:extLst>
          </p:cNvPr>
          <p:cNvCxnSpPr/>
          <p:nvPr/>
        </p:nvCxnSpPr>
        <p:spPr>
          <a:xfrm>
            <a:off x="14630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F49829FF-0260-E4B0-6D4A-82B8A636B413}"/>
              </a:ext>
            </a:extLst>
          </p:cNvPr>
          <p:cNvCxnSpPr/>
          <p:nvPr/>
        </p:nvCxnSpPr>
        <p:spPr>
          <a:xfrm>
            <a:off x="15443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0B579AAF-78ED-67AE-26E0-A73A3B366E99}"/>
              </a:ext>
            </a:extLst>
          </p:cNvPr>
          <p:cNvCxnSpPr/>
          <p:nvPr/>
        </p:nvCxnSpPr>
        <p:spPr>
          <a:xfrm>
            <a:off x="0" y="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F4C0DC4D-B892-4C13-4AD8-9599A69E8311}"/>
              </a:ext>
            </a:extLst>
          </p:cNvPr>
          <p:cNvCxnSpPr/>
          <p:nvPr/>
        </p:nvCxnSpPr>
        <p:spPr>
          <a:xfrm>
            <a:off x="0" y="812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BB2E8529-618D-903D-A8AA-3D024770F35D}"/>
              </a:ext>
            </a:extLst>
          </p:cNvPr>
          <p:cNvCxnSpPr/>
          <p:nvPr/>
        </p:nvCxnSpPr>
        <p:spPr>
          <a:xfrm>
            <a:off x="0" y="1625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1BF653D2-8583-AB53-AA12-4BFA3C1081DB}"/>
              </a:ext>
            </a:extLst>
          </p:cNvPr>
          <p:cNvCxnSpPr/>
          <p:nvPr/>
        </p:nvCxnSpPr>
        <p:spPr>
          <a:xfrm>
            <a:off x="0" y="2438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3C7DC99-31AF-9CF4-BEFB-AC43AF45B751}"/>
              </a:ext>
            </a:extLst>
          </p:cNvPr>
          <p:cNvCxnSpPr/>
          <p:nvPr/>
        </p:nvCxnSpPr>
        <p:spPr>
          <a:xfrm>
            <a:off x="0" y="3251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FEF11639-8D82-C253-7341-4A93344F97F6}"/>
              </a:ext>
            </a:extLst>
          </p:cNvPr>
          <p:cNvCxnSpPr/>
          <p:nvPr/>
        </p:nvCxnSpPr>
        <p:spPr>
          <a:xfrm>
            <a:off x="0" y="4064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47066DDF-415D-FFAC-20AA-EE100718FB24}"/>
              </a:ext>
            </a:extLst>
          </p:cNvPr>
          <p:cNvCxnSpPr/>
          <p:nvPr/>
        </p:nvCxnSpPr>
        <p:spPr>
          <a:xfrm>
            <a:off x="0" y="4876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52BE8F12-1C94-B509-6D9F-45412F7EF122}"/>
              </a:ext>
            </a:extLst>
          </p:cNvPr>
          <p:cNvCxnSpPr/>
          <p:nvPr/>
        </p:nvCxnSpPr>
        <p:spPr>
          <a:xfrm>
            <a:off x="0" y="5689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0C7CCDB6-F4CB-A582-D628-9E76F3D7173F}"/>
              </a:ext>
            </a:extLst>
          </p:cNvPr>
          <p:cNvCxnSpPr/>
          <p:nvPr/>
        </p:nvCxnSpPr>
        <p:spPr>
          <a:xfrm>
            <a:off x="0" y="6502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4AB23AF3-303C-B6D2-C6B6-118E81153577}"/>
              </a:ext>
            </a:extLst>
          </p:cNvPr>
          <p:cNvCxnSpPr/>
          <p:nvPr/>
        </p:nvCxnSpPr>
        <p:spPr>
          <a:xfrm>
            <a:off x="0" y="7315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89D35AB2-077B-37CD-3133-0E9D712D0F60}"/>
              </a:ext>
            </a:extLst>
          </p:cNvPr>
          <p:cNvCxnSpPr/>
          <p:nvPr/>
        </p:nvCxnSpPr>
        <p:spPr>
          <a:xfrm>
            <a:off x="0" y="8128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E7D4DC98-BFE7-519B-E3ED-C06D99AAFF6A}"/>
              </a:ext>
            </a:extLst>
          </p:cNvPr>
          <p:cNvCxnSpPr/>
          <p:nvPr/>
        </p:nvCxnSpPr>
        <p:spPr>
          <a:xfrm>
            <a:off x="0" y="8940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AAEDD06B-5AAC-EBCB-7349-1CCA7FEE8AC9}"/>
              </a:ext>
            </a:extLst>
          </p:cNvPr>
          <p:cNvSpPr txBox="1"/>
          <p:nvPr/>
        </p:nvSpPr>
        <p:spPr>
          <a:xfrm>
            <a:off x="914400" y="609600"/>
            <a:ext cx="11430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400">
                <a:solidFill>
                  <a:srgbClr val="D6AD61"/>
                </a:solidFill>
                <a:latin typeface="Consolas" panose="020B0609020204030204" pitchFamily="49" charset="0"/>
              </a:rPr>
              <a:t>Core Thesis</a:t>
            </a:r>
            <a:endParaRPr lang="zh-CN" altLang="en-US" sz="1400">
              <a:solidFill>
                <a:srgbClr val="D6AD6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6154DAD-B995-BD39-3BD6-1F10FC1819AF}"/>
              </a:ext>
            </a:extLst>
          </p:cNvPr>
          <p:cNvSpPr txBox="1"/>
          <p:nvPr/>
        </p:nvSpPr>
        <p:spPr>
          <a:xfrm>
            <a:off x="914400" y="990600"/>
            <a:ext cx="13208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3600" b="1">
                <a:solidFill>
                  <a:srgbClr val="EFECE5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AI </a:t>
            </a:r>
            <a:r>
              <a:rPr lang="zh-CN" altLang="en-US" sz="3600" b="1">
                <a:solidFill>
                  <a:srgbClr val="EFECE5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好不好用，差别不只在工具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E079A3B5-E8CC-FD51-3786-BF885EED2ACF}"/>
              </a:ext>
            </a:extLst>
          </p:cNvPr>
          <p:cNvSpPr txBox="1"/>
          <p:nvPr/>
        </p:nvSpPr>
        <p:spPr>
          <a:xfrm>
            <a:off x="914400" y="8686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1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驯化野生硅基伙伴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DBB96F90-224F-395B-8786-EDF1E4513799}"/>
              </a:ext>
            </a:extLst>
          </p:cNvPr>
          <p:cNvSpPr txBox="1"/>
          <p:nvPr/>
        </p:nvSpPr>
        <p:spPr>
          <a:xfrm>
            <a:off x="14732000" y="86868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697184"/>
                </a:solidFill>
                <a:latin typeface="Consolas" panose="020B0609020204030204" pitchFamily="49" charset="0"/>
              </a:rPr>
              <a:t>03 / 18</a:t>
            </a:r>
            <a:endParaRPr lang="zh-CN" altLang="en-US" sz="1100">
              <a:solidFill>
                <a:srgbClr val="697184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4E385A0-21D0-0D43-4D08-E3BD4F1FFAB4}"/>
              </a:ext>
            </a:extLst>
          </p:cNvPr>
          <p:cNvSpPr/>
          <p:nvPr/>
        </p:nvSpPr>
        <p:spPr>
          <a:xfrm>
            <a:off x="0" y="9093200"/>
            <a:ext cx="2709333" cy="50800"/>
          </a:xfrm>
          <a:prstGeom prst="rect">
            <a:avLst/>
          </a:prstGeom>
          <a:solidFill>
            <a:srgbClr val="20C7A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7" name="quote_6">
            <a:extLst>
              <a:ext uri="{FF2B5EF4-FFF2-40B4-BE49-F238E27FC236}">
                <a16:creationId xmlns:a16="http://schemas.microsoft.com/office/drawing/2014/main" id="{D44D4725-21C3-596C-0A59-FA6279E2B1DB}"/>
              </a:ext>
            </a:extLst>
          </p:cNvPr>
          <p:cNvGrpSpPr/>
          <p:nvPr/>
        </p:nvGrpSpPr>
        <p:grpSpPr>
          <a:xfrm>
            <a:off x="1168400" y="2603500"/>
            <a:ext cx="13919200" cy="1270000"/>
            <a:chOff x="1168400" y="2603500"/>
            <a:chExt cx="13919200" cy="1270000"/>
          </a:xfrm>
        </p:grpSpPr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87A668D6-1EBC-76D7-0E59-9FF875F0EEF1}"/>
                </a:ext>
              </a:extLst>
            </p:cNvPr>
            <p:cNvSpPr/>
            <p:nvPr/>
          </p:nvSpPr>
          <p:spPr>
            <a:xfrm>
              <a:off x="1168400" y="2603500"/>
              <a:ext cx="13919200" cy="1270000"/>
            </a:xfrm>
            <a:prstGeom prst="roundRect">
              <a:avLst/>
            </a:prstGeom>
            <a:solidFill>
              <a:srgbClr val="D6AD61">
                <a:alpha val="12000"/>
              </a:srgbClr>
            </a:solidFill>
            <a:ln w="12700" cap="flat" cmpd="sng" algn="ctr">
              <a:solidFill>
                <a:srgbClr val="D6AD61">
                  <a:alpha val="5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B6EF1EAD-900A-31E4-958D-C0210BED4183}"/>
                </a:ext>
              </a:extLst>
            </p:cNvPr>
            <p:cNvSpPr/>
            <p:nvPr/>
          </p:nvSpPr>
          <p:spPr>
            <a:xfrm>
              <a:off x="1168400" y="2603500"/>
              <a:ext cx="76200" cy="1270000"/>
            </a:xfrm>
            <a:prstGeom prst="rect">
              <a:avLst/>
            </a:prstGeom>
            <a:solidFill>
              <a:srgbClr val="D6AD6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6AF6AE4F-7017-15DA-32EA-C508E8B541BC}"/>
                </a:ext>
              </a:extLst>
            </p:cNvPr>
            <p:cNvSpPr txBox="1"/>
            <p:nvPr/>
          </p:nvSpPr>
          <p:spPr>
            <a:xfrm>
              <a:off x="1524000" y="2806700"/>
              <a:ext cx="13258800" cy="40011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600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差别在于：你有没有给它成为伙伴的条件。</a:t>
              </a:r>
            </a:p>
          </p:txBody>
        </p:sp>
      </p:grpSp>
      <p:grpSp>
        <p:nvGrpSpPr>
          <p:cNvPr id="52" name="card_7">
            <a:extLst>
              <a:ext uri="{FF2B5EF4-FFF2-40B4-BE49-F238E27FC236}">
                <a16:creationId xmlns:a16="http://schemas.microsoft.com/office/drawing/2014/main" id="{963C1696-EF9B-7FA7-E206-557C946D3D4F}"/>
              </a:ext>
            </a:extLst>
          </p:cNvPr>
          <p:cNvGrpSpPr/>
          <p:nvPr/>
        </p:nvGrpSpPr>
        <p:grpSpPr>
          <a:xfrm>
            <a:off x="1168400" y="4229100"/>
            <a:ext cx="6845300" cy="2286000"/>
            <a:chOff x="1168400" y="4229100"/>
            <a:chExt cx="6845300" cy="2286000"/>
          </a:xfrm>
        </p:grpSpPr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DD031AA0-6AB7-920C-D8E4-4C99D5E11A40}"/>
                </a:ext>
              </a:extLst>
            </p:cNvPr>
            <p:cNvSpPr/>
            <p:nvPr/>
          </p:nvSpPr>
          <p:spPr>
            <a:xfrm>
              <a:off x="1168400" y="4229100"/>
              <a:ext cx="6845300" cy="2286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462578F1-E829-1D2A-E7B8-F485493B56BD}"/>
                </a:ext>
              </a:extLst>
            </p:cNvPr>
            <p:cNvSpPr/>
            <p:nvPr/>
          </p:nvSpPr>
          <p:spPr>
            <a:xfrm>
              <a:off x="1168400" y="4229100"/>
              <a:ext cx="63500" cy="2286000"/>
            </a:xfrm>
            <a:prstGeom prst="rect">
              <a:avLst/>
            </a:prstGeom>
            <a:solidFill>
              <a:srgbClr val="D6AD6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4924A3AC-3E9F-AC67-D1F8-881BA4028243}"/>
                </a:ext>
              </a:extLst>
            </p:cNvPr>
            <p:cNvSpPr txBox="1"/>
            <p:nvPr/>
          </p:nvSpPr>
          <p:spPr>
            <a:xfrm>
              <a:off x="1498600" y="4508500"/>
              <a:ext cx="62865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400" b="1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不要从“我能用 </a:t>
              </a:r>
              <a:r>
                <a:rPr lang="en-US" altLang="zh-CN" sz="2400" b="1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AI </a:t>
              </a:r>
              <a:r>
                <a:rPr lang="zh-CN" altLang="en-US" sz="2400" b="1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做什么”开始</a:t>
              </a: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089FCC7C-4307-E36B-9C79-9F487AD26574}"/>
                </a:ext>
              </a:extLst>
            </p:cNvPr>
            <p:cNvSpPr txBox="1"/>
            <p:nvPr/>
          </p:nvSpPr>
          <p:spPr>
            <a:xfrm>
              <a:off x="1498600" y="5054600"/>
              <a:ext cx="6286500" cy="26161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这会变成拿着锤子找钉子，最后停在炫技和浅尝辄止。</a:t>
              </a:r>
            </a:p>
          </p:txBody>
        </p:sp>
      </p:grpSp>
      <p:grpSp>
        <p:nvGrpSpPr>
          <p:cNvPr id="57" name="card_8">
            <a:extLst>
              <a:ext uri="{FF2B5EF4-FFF2-40B4-BE49-F238E27FC236}">
                <a16:creationId xmlns:a16="http://schemas.microsoft.com/office/drawing/2014/main" id="{0E0DC977-4CFB-AF2C-6D55-3C7593C3E862}"/>
              </a:ext>
            </a:extLst>
          </p:cNvPr>
          <p:cNvGrpSpPr/>
          <p:nvPr/>
        </p:nvGrpSpPr>
        <p:grpSpPr>
          <a:xfrm>
            <a:off x="8242300" y="4229100"/>
            <a:ext cx="6845300" cy="2286000"/>
            <a:chOff x="8242300" y="4229100"/>
            <a:chExt cx="6845300" cy="2286000"/>
          </a:xfrm>
        </p:grpSpPr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ECE9CF37-D94B-E229-BD36-409A39A38654}"/>
                </a:ext>
              </a:extLst>
            </p:cNvPr>
            <p:cNvSpPr/>
            <p:nvPr/>
          </p:nvSpPr>
          <p:spPr>
            <a:xfrm>
              <a:off x="8242300" y="4229100"/>
              <a:ext cx="6845300" cy="2286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E92C90E8-6848-7B86-613F-4F442A9F8580}"/>
                </a:ext>
              </a:extLst>
            </p:cNvPr>
            <p:cNvSpPr/>
            <p:nvPr/>
          </p:nvSpPr>
          <p:spPr>
            <a:xfrm>
              <a:off x="8242300" y="4229100"/>
              <a:ext cx="63500" cy="2286000"/>
            </a:xfrm>
            <a:prstGeom prst="rect">
              <a:avLst/>
            </a:prstGeom>
            <a:solidFill>
              <a:srgbClr val="20C7A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A9FD7F21-DB3F-A7AD-F541-BBE43A54EC95}"/>
                </a:ext>
              </a:extLst>
            </p:cNvPr>
            <p:cNvSpPr txBox="1"/>
            <p:nvPr/>
          </p:nvSpPr>
          <p:spPr>
            <a:xfrm>
              <a:off x="8572500" y="4508500"/>
              <a:ext cx="62865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400" b="1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要从“哪颗钉子长期扎着我”开始</a:t>
              </a: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24D0DE06-65F3-40A9-9BDE-66DC29EA7DAA}"/>
                </a:ext>
              </a:extLst>
            </p:cNvPr>
            <p:cNvSpPr txBox="1"/>
            <p:nvPr/>
          </p:nvSpPr>
          <p:spPr>
            <a:xfrm>
              <a:off x="8572500" y="5054600"/>
              <a:ext cx="6286500" cy="26161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真实痛点先存在，新锤子才有用武之地。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993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4">
            <a:extLst>
              <a:ext uri="{FF2B5EF4-FFF2-40B4-BE49-F238E27FC236}">
                <a16:creationId xmlns:a16="http://schemas.microsoft.com/office/drawing/2014/main" id="{81D4BB7E-600B-10D5-DC39-9A102F83E1F3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70B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E3622F0-038D-D4F5-797C-67DD1A4E6C44}"/>
              </a:ext>
            </a:extLst>
          </p:cNvPr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D6AD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06C0A87-C3AD-8126-548B-62661C00769A}"/>
              </a:ext>
            </a:extLst>
          </p:cNvPr>
          <p:cNvSpPr/>
          <p:nvPr/>
        </p:nvSpPr>
        <p:spPr>
          <a:xfrm>
            <a:off x="762000" y="571500"/>
            <a:ext cx="3937000" cy="3937000"/>
          </a:xfrm>
          <a:prstGeom prst="ellipse">
            <a:avLst/>
          </a:prstGeom>
          <a:solidFill>
            <a:srgbClr val="D6AD61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23129355-9FDA-3E6A-6ED9-4B2810A4052A}"/>
              </a:ext>
            </a:extLst>
          </p:cNvPr>
          <p:cNvSpPr/>
          <p:nvPr/>
        </p:nvSpPr>
        <p:spPr>
          <a:xfrm>
            <a:off x="11430000" y="889000"/>
            <a:ext cx="3556000" cy="3556000"/>
          </a:xfrm>
          <a:prstGeom prst="ellipse">
            <a:avLst/>
          </a:prstGeom>
          <a:solidFill>
            <a:srgbClr val="20C7AE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67E6162-A831-72F3-C68B-5BB957D9DF4B}"/>
              </a:ext>
            </a:extLst>
          </p:cNvPr>
          <p:cNvSpPr/>
          <p:nvPr/>
        </p:nvSpPr>
        <p:spPr>
          <a:xfrm>
            <a:off x="10414000" y="5969000"/>
            <a:ext cx="3302000" cy="3302000"/>
          </a:xfrm>
          <a:prstGeom prst="ellipse">
            <a:avLst/>
          </a:prstGeom>
          <a:solidFill>
            <a:srgbClr val="9B75F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09F922D-1802-04A1-E9AC-A9121D8DEF59}"/>
              </a:ext>
            </a:extLst>
          </p:cNvPr>
          <p:cNvCxnSpPr/>
          <p:nvPr/>
        </p:nvCxnSpPr>
        <p:spPr>
          <a:xfrm>
            <a:off x="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E4793BD-CC68-C3D6-B376-94FC5E566734}"/>
              </a:ext>
            </a:extLst>
          </p:cNvPr>
          <p:cNvCxnSpPr/>
          <p:nvPr/>
        </p:nvCxnSpPr>
        <p:spPr>
          <a:xfrm>
            <a:off x="812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43F1CF7-E7DD-B19D-7F8D-B334429672F3}"/>
              </a:ext>
            </a:extLst>
          </p:cNvPr>
          <p:cNvCxnSpPr/>
          <p:nvPr/>
        </p:nvCxnSpPr>
        <p:spPr>
          <a:xfrm>
            <a:off x="1625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562A9583-408D-E105-DBFD-B61D87BA61E4}"/>
              </a:ext>
            </a:extLst>
          </p:cNvPr>
          <p:cNvCxnSpPr/>
          <p:nvPr/>
        </p:nvCxnSpPr>
        <p:spPr>
          <a:xfrm>
            <a:off x="2438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1A18985-E151-787A-00E6-3D057CD68EE5}"/>
              </a:ext>
            </a:extLst>
          </p:cNvPr>
          <p:cNvCxnSpPr/>
          <p:nvPr/>
        </p:nvCxnSpPr>
        <p:spPr>
          <a:xfrm>
            <a:off x="3251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098E5B3D-A71F-230E-3133-1659FC570B5E}"/>
              </a:ext>
            </a:extLst>
          </p:cNvPr>
          <p:cNvCxnSpPr/>
          <p:nvPr/>
        </p:nvCxnSpPr>
        <p:spPr>
          <a:xfrm>
            <a:off x="4064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BDA07C2-83F9-0C40-9140-0CE39F0EA41B}"/>
              </a:ext>
            </a:extLst>
          </p:cNvPr>
          <p:cNvCxnSpPr/>
          <p:nvPr/>
        </p:nvCxnSpPr>
        <p:spPr>
          <a:xfrm>
            <a:off x="4876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624AECD2-BD00-B9A0-8EB7-BB5E4FF60E3D}"/>
              </a:ext>
            </a:extLst>
          </p:cNvPr>
          <p:cNvCxnSpPr/>
          <p:nvPr/>
        </p:nvCxnSpPr>
        <p:spPr>
          <a:xfrm>
            <a:off x="5689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2CCD58C2-87BA-BBCF-5861-A07BFC39ADAA}"/>
              </a:ext>
            </a:extLst>
          </p:cNvPr>
          <p:cNvCxnSpPr/>
          <p:nvPr/>
        </p:nvCxnSpPr>
        <p:spPr>
          <a:xfrm>
            <a:off x="6502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22359518-CEC2-4A5E-946E-3743D982882E}"/>
              </a:ext>
            </a:extLst>
          </p:cNvPr>
          <p:cNvCxnSpPr/>
          <p:nvPr/>
        </p:nvCxnSpPr>
        <p:spPr>
          <a:xfrm>
            <a:off x="7315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77E10F6-A336-15B4-9A4C-5A2E37D663C8}"/>
              </a:ext>
            </a:extLst>
          </p:cNvPr>
          <p:cNvCxnSpPr/>
          <p:nvPr/>
        </p:nvCxnSpPr>
        <p:spPr>
          <a:xfrm>
            <a:off x="8128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6849F869-170D-DE85-341D-78A39C9012A1}"/>
              </a:ext>
            </a:extLst>
          </p:cNvPr>
          <p:cNvCxnSpPr/>
          <p:nvPr/>
        </p:nvCxnSpPr>
        <p:spPr>
          <a:xfrm>
            <a:off x="8940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3377E72-7590-DCA5-5237-735C5C474156}"/>
              </a:ext>
            </a:extLst>
          </p:cNvPr>
          <p:cNvCxnSpPr/>
          <p:nvPr/>
        </p:nvCxnSpPr>
        <p:spPr>
          <a:xfrm>
            <a:off x="9753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60BBECBE-C090-4FB8-5A9E-66BEFC3F657B}"/>
              </a:ext>
            </a:extLst>
          </p:cNvPr>
          <p:cNvCxnSpPr/>
          <p:nvPr/>
        </p:nvCxnSpPr>
        <p:spPr>
          <a:xfrm>
            <a:off x="10566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0D052ECD-C6A6-3254-FBB5-2543D383BD4F}"/>
              </a:ext>
            </a:extLst>
          </p:cNvPr>
          <p:cNvCxnSpPr/>
          <p:nvPr/>
        </p:nvCxnSpPr>
        <p:spPr>
          <a:xfrm>
            <a:off x="11379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1A1EC107-F68B-A039-3200-470A521FDD31}"/>
              </a:ext>
            </a:extLst>
          </p:cNvPr>
          <p:cNvCxnSpPr/>
          <p:nvPr/>
        </p:nvCxnSpPr>
        <p:spPr>
          <a:xfrm>
            <a:off x="12192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4223B317-DAAE-5204-C51C-898866CA3A69}"/>
              </a:ext>
            </a:extLst>
          </p:cNvPr>
          <p:cNvCxnSpPr/>
          <p:nvPr/>
        </p:nvCxnSpPr>
        <p:spPr>
          <a:xfrm>
            <a:off x="13004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6FA91E-9E35-CF3C-9C31-CA3B3C2058AE}"/>
              </a:ext>
            </a:extLst>
          </p:cNvPr>
          <p:cNvCxnSpPr/>
          <p:nvPr/>
        </p:nvCxnSpPr>
        <p:spPr>
          <a:xfrm>
            <a:off x="13817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8FBAFBD6-3582-6264-DA2D-169A42A836C0}"/>
              </a:ext>
            </a:extLst>
          </p:cNvPr>
          <p:cNvCxnSpPr/>
          <p:nvPr/>
        </p:nvCxnSpPr>
        <p:spPr>
          <a:xfrm>
            <a:off x="14630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9A4163AF-8497-0529-D427-AA59F6FB734B}"/>
              </a:ext>
            </a:extLst>
          </p:cNvPr>
          <p:cNvCxnSpPr/>
          <p:nvPr/>
        </p:nvCxnSpPr>
        <p:spPr>
          <a:xfrm>
            <a:off x="15443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8B65319D-E0F6-DF36-EE24-42155002455C}"/>
              </a:ext>
            </a:extLst>
          </p:cNvPr>
          <p:cNvCxnSpPr/>
          <p:nvPr/>
        </p:nvCxnSpPr>
        <p:spPr>
          <a:xfrm>
            <a:off x="0" y="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2BCDBCEE-4174-3897-FD10-A2A04F0D8640}"/>
              </a:ext>
            </a:extLst>
          </p:cNvPr>
          <p:cNvCxnSpPr/>
          <p:nvPr/>
        </p:nvCxnSpPr>
        <p:spPr>
          <a:xfrm>
            <a:off x="0" y="812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10B446FE-E257-DDDC-76F4-6F321854AEE5}"/>
              </a:ext>
            </a:extLst>
          </p:cNvPr>
          <p:cNvCxnSpPr/>
          <p:nvPr/>
        </p:nvCxnSpPr>
        <p:spPr>
          <a:xfrm>
            <a:off x="0" y="1625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7B02DBB0-B90C-CDB5-FB4F-A5BD85375233}"/>
              </a:ext>
            </a:extLst>
          </p:cNvPr>
          <p:cNvCxnSpPr/>
          <p:nvPr/>
        </p:nvCxnSpPr>
        <p:spPr>
          <a:xfrm>
            <a:off x="0" y="2438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F3851476-A4DF-5F4C-F8F4-D3DEAC1B7838}"/>
              </a:ext>
            </a:extLst>
          </p:cNvPr>
          <p:cNvCxnSpPr/>
          <p:nvPr/>
        </p:nvCxnSpPr>
        <p:spPr>
          <a:xfrm>
            <a:off x="0" y="3251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13833FC1-F4F7-7AFA-9C8F-43754010E6BC}"/>
              </a:ext>
            </a:extLst>
          </p:cNvPr>
          <p:cNvCxnSpPr/>
          <p:nvPr/>
        </p:nvCxnSpPr>
        <p:spPr>
          <a:xfrm>
            <a:off x="0" y="4064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4C7848B5-A002-C411-F87B-53C98BE6E1D1}"/>
              </a:ext>
            </a:extLst>
          </p:cNvPr>
          <p:cNvCxnSpPr/>
          <p:nvPr/>
        </p:nvCxnSpPr>
        <p:spPr>
          <a:xfrm>
            <a:off x="0" y="4876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F4A9E1C2-C98D-1D01-59F0-8CCA37A06900}"/>
              </a:ext>
            </a:extLst>
          </p:cNvPr>
          <p:cNvCxnSpPr/>
          <p:nvPr/>
        </p:nvCxnSpPr>
        <p:spPr>
          <a:xfrm>
            <a:off x="0" y="5689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5AE1D32-7A5C-BDBB-E39A-798BCA9EE421}"/>
              </a:ext>
            </a:extLst>
          </p:cNvPr>
          <p:cNvCxnSpPr/>
          <p:nvPr/>
        </p:nvCxnSpPr>
        <p:spPr>
          <a:xfrm>
            <a:off x="0" y="6502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77DECA82-AA5E-341B-2D11-F8FE3AAAA473}"/>
              </a:ext>
            </a:extLst>
          </p:cNvPr>
          <p:cNvCxnSpPr/>
          <p:nvPr/>
        </p:nvCxnSpPr>
        <p:spPr>
          <a:xfrm>
            <a:off x="0" y="7315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EEFF2731-175E-7FB7-A9EF-5DA6C3D1CEDA}"/>
              </a:ext>
            </a:extLst>
          </p:cNvPr>
          <p:cNvCxnSpPr/>
          <p:nvPr/>
        </p:nvCxnSpPr>
        <p:spPr>
          <a:xfrm>
            <a:off x="0" y="8128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2BE2861-4AAF-B30D-3305-9B110CC899FC}"/>
              </a:ext>
            </a:extLst>
          </p:cNvPr>
          <p:cNvCxnSpPr/>
          <p:nvPr/>
        </p:nvCxnSpPr>
        <p:spPr>
          <a:xfrm>
            <a:off x="0" y="8940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2574C89D-1945-033B-F1D5-AEC6AD8D15A5}"/>
              </a:ext>
            </a:extLst>
          </p:cNvPr>
          <p:cNvSpPr txBox="1"/>
          <p:nvPr/>
        </p:nvSpPr>
        <p:spPr>
          <a:xfrm>
            <a:off x="914400" y="609600"/>
            <a:ext cx="11430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400">
                <a:solidFill>
                  <a:srgbClr val="D6AD61"/>
                </a:solidFill>
                <a:latin typeface="Consolas" panose="020B0609020204030204" pitchFamily="49" charset="0"/>
              </a:rPr>
              <a:t>Pain</a:t>
            </a:r>
            <a:endParaRPr lang="zh-CN" altLang="en-US" sz="1400">
              <a:solidFill>
                <a:srgbClr val="D6AD6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A00F582-61FE-8DD4-9019-E07F7D400F21}"/>
              </a:ext>
            </a:extLst>
          </p:cNvPr>
          <p:cNvSpPr txBox="1"/>
          <p:nvPr/>
        </p:nvSpPr>
        <p:spPr>
          <a:xfrm>
            <a:off x="914400" y="990600"/>
            <a:ext cx="13208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600" b="1">
                <a:solidFill>
                  <a:srgbClr val="EFECE5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为什么你觉得 </a:t>
            </a:r>
            <a:r>
              <a:rPr lang="en-US" altLang="zh-CN" sz="3600" b="1">
                <a:solidFill>
                  <a:srgbClr val="EFECE5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AI </a:t>
            </a:r>
            <a:r>
              <a:rPr lang="zh-CN" altLang="en-US" sz="3600" b="1">
                <a:solidFill>
                  <a:srgbClr val="EFECE5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不好用？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9596851-8010-361F-7B53-D3D33757ED4B}"/>
              </a:ext>
            </a:extLst>
          </p:cNvPr>
          <p:cNvSpPr txBox="1"/>
          <p:nvPr/>
        </p:nvSpPr>
        <p:spPr>
          <a:xfrm>
            <a:off x="914400" y="1905000"/>
            <a:ext cx="1270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不是你笨，也不是 </a:t>
            </a:r>
            <a:r>
              <a:rPr lang="en-US" altLang="zh-CN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AI </a:t>
            </a:r>
            <a:r>
              <a:rPr lang="zh-CN" altLang="en-US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完全没用，而是期待和使用方式错位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1C1E7A62-9875-C4A2-AC78-6A8C07E6C339}"/>
              </a:ext>
            </a:extLst>
          </p:cNvPr>
          <p:cNvSpPr txBox="1"/>
          <p:nvPr/>
        </p:nvSpPr>
        <p:spPr>
          <a:xfrm>
            <a:off x="914400" y="8686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1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驯化野生硅基伙伴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23382ECC-BC57-E052-1ECE-6CA7C7797E84}"/>
              </a:ext>
            </a:extLst>
          </p:cNvPr>
          <p:cNvSpPr txBox="1"/>
          <p:nvPr/>
        </p:nvSpPr>
        <p:spPr>
          <a:xfrm>
            <a:off x="14732000" y="86868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697184"/>
                </a:solidFill>
                <a:latin typeface="Consolas" panose="020B0609020204030204" pitchFamily="49" charset="0"/>
              </a:rPr>
              <a:t>04 / 18</a:t>
            </a:r>
            <a:endParaRPr lang="zh-CN" altLang="en-US" sz="1100">
              <a:solidFill>
                <a:srgbClr val="697184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5D6812B-9E5B-E429-AF89-2CCF69A71E38}"/>
              </a:ext>
            </a:extLst>
          </p:cNvPr>
          <p:cNvSpPr/>
          <p:nvPr/>
        </p:nvSpPr>
        <p:spPr>
          <a:xfrm>
            <a:off x="0" y="9093200"/>
            <a:ext cx="3612445" cy="50800"/>
          </a:xfrm>
          <a:prstGeom prst="rect">
            <a:avLst/>
          </a:prstGeom>
          <a:solidFill>
            <a:srgbClr val="20C7A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9" name="card_9">
            <a:extLst>
              <a:ext uri="{FF2B5EF4-FFF2-40B4-BE49-F238E27FC236}">
                <a16:creationId xmlns:a16="http://schemas.microsoft.com/office/drawing/2014/main" id="{3F2BBC73-B6B4-4348-D47A-AEA40100ACAA}"/>
              </a:ext>
            </a:extLst>
          </p:cNvPr>
          <p:cNvGrpSpPr/>
          <p:nvPr/>
        </p:nvGrpSpPr>
        <p:grpSpPr>
          <a:xfrm>
            <a:off x="1168400" y="2857500"/>
            <a:ext cx="4487333" cy="2667000"/>
            <a:chOff x="1168400" y="2857500"/>
            <a:chExt cx="4487333" cy="2667000"/>
          </a:xfrm>
        </p:grpSpPr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88BF2ACD-FC00-07F7-9766-6CACEFA8D669}"/>
                </a:ext>
              </a:extLst>
            </p:cNvPr>
            <p:cNvSpPr/>
            <p:nvPr/>
          </p:nvSpPr>
          <p:spPr>
            <a:xfrm>
              <a:off x="1168400" y="2857500"/>
              <a:ext cx="4487333" cy="2667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B4D19032-5DDF-4CDE-E554-E23E352CD71F}"/>
                </a:ext>
              </a:extLst>
            </p:cNvPr>
            <p:cNvSpPr/>
            <p:nvPr/>
          </p:nvSpPr>
          <p:spPr>
            <a:xfrm>
              <a:off x="1168400" y="2857500"/>
              <a:ext cx="63500" cy="2667000"/>
            </a:xfrm>
            <a:prstGeom prst="rect">
              <a:avLst/>
            </a:prstGeom>
            <a:solidFill>
              <a:srgbClr val="FF5F7D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68217E51-CC16-6FA8-14CA-6A130B080610}"/>
                </a:ext>
              </a:extLst>
            </p:cNvPr>
            <p:cNvSpPr txBox="1"/>
            <p:nvPr/>
          </p:nvSpPr>
          <p:spPr>
            <a:xfrm>
              <a:off x="1498600" y="3136900"/>
              <a:ext cx="3928533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400" b="1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期望错位</a:t>
              </a: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04521219-B6A5-C84F-53DE-D0BE595A736F}"/>
                </a:ext>
              </a:extLst>
            </p:cNvPr>
            <p:cNvSpPr txBox="1"/>
            <p:nvPr/>
          </p:nvSpPr>
          <p:spPr>
            <a:xfrm>
              <a:off x="1498600" y="3683000"/>
              <a:ext cx="3928533" cy="52322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把通用 </a:t>
              </a:r>
              <a:r>
                <a:rPr lang="en-US" altLang="zh-CN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AI 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当万能答案机，期待一句话直接交付成品。</a:t>
              </a:r>
            </a:p>
          </p:txBody>
        </p:sp>
      </p:grpSp>
      <p:grpSp>
        <p:nvGrpSpPr>
          <p:cNvPr id="54" name="card_10">
            <a:extLst>
              <a:ext uri="{FF2B5EF4-FFF2-40B4-BE49-F238E27FC236}">
                <a16:creationId xmlns:a16="http://schemas.microsoft.com/office/drawing/2014/main" id="{8F25D9EE-8905-0167-C74B-629DDA730CB5}"/>
              </a:ext>
            </a:extLst>
          </p:cNvPr>
          <p:cNvGrpSpPr/>
          <p:nvPr/>
        </p:nvGrpSpPr>
        <p:grpSpPr>
          <a:xfrm>
            <a:off x="5884333" y="2857500"/>
            <a:ext cx="4487334" cy="2667000"/>
            <a:chOff x="5884333" y="2857500"/>
            <a:chExt cx="4487334" cy="2667000"/>
          </a:xfrm>
        </p:grpSpPr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AE934704-09D0-0443-226C-B2A621E6D409}"/>
                </a:ext>
              </a:extLst>
            </p:cNvPr>
            <p:cNvSpPr/>
            <p:nvPr/>
          </p:nvSpPr>
          <p:spPr>
            <a:xfrm>
              <a:off x="5884333" y="2857500"/>
              <a:ext cx="4487334" cy="2667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D8266B72-EC8E-6E97-4948-4EF933334618}"/>
                </a:ext>
              </a:extLst>
            </p:cNvPr>
            <p:cNvSpPr/>
            <p:nvPr/>
          </p:nvSpPr>
          <p:spPr>
            <a:xfrm>
              <a:off x="5884333" y="2857500"/>
              <a:ext cx="63500" cy="2667000"/>
            </a:xfrm>
            <a:prstGeom prst="rect">
              <a:avLst/>
            </a:prstGeom>
            <a:solidFill>
              <a:srgbClr val="D6AD6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386DC81B-3DC1-341F-485A-909484344AD7}"/>
                </a:ext>
              </a:extLst>
            </p:cNvPr>
            <p:cNvSpPr txBox="1"/>
            <p:nvPr/>
          </p:nvSpPr>
          <p:spPr>
            <a:xfrm>
              <a:off x="6214533" y="3136900"/>
              <a:ext cx="3928533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400" b="1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磨合不足</a:t>
              </a: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3D967FD5-6564-C47A-3C66-6DF7138F1836}"/>
                </a:ext>
              </a:extLst>
            </p:cNvPr>
            <p:cNvSpPr txBox="1"/>
            <p:nvPr/>
          </p:nvSpPr>
          <p:spPr>
            <a:xfrm>
              <a:off x="6214533" y="3683000"/>
              <a:ext cx="3928533" cy="52322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抛一句话，不满意就换工具；连完整迭代都没跑完。</a:t>
              </a:r>
            </a:p>
          </p:txBody>
        </p:sp>
      </p:grpSp>
      <p:grpSp>
        <p:nvGrpSpPr>
          <p:cNvPr id="59" name="card_11">
            <a:extLst>
              <a:ext uri="{FF2B5EF4-FFF2-40B4-BE49-F238E27FC236}">
                <a16:creationId xmlns:a16="http://schemas.microsoft.com/office/drawing/2014/main" id="{8D414641-FB3B-2190-D416-CE045C6C05A2}"/>
              </a:ext>
            </a:extLst>
          </p:cNvPr>
          <p:cNvGrpSpPr/>
          <p:nvPr/>
        </p:nvGrpSpPr>
        <p:grpSpPr>
          <a:xfrm>
            <a:off x="10600267" y="2857500"/>
            <a:ext cx="4487333" cy="2667000"/>
            <a:chOff x="10600267" y="2857500"/>
            <a:chExt cx="4487333" cy="2667000"/>
          </a:xfrm>
        </p:grpSpPr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22313939-A927-B514-2A42-287FB68619EC}"/>
                </a:ext>
              </a:extLst>
            </p:cNvPr>
            <p:cNvSpPr/>
            <p:nvPr/>
          </p:nvSpPr>
          <p:spPr>
            <a:xfrm>
              <a:off x="10600267" y="2857500"/>
              <a:ext cx="4487333" cy="2667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6DFE92FC-F018-0485-B13F-087C54DC9F9D}"/>
                </a:ext>
              </a:extLst>
            </p:cNvPr>
            <p:cNvSpPr/>
            <p:nvPr/>
          </p:nvSpPr>
          <p:spPr>
            <a:xfrm>
              <a:off x="10600267" y="2857500"/>
              <a:ext cx="63500" cy="2667000"/>
            </a:xfrm>
            <a:prstGeom prst="rect">
              <a:avLst/>
            </a:prstGeom>
            <a:solidFill>
              <a:srgbClr val="9B75F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67E9041C-A37A-9D3E-D89C-BFE02FF4FF8E}"/>
                </a:ext>
              </a:extLst>
            </p:cNvPr>
            <p:cNvSpPr txBox="1"/>
            <p:nvPr/>
          </p:nvSpPr>
          <p:spPr>
            <a:xfrm>
              <a:off x="10930467" y="3136900"/>
              <a:ext cx="3928533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400" b="1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场景错配</a:t>
              </a: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7F75EC31-AA0A-968B-5C67-B80CF360F221}"/>
                </a:ext>
              </a:extLst>
            </p:cNvPr>
            <p:cNvSpPr txBox="1"/>
            <p:nvPr/>
          </p:nvSpPr>
          <p:spPr>
            <a:xfrm>
              <a:off x="10930467" y="3683000"/>
              <a:ext cx="3928533" cy="52322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先想“我能问它什么”，而不是先找反复刺痛的工作问题。</a:t>
              </a:r>
            </a:p>
          </p:txBody>
        </p:sp>
      </p:grpSp>
      <p:grpSp>
        <p:nvGrpSpPr>
          <p:cNvPr id="63" name="quote_12">
            <a:extLst>
              <a:ext uri="{FF2B5EF4-FFF2-40B4-BE49-F238E27FC236}">
                <a16:creationId xmlns:a16="http://schemas.microsoft.com/office/drawing/2014/main" id="{852836E4-7436-ACAE-F20B-DB88867D1A24}"/>
              </a:ext>
            </a:extLst>
          </p:cNvPr>
          <p:cNvGrpSpPr/>
          <p:nvPr/>
        </p:nvGrpSpPr>
        <p:grpSpPr>
          <a:xfrm>
            <a:off x="914400" y="7670800"/>
            <a:ext cx="14427200" cy="889000"/>
            <a:chOff x="914400" y="7670800"/>
            <a:chExt cx="14427200" cy="889000"/>
          </a:xfrm>
        </p:grpSpPr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C4010572-6499-A7E8-0650-E2E03AEB5D7E}"/>
                </a:ext>
              </a:extLst>
            </p:cNvPr>
            <p:cNvSpPr/>
            <p:nvPr/>
          </p:nvSpPr>
          <p:spPr>
            <a:xfrm>
              <a:off x="914400" y="7670800"/>
              <a:ext cx="14427200" cy="889000"/>
            </a:xfrm>
            <a:prstGeom prst="roundRect">
              <a:avLst/>
            </a:prstGeom>
            <a:solidFill>
              <a:srgbClr val="20C7AE">
                <a:alpha val="12000"/>
              </a:srgbClr>
            </a:solidFill>
            <a:ln w="12700" cap="flat" cmpd="sng" algn="ctr">
              <a:solidFill>
                <a:srgbClr val="20C7AE">
                  <a:alpha val="5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F2FD45F3-AB19-7926-FA74-F8ACE736FB79}"/>
                </a:ext>
              </a:extLst>
            </p:cNvPr>
            <p:cNvSpPr/>
            <p:nvPr/>
          </p:nvSpPr>
          <p:spPr>
            <a:xfrm>
              <a:off x="914400" y="7670800"/>
              <a:ext cx="76200" cy="889000"/>
            </a:xfrm>
            <a:prstGeom prst="rect">
              <a:avLst/>
            </a:prstGeom>
            <a:solidFill>
              <a:srgbClr val="20C7A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153CFBB7-B4E9-17A5-5A06-031E59E1CCD8}"/>
                </a:ext>
              </a:extLst>
            </p:cNvPr>
            <p:cNvSpPr txBox="1"/>
            <p:nvPr/>
          </p:nvSpPr>
          <p:spPr>
            <a:xfrm>
              <a:off x="1270000" y="7874000"/>
              <a:ext cx="137668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关键句：好用的新同事是带出来的，不是招来的；好用的 </a:t>
              </a:r>
              <a:r>
                <a:rPr lang="en-US" altLang="zh-CN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AI </a:t>
              </a:r>
              <a:r>
                <a:rPr lang="zh-CN" altLang="en-US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也是驯化出来的，不是换来的。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65740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5">
            <a:extLst>
              <a:ext uri="{FF2B5EF4-FFF2-40B4-BE49-F238E27FC236}">
                <a16:creationId xmlns:a16="http://schemas.microsoft.com/office/drawing/2014/main" id="{F584C5CC-494C-4C5B-2378-15DA3356E179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70B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8D4F737-C5C2-F523-3485-A40072B96585}"/>
              </a:ext>
            </a:extLst>
          </p:cNvPr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D6AD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B259056-3F60-CEF5-FA0F-963F7E2A186F}"/>
              </a:ext>
            </a:extLst>
          </p:cNvPr>
          <p:cNvSpPr/>
          <p:nvPr/>
        </p:nvSpPr>
        <p:spPr>
          <a:xfrm>
            <a:off x="762000" y="571500"/>
            <a:ext cx="3937000" cy="3937000"/>
          </a:xfrm>
          <a:prstGeom prst="ellipse">
            <a:avLst/>
          </a:prstGeom>
          <a:solidFill>
            <a:srgbClr val="D6AD61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074B7B4F-B07A-6F3A-77DF-992421FB2615}"/>
              </a:ext>
            </a:extLst>
          </p:cNvPr>
          <p:cNvSpPr/>
          <p:nvPr/>
        </p:nvSpPr>
        <p:spPr>
          <a:xfrm>
            <a:off x="11430000" y="889000"/>
            <a:ext cx="3556000" cy="3556000"/>
          </a:xfrm>
          <a:prstGeom prst="ellipse">
            <a:avLst/>
          </a:prstGeom>
          <a:solidFill>
            <a:srgbClr val="20C7AE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4C5D4FA5-C0FB-55F8-128F-5966D2407CC0}"/>
              </a:ext>
            </a:extLst>
          </p:cNvPr>
          <p:cNvSpPr/>
          <p:nvPr/>
        </p:nvSpPr>
        <p:spPr>
          <a:xfrm>
            <a:off x="10414000" y="5969000"/>
            <a:ext cx="3302000" cy="3302000"/>
          </a:xfrm>
          <a:prstGeom prst="ellipse">
            <a:avLst/>
          </a:prstGeom>
          <a:solidFill>
            <a:srgbClr val="9B75F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556EDF7-0158-C235-86BD-BD99E9A092F8}"/>
              </a:ext>
            </a:extLst>
          </p:cNvPr>
          <p:cNvCxnSpPr/>
          <p:nvPr/>
        </p:nvCxnSpPr>
        <p:spPr>
          <a:xfrm>
            <a:off x="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408FA8C-E314-1B14-F9CF-AD6A1EB62BCA}"/>
              </a:ext>
            </a:extLst>
          </p:cNvPr>
          <p:cNvCxnSpPr/>
          <p:nvPr/>
        </p:nvCxnSpPr>
        <p:spPr>
          <a:xfrm>
            <a:off x="812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433406DD-69ED-F04E-A62C-2136DF9648D7}"/>
              </a:ext>
            </a:extLst>
          </p:cNvPr>
          <p:cNvCxnSpPr/>
          <p:nvPr/>
        </p:nvCxnSpPr>
        <p:spPr>
          <a:xfrm>
            <a:off x="1625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9568721-FF41-EFF6-2909-9DAA370E0EC0}"/>
              </a:ext>
            </a:extLst>
          </p:cNvPr>
          <p:cNvCxnSpPr/>
          <p:nvPr/>
        </p:nvCxnSpPr>
        <p:spPr>
          <a:xfrm>
            <a:off x="2438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30623D9-7158-E474-F99E-E7A55EB87A2D}"/>
              </a:ext>
            </a:extLst>
          </p:cNvPr>
          <p:cNvCxnSpPr/>
          <p:nvPr/>
        </p:nvCxnSpPr>
        <p:spPr>
          <a:xfrm>
            <a:off x="3251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06726266-79F9-F7A6-632F-8BD442284966}"/>
              </a:ext>
            </a:extLst>
          </p:cNvPr>
          <p:cNvCxnSpPr/>
          <p:nvPr/>
        </p:nvCxnSpPr>
        <p:spPr>
          <a:xfrm>
            <a:off x="4064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A4D1DAC7-ABFF-38F4-8B7C-4394DB899C5C}"/>
              </a:ext>
            </a:extLst>
          </p:cNvPr>
          <p:cNvCxnSpPr/>
          <p:nvPr/>
        </p:nvCxnSpPr>
        <p:spPr>
          <a:xfrm>
            <a:off x="4876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004BFFBD-2808-BD18-DAFC-913DCBC30811}"/>
              </a:ext>
            </a:extLst>
          </p:cNvPr>
          <p:cNvCxnSpPr/>
          <p:nvPr/>
        </p:nvCxnSpPr>
        <p:spPr>
          <a:xfrm>
            <a:off x="5689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9EB96DC5-33F2-9130-5248-4B56B8212812}"/>
              </a:ext>
            </a:extLst>
          </p:cNvPr>
          <p:cNvCxnSpPr/>
          <p:nvPr/>
        </p:nvCxnSpPr>
        <p:spPr>
          <a:xfrm>
            <a:off x="6502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FB7FA35F-5241-884C-871D-251488394CE7}"/>
              </a:ext>
            </a:extLst>
          </p:cNvPr>
          <p:cNvCxnSpPr/>
          <p:nvPr/>
        </p:nvCxnSpPr>
        <p:spPr>
          <a:xfrm>
            <a:off x="7315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DCC1BF55-A744-D468-8FBF-2C24BE5C7057}"/>
              </a:ext>
            </a:extLst>
          </p:cNvPr>
          <p:cNvCxnSpPr/>
          <p:nvPr/>
        </p:nvCxnSpPr>
        <p:spPr>
          <a:xfrm>
            <a:off x="8128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16AA2C6C-6EC8-87B8-3F45-68EC654CC33C}"/>
              </a:ext>
            </a:extLst>
          </p:cNvPr>
          <p:cNvCxnSpPr/>
          <p:nvPr/>
        </p:nvCxnSpPr>
        <p:spPr>
          <a:xfrm>
            <a:off x="8940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796DFFDB-D6C5-F03F-C10A-5274532A51BB}"/>
              </a:ext>
            </a:extLst>
          </p:cNvPr>
          <p:cNvCxnSpPr/>
          <p:nvPr/>
        </p:nvCxnSpPr>
        <p:spPr>
          <a:xfrm>
            <a:off x="9753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AE1C595F-8AAC-3A26-0ADE-7B472E52EFC9}"/>
              </a:ext>
            </a:extLst>
          </p:cNvPr>
          <p:cNvCxnSpPr/>
          <p:nvPr/>
        </p:nvCxnSpPr>
        <p:spPr>
          <a:xfrm>
            <a:off x="10566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CED3F68F-1690-5EF0-1734-7B5FBBCC52C5}"/>
              </a:ext>
            </a:extLst>
          </p:cNvPr>
          <p:cNvCxnSpPr/>
          <p:nvPr/>
        </p:nvCxnSpPr>
        <p:spPr>
          <a:xfrm>
            <a:off x="11379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5D75C708-F4FA-38F0-5248-B878DCA01BDA}"/>
              </a:ext>
            </a:extLst>
          </p:cNvPr>
          <p:cNvCxnSpPr/>
          <p:nvPr/>
        </p:nvCxnSpPr>
        <p:spPr>
          <a:xfrm>
            <a:off x="12192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30DC1ECB-3BEE-A715-B60A-B472102C842B}"/>
              </a:ext>
            </a:extLst>
          </p:cNvPr>
          <p:cNvCxnSpPr/>
          <p:nvPr/>
        </p:nvCxnSpPr>
        <p:spPr>
          <a:xfrm>
            <a:off x="13004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10BDBCA-9332-1382-0152-B9D4318D79B3}"/>
              </a:ext>
            </a:extLst>
          </p:cNvPr>
          <p:cNvCxnSpPr/>
          <p:nvPr/>
        </p:nvCxnSpPr>
        <p:spPr>
          <a:xfrm>
            <a:off x="13817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8432E6D8-33BE-8B6B-AE4B-EE7797A44903}"/>
              </a:ext>
            </a:extLst>
          </p:cNvPr>
          <p:cNvCxnSpPr/>
          <p:nvPr/>
        </p:nvCxnSpPr>
        <p:spPr>
          <a:xfrm>
            <a:off x="14630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0FC270CF-19AA-97B6-43D6-95EA17634BC1}"/>
              </a:ext>
            </a:extLst>
          </p:cNvPr>
          <p:cNvCxnSpPr/>
          <p:nvPr/>
        </p:nvCxnSpPr>
        <p:spPr>
          <a:xfrm>
            <a:off x="15443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B0905D62-4544-FF8A-B0D4-1014ADB2153D}"/>
              </a:ext>
            </a:extLst>
          </p:cNvPr>
          <p:cNvCxnSpPr/>
          <p:nvPr/>
        </p:nvCxnSpPr>
        <p:spPr>
          <a:xfrm>
            <a:off x="0" y="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5C2C12FD-E0FA-13E1-4AD9-9D8240508E85}"/>
              </a:ext>
            </a:extLst>
          </p:cNvPr>
          <p:cNvCxnSpPr/>
          <p:nvPr/>
        </p:nvCxnSpPr>
        <p:spPr>
          <a:xfrm>
            <a:off x="0" y="812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BD537F8B-0A18-A365-520F-355A51E0B0DD}"/>
              </a:ext>
            </a:extLst>
          </p:cNvPr>
          <p:cNvCxnSpPr/>
          <p:nvPr/>
        </p:nvCxnSpPr>
        <p:spPr>
          <a:xfrm>
            <a:off x="0" y="1625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1D0A4DD6-B5EB-6FE8-4699-79C32A758374}"/>
              </a:ext>
            </a:extLst>
          </p:cNvPr>
          <p:cNvCxnSpPr/>
          <p:nvPr/>
        </p:nvCxnSpPr>
        <p:spPr>
          <a:xfrm>
            <a:off x="0" y="2438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8A4DEE3C-01AD-24BE-C7B7-435C889C5A21}"/>
              </a:ext>
            </a:extLst>
          </p:cNvPr>
          <p:cNvCxnSpPr/>
          <p:nvPr/>
        </p:nvCxnSpPr>
        <p:spPr>
          <a:xfrm>
            <a:off x="0" y="3251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F267A3A2-5E3A-8815-EA25-CF1A1E979A2E}"/>
              </a:ext>
            </a:extLst>
          </p:cNvPr>
          <p:cNvCxnSpPr/>
          <p:nvPr/>
        </p:nvCxnSpPr>
        <p:spPr>
          <a:xfrm>
            <a:off x="0" y="4064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5607BB4A-4EB6-0B0E-CC9D-4D2F9965E518}"/>
              </a:ext>
            </a:extLst>
          </p:cNvPr>
          <p:cNvCxnSpPr/>
          <p:nvPr/>
        </p:nvCxnSpPr>
        <p:spPr>
          <a:xfrm>
            <a:off x="0" y="4876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D7DDFC5F-6471-602B-C4F4-049D97025190}"/>
              </a:ext>
            </a:extLst>
          </p:cNvPr>
          <p:cNvCxnSpPr/>
          <p:nvPr/>
        </p:nvCxnSpPr>
        <p:spPr>
          <a:xfrm>
            <a:off x="0" y="5689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D885B4B4-5266-FDB0-15C2-834012EE2089}"/>
              </a:ext>
            </a:extLst>
          </p:cNvPr>
          <p:cNvCxnSpPr/>
          <p:nvPr/>
        </p:nvCxnSpPr>
        <p:spPr>
          <a:xfrm>
            <a:off x="0" y="6502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57A52E4A-AD62-F78B-1C0E-AB48E314E3E7}"/>
              </a:ext>
            </a:extLst>
          </p:cNvPr>
          <p:cNvCxnSpPr/>
          <p:nvPr/>
        </p:nvCxnSpPr>
        <p:spPr>
          <a:xfrm>
            <a:off x="0" y="7315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D3862AB7-B8B4-12F7-D137-312B041869F6}"/>
              </a:ext>
            </a:extLst>
          </p:cNvPr>
          <p:cNvCxnSpPr/>
          <p:nvPr/>
        </p:nvCxnSpPr>
        <p:spPr>
          <a:xfrm>
            <a:off x="0" y="8128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8816DF44-3862-00AE-5CE5-AD8EA64392DB}"/>
              </a:ext>
            </a:extLst>
          </p:cNvPr>
          <p:cNvCxnSpPr/>
          <p:nvPr/>
        </p:nvCxnSpPr>
        <p:spPr>
          <a:xfrm>
            <a:off x="0" y="8940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0BDB78BE-7A5B-6B25-3D50-D3625D3924D8}"/>
              </a:ext>
            </a:extLst>
          </p:cNvPr>
          <p:cNvSpPr txBox="1"/>
          <p:nvPr/>
        </p:nvSpPr>
        <p:spPr>
          <a:xfrm>
            <a:off x="914400" y="609600"/>
            <a:ext cx="11430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400">
                <a:solidFill>
                  <a:srgbClr val="D6AD61"/>
                </a:solidFill>
                <a:latin typeface="Consolas" panose="020B0609020204030204" pitchFamily="49" charset="0"/>
              </a:rPr>
              <a:t>Cognitive Load</a:t>
            </a:r>
            <a:endParaRPr lang="zh-CN" altLang="en-US" sz="1400">
              <a:solidFill>
                <a:srgbClr val="D6AD6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FFE02CD-5900-B16F-1F2C-D2933DEF3B17}"/>
              </a:ext>
            </a:extLst>
          </p:cNvPr>
          <p:cNvSpPr txBox="1"/>
          <p:nvPr/>
        </p:nvSpPr>
        <p:spPr>
          <a:xfrm>
            <a:off x="914400" y="990600"/>
            <a:ext cx="13208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3600" b="1">
                <a:solidFill>
                  <a:srgbClr val="EFECE5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AI </a:t>
            </a:r>
            <a:r>
              <a:rPr lang="zh-CN" altLang="en-US" sz="3600" b="1">
                <a:solidFill>
                  <a:srgbClr val="EFECE5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省掉执行时间，但新增判断负荷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10A4AE52-8DF8-C139-CFBD-12ACDC58022D}"/>
              </a:ext>
            </a:extLst>
          </p:cNvPr>
          <p:cNvSpPr txBox="1"/>
          <p:nvPr/>
        </p:nvSpPr>
        <p:spPr>
          <a:xfrm>
            <a:off x="914400" y="1905000"/>
            <a:ext cx="1270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人的责任没有消失，只是位置变了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380E0338-D9D9-E2CA-0D2D-08D2B129A8C4}"/>
              </a:ext>
            </a:extLst>
          </p:cNvPr>
          <p:cNvSpPr txBox="1"/>
          <p:nvPr/>
        </p:nvSpPr>
        <p:spPr>
          <a:xfrm>
            <a:off x="914400" y="8686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1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驯化野生硅基伙伴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B1D3BD7D-2AA0-69DE-6176-3EC68EC1091F}"/>
              </a:ext>
            </a:extLst>
          </p:cNvPr>
          <p:cNvSpPr txBox="1"/>
          <p:nvPr/>
        </p:nvSpPr>
        <p:spPr>
          <a:xfrm>
            <a:off x="14732000" y="86868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697184"/>
                </a:solidFill>
                <a:latin typeface="Consolas" panose="020B0609020204030204" pitchFamily="49" charset="0"/>
              </a:rPr>
              <a:t>05 / 18</a:t>
            </a:r>
            <a:endParaRPr lang="zh-CN" altLang="en-US" sz="1100">
              <a:solidFill>
                <a:srgbClr val="697184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A862A3D-09F7-A1CA-E97B-92A6842BBD32}"/>
              </a:ext>
            </a:extLst>
          </p:cNvPr>
          <p:cNvSpPr/>
          <p:nvPr/>
        </p:nvSpPr>
        <p:spPr>
          <a:xfrm>
            <a:off x="0" y="9093200"/>
            <a:ext cx="4515555" cy="50800"/>
          </a:xfrm>
          <a:prstGeom prst="rect">
            <a:avLst/>
          </a:prstGeom>
          <a:solidFill>
            <a:srgbClr val="20C7A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8" name="quote_13">
            <a:extLst>
              <a:ext uri="{FF2B5EF4-FFF2-40B4-BE49-F238E27FC236}">
                <a16:creationId xmlns:a16="http://schemas.microsoft.com/office/drawing/2014/main" id="{C447C621-9695-3888-0FD1-FDD1BA642D5C}"/>
              </a:ext>
            </a:extLst>
          </p:cNvPr>
          <p:cNvGrpSpPr/>
          <p:nvPr/>
        </p:nvGrpSpPr>
        <p:grpSpPr>
          <a:xfrm>
            <a:off x="1422400" y="2870200"/>
            <a:ext cx="13411200" cy="1143000"/>
            <a:chOff x="1422400" y="2870200"/>
            <a:chExt cx="13411200" cy="1143000"/>
          </a:xfrm>
        </p:grpSpPr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7F65C2B8-08B6-40ED-E32D-DAC7C8423325}"/>
                </a:ext>
              </a:extLst>
            </p:cNvPr>
            <p:cNvSpPr/>
            <p:nvPr/>
          </p:nvSpPr>
          <p:spPr>
            <a:xfrm>
              <a:off x="1422400" y="2870200"/>
              <a:ext cx="13411200" cy="1143000"/>
            </a:xfrm>
            <a:prstGeom prst="roundRect">
              <a:avLst/>
            </a:prstGeom>
            <a:solidFill>
              <a:srgbClr val="D6AD61">
                <a:alpha val="12000"/>
              </a:srgbClr>
            </a:solidFill>
            <a:ln w="12700" cap="flat" cmpd="sng" algn="ctr">
              <a:solidFill>
                <a:srgbClr val="D6AD61">
                  <a:alpha val="5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A657D0A1-D169-1B59-A8AA-67E90B23D830}"/>
                </a:ext>
              </a:extLst>
            </p:cNvPr>
            <p:cNvSpPr/>
            <p:nvPr/>
          </p:nvSpPr>
          <p:spPr>
            <a:xfrm>
              <a:off x="1422400" y="2870200"/>
              <a:ext cx="76200" cy="1143000"/>
            </a:xfrm>
            <a:prstGeom prst="rect">
              <a:avLst/>
            </a:prstGeom>
            <a:solidFill>
              <a:srgbClr val="D6AD6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E489D351-686B-4AE6-AE5B-DBC5A2524759}"/>
                </a:ext>
              </a:extLst>
            </p:cNvPr>
            <p:cNvSpPr txBox="1"/>
            <p:nvPr/>
          </p:nvSpPr>
          <p:spPr>
            <a:xfrm>
              <a:off x="1778000" y="3073400"/>
              <a:ext cx="12750800" cy="38472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en-US" altLang="zh-CN" sz="2500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AI </a:t>
              </a:r>
              <a:r>
                <a:rPr lang="zh-CN" altLang="en-US" sz="2500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没有让人天然更轻松，它只是把工作从执行迁移到了判断。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9050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6">
            <a:extLst>
              <a:ext uri="{FF2B5EF4-FFF2-40B4-BE49-F238E27FC236}">
                <a16:creationId xmlns:a16="http://schemas.microsoft.com/office/drawing/2014/main" id="{EF14BF93-6AFB-5110-4AB4-063074A227B7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70B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B5B0E7C-6D88-C19C-2A3C-3D8C43AF9242}"/>
              </a:ext>
            </a:extLst>
          </p:cNvPr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D6AD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EE160E19-5025-C3BB-D357-2969C1740EB4}"/>
              </a:ext>
            </a:extLst>
          </p:cNvPr>
          <p:cNvSpPr/>
          <p:nvPr/>
        </p:nvSpPr>
        <p:spPr>
          <a:xfrm>
            <a:off x="762000" y="571500"/>
            <a:ext cx="3937000" cy="3937000"/>
          </a:xfrm>
          <a:prstGeom prst="ellipse">
            <a:avLst/>
          </a:prstGeom>
          <a:solidFill>
            <a:srgbClr val="D6AD61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DDD5F6D6-F0A4-9E99-46A7-B9FA327D28EB}"/>
              </a:ext>
            </a:extLst>
          </p:cNvPr>
          <p:cNvSpPr/>
          <p:nvPr/>
        </p:nvSpPr>
        <p:spPr>
          <a:xfrm>
            <a:off x="11430000" y="889000"/>
            <a:ext cx="3556000" cy="3556000"/>
          </a:xfrm>
          <a:prstGeom prst="ellipse">
            <a:avLst/>
          </a:prstGeom>
          <a:solidFill>
            <a:srgbClr val="20C7AE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D42B5081-E43D-3A73-D421-E4DBECFD2F33}"/>
              </a:ext>
            </a:extLst>
          </p:cNvPr>
          <p:cNvSpPr/>
          <p:nvPr/>
        </p:nvSpPr>
        <p:spPr>
          <a:xfrm>
            <a:off x="10414000" y="5969000"/>
            <a:ext cx="3302000" cy="3302000"/>
          </a:xfrm>
          <a:prstGeom prst="ellipse">
            <a:avLst/>
          </a:prstGeom>
          <a:solidFill>
            <a:srgbClr val="9B75F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C4756BE-7604-F31B-33A4-29D15A64C4DA}"/>
              </a:ext>
            </a:extLst>
          </p:cNvPr>
          <p:cNvCxnSpPr/>
          <p:nvPr/>
        </p:nvCxnSpPr>
        <p:spPr>
          <a:xfrm>
            <a:off x="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A62F0E7-0D7C-9891-28B1-D4F5473E4A6B}"/>
              </a:ext>
            </a:extLst>
          </p:cNvPr>
          <p:cNvCxnSpPr/>
          <p:nvPr/>
        </p:nvCxnSpPr>
        <p:spPr>
          <a:xfrm>
            <a:off x="812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C56680C-39A3-49CC-8A57-08C83ED6E080}"/>
              </a:ext>
            </a:extLst>
          </p:cNvPr>
          <p:cNvCxnSpPr/>
          <p:nvPr/>
        </p:nvCxnSpPr>
        <p:spPr>
          <a:xfrm>
            <a:off x="1625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C9ADD26-8851-73DA-6D48-6555B44CDD0F}"/>
              </a:ext>
            </a:extLst>
          </p:cNvPr>
          <p:cNvCxnSpPr/>
          <p:nvPr/>
        </p:nvCxnSpPr>
        <p:spPr>
          <a:xfrm>
            <a:off x="2438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7557BE1C-137B-00C7-CF55-5AB73E78AF8F}"/>
              </a:ext>
            </a:extLst>
          </p:cNvPr>
          <p:cNvCxnSpPr/>
          <p:nvPr/>
        </p:nvCxnSpPr>
        <p:spPr>
          <a:xfrm>
            <a:off x="3251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8520C56A-4020-AC8A-E9B0-3CD67692B22B}"/>
              </a:ext>
            </a:extLst>
          </p:cNvPr>
          <p:cNvCxnSpPr/>
          <p:nvPr/>
        </p:nvCxnSpPr>
        <p:spPr>
          <a:xfrm>
            <a:off x="4064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A4F778F5-0B6D-D11D-80FE-8AE7A898B367}"/>
              </a:ext>
            </a:extLst>
          </p:cNvPr>
          <p:cNvCxnSpPr/>
          <p:nvPr/>
        </p:nvCxnSpPr>
        <p:spPr>
          <a:xfrm>
            <a:off x="4876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F816B372-EF03-A40A-A324-76EC72CEAA15}"/>
              </a:ext>
            </a:extLst>
          </p:cNvPr>
          <p:cNvCxnSpPr/>
          <p:nvPr/>
        </p:nvCxnSpPr>
        <p:spPr>
          <a:xfrm>
            <a:off x="5689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E18F4A9-8A3B-5692-4BBC-6E85685D98B6}"/>
              </a:ext>
            </a:extLst>
          </p:cNvPr>
          <p:cNvCxnSpPr/>
          <p:nvPr/>
        </p:nvCxnSpPr>
        <p:spPr>
          <a:xfrm>
            <a:off x="6502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037540D3-FAFF-1CCF-D316-B79FBB1C172D}"/>
              </a:ext>
            </a:extLst>
          </p:cNvPr>
          <p:cNvCxnSpPr/>
          <p:nvPr/>
        </p:nvCxnSpPr>
        <p:spPr>
          <a:xfrm>
            <a:off x="7315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A24D312-122C-EFF1-16CD-C7E59B214E5D}"/>
              </a:ext>
            </a:extLst>
          </p:cNvPr>
          <p:cNvCxnSpPr/>
          <p:nvPr/>
        </p:nvCxnSpPr>
        <p:spPr>
          <a:xfrm>
            <a:off x="8128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1BA0F88B-F464-3256-FF42-9EA303A42666}"/>
              </a:ext>
            </a:extLst>
          </p:cNvPr>
          <p:cNvCxnSpPr/>
          <p:nvPr/>
        </p:nvCxnSpPr>
        <p:spPr>
          <a:xfrm>
            <a:off x="8940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D6E8F28A-6F37-5AF7-7435-F35B3EC5CF4A}"/>
              </a:ext>
            </a:extLst>
          </p:cNvPr>
          <p:cNvCxnSpPr/>
          <p:nvPr/>
        </p:nvCxnSpPr>
        <p:spPr>
          <a:xfrm>
            <a:off x="9753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2E06246C-A1B6-6F17-8645-9501D595799D}"/>
              </a:ext>
            </a:extLst>
          </p:cNvPr>
          <p:cNvCxnSpPr/>
          <p:nvPr/>
        </p:nvCxnSpPr>
        <p:spPr>
          <a:xfrm>
            <a:off x="10566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336B0EE8-AB3A-E398-2DFC-5DADF24D0FCE}"/>
              </a:ext>
            </a:extLst>
          </p:cNvPr>
          <p:cNvCxnSpPr/>
          <p:nvPr/>
        </p:nvCxnSpPr>
        <p:spPr>
          <a:xfrm>
            <a:off x="11379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7B8D7DFE-C117-C3AC-A7D1-985BBF79C375}"/>
              </a:ext>
            </a:extLst>
          </p:cNvPr>
          <p:cNvCxnSpPr/>
          <p:nvPr/>
        </p:nvCxnSpPr>
        <p:spPr>
          <a:xfrm>
            <a:off x="12192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14A7F440-9C6D-F335-EA55-D7876A273A1D}"/>
              </a:ext>
            </a:extLst>
          </p:cNvPr>
          <p:cNvCxnSpPr/>
          <p:nvPr/>
        </p:nvCxnSpPr>
        <p:spPr>
          <a:xfrm>
            <a:off x="13004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71D99D7B-4A76-E797-443C-852ECF3644E1}"/>
              </a:ext>
            </a:extLst>
          </p:cNvPr>
          <p:cNvCxnSpPr/>
          <p:nvPr/>
        </p:nvCxnSpPr>
        <p:spPr>
          <a:xfrm>
            <a:off x="13817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117100BE-D854-46DA-122D-4CB6892769B5}"/>
              </a:ext>
            </a:extLst>
          </p:cNvPr>
          <p:cNvCxnSpPr/>
          <p:nvPr/>
        </p:nvCxnSpPr>
        <p:spPr>
          <a:xfrm>
            <a:off x="14630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C73B2D4F-8741-F310-398F-E6EB5DFFC378}"/>
              </a:ext>
            </a:extLst>
          </p:cNvPr>
          <p:cNvCxnSpPr/>
          <p:nvPr/>
        </p:nvCxnSpPr>
        <p:spPr>
          <a:xfrm>
            <a:off x="15443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AF88EB6B-05B9-2A08-A845-C9CA007511EA}"/>
              </a:ext>
            </a:extLst>
          </p:cNvPr>
          <p:cNvCxnSpPr/>
          <p:nvPr/>
        </p:nvCxnSpPr>
        <p:spPr>
          <a:xfrm>
            <a:off x="0" y="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2C53E792-521F-1D3B-5A14-63B06A76DF0F}"/>
              </a:ext>
            </a:extLst>
          </p:cNvPr>
          <p:cNvCxnSpPr/>
          <p:nvPr/>
        </p:nvCxnSpPr>
        <p:spPr>
          <a:xfrm>
            <a:off x="0" y="812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3545F561-6BE2-3514-325C-6C84142E78AF}"/>
              </a:ext>
            </a:extLst>
          </p:cNvPr>
          <p:cNvCxnSpPr/>
          <p:nvPr/>
        </p:nvCxnSpPr>
        <p:spPr>
          <a:xfrm>
            <a:off x="0" y="1625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78379869-DF46-8C2C-01BA-7FCD2826FC09}"/>
              </a:ext>
            </a:extLst>
          </p:cNvPr>
          <p:cNvCxnSpPr/>
          <p:nvPr/>
        </p:nvCxnSpPr>
        <p:spPr>
          <a:xfrm>
            <a:off x="0" y="2438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8FB64B7-3B57-B346-297C-FE7089BC516B}"/>
              </a:ext>
            </a:extLst>
          </p:cNvPr>
          <p:cNvCxnSpPr/>
          <p:nvPr/>
        </p:nvCxnSpPr>
        <p:spPr>
          <a:xfrm>
            <a:off x="0" y="3251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2294CFA9-7E0F-8368-6C7D-D6E4C4582A86}"/>
              </a:ext>
            </a:extLst>
          </p:cNvPr>
          <p:cNvCxnSpPr/>
          <p:nvPr/>
        </p:nvCxnSpPr>
        <p:spPr>
          <a:xfrm>
            <a:off x="0" y="4064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DDD9C56A-04CB-8213-2551-9C183ACE053C}"/>
              </a:ext>
            </a:extLst>
          </p:cNvPr>
          <p:cNvCxnSpPr/>
          <p:nvPr/>
        </p:nvCxnSpPr>
        <p:spPr>
          <a:xfrm>
            <a:off x="0" y="4876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42B4FA5-C8C3-28DA-3924-413CE1B02A97}"/>
              </a:ext>
            </a:extLst>
          </p:cNvPr>
          <p:cNvCxnSpPr/>
          <p:nvPr/>
        </p:nvCxnSpPr>
        <p:spPr>
          <a:xfrm>
            <a:off x="0" y="5689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A3EE29FE-655D-A053-10A1-88433EB14C14}"/>
              </a:ext>
            </a:extLst>
          </p:cNvPr>
          <p:cNvCxnSpPr/>
          <p:nvPr/>
        </p:nvCxnSpPr>
        <p:spPr>
          <a:xfrm>
            <a:off x="0" y="6502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2C39634D-1628-E944-3D48-99ABB7DADE07}"/>
              </a:ext>
            </a:extLst>
          </p:cNvPr>
          <p:cNvCxnSpPr/>
          <p:nvPr/>
        </p:nvCxnSpPr>
        <p:spPr>
          <a:xfrm>
            <a:off x="0" y="7315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53497F3C-4289-5D3D-8A10-2D43B4EAE9C8}"/>
              </a:ext>
            </a:extLst>
          </p:cNvPr>
          <p:cNvCxnSpPr/>
          <p:nvPr/>
        </p:nvCxnSpPr>
        <p:spPr>
          <a:xfrm>
            <a:off x="0" y="8128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D8777B20-E2DA-5B7F-4E33-B2A9C8D4FFD6}"/>
              </a:ext>
            </a:extLst>
          </p:cNvPr>
          <p:cNvCxnSpPr/>
          <p:nvPr/>
        </p:nvCxnSpPr>
        <p:spPr>
          <a:xfrm>
            <a:off x="0" y="8940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DDF1019F-35AD-EB8E-7631-050BA0A6ECA0}"/>
              </a:ext>
            </a:extLst>
          </p:cNvPr>
          <p:cNvSpPr txBox="1"/>
          <p:nvPr/>
        </p:nvSpPr>
        <p:spPr>
          <a:xfrm>
            <a:off x="914400" y="609600"/>
            <a:ext cx="11430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400">
                <a:solidFill>
                  <a:srgbClr val="D6AD61"/>
                </a:solidFill>
                <a:latin typeface="Consolas" panose="020B0609020204030204" pitchFamily="49" charset="0"/>
              </a:rPr>
              <a:t>The Real Nail</a:t>
            </a:r>
            <a:endParaRPr lang="zh-CN" altLang="en-US" sz="1400">
              <a:solidFill>
                <a:srgbClr val="D6AD6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7B66425-B26D-147E-8271-590D4C788541}"/>
              </a:ext>
            </a:extLst>
          </p:cNvPr>
          <p:cNvSpPr txBox="1"/>
          <p:nvPr/>
        </p:nvSpPr>
        <p:spPr>
          <a:xfrm>
            <a:off x="914400" y="990600"/>
            <a:ext cx="13208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600" b="1">
                <a:solidFill>
                  <a:srgbClr val="EFECE5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真正的钉子：信息差、时间差、流程摩擦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D5099E17-821B-EE91-8EA2-574B0681C90D}"/>
              </a:ext>
            </a:extLst>
          </p:cNvPr>
          <p:cNvSpPr txBox="1"/>
          <p:nvPr/>
        </p:nvSpPr>
        <p:spPr>
          <a:xfrm>
            <a:off x="914400" y="8686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1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驯化野生硅基伙伴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FA374185-CCB4-71B5-639A-3C86770DA32F}"/>
              </a:ext>
            </a:extLst>
          </p:cNvPr>
          <p:cNvSpPr txBox="1"/>
          <p:nvPr/>
        </p:nvSpPr>
        <p:spPr>
          <a:xfrm>
            <a:off x="14732000" y="86868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697184"/>
                </a:solidFill>
                <a:latin typeface="Consolas" panose="020B0609020204030204" pitchFamily="49" charset="0"/>
              </a:rPr>
              <a:t>06 / 18</a:t>
            </a:r>
            <a:endParaRPr lang="zh-CN" altLang="en-US" sz="1100">
              <a:solidFill>
                <a:srgbClr val="697184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06DDD896-DB97-3EC1-6CA5-C76856226A61}"/>
              </a:ext>
            </a:extLst>
          </p:cNvPr>
          <p:cNvSpPr/>
          <p:nvPr/>
        </p:nvSpPr>
        <p:spPr>
          <a:xfrm>
            <a:off x="0" y="9093200"/>
            <a:ext cx="5418667" cy="50800"/>
          </a:xfrm>
          <a:prstGeom prst="rect">
            <a:avLst/>
          </a:prstGeom>
          <a:solidFill>
            <a:srgbClr val="20C7A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8" name="card_14">
            <a:extLst>
              <a:ext uri="{FF2B5EF4-FFF2-40B4-BE49-F238E27FC236}">
                <a16:creationId xmlns:a16="http://schemas.microsoft.com/office/drawing/2014/main" id="{FDCD1C99-1A51-8D99-F0C9-485E829F8FD8}"/>
              </a:ext>
            </a:extLst>
          </p:cNvPr>
          <p:cNvGrpSpPr/>
          <p:nvPr/>
        </p:nvGrpSpPr>
        <p:grpSpPr>
          <a:xfrm>
            <a:off x="1168400" y="3111500"/>
            <a:ext cx="4487333" cy="2413000"/>
            <a:chOff x="1168400" y="3111500"/>
            <a:chExt cx="4487333" cy="2413000"/>
          </a:xfrm>
        </p:grpSpPr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16F036FD-D908-7304-1753-C6A976C25A89}"/>
                </a:ext>
              </a:extLst>
            </p:cNvPr>
            <p:cNvSpPr/>
            <p:nvPr/>
          </p:nvSpPr>
          <p:spPr>
            <a:xfrm>
              <a:off x="1168400" y="3111500"/>
              <a:ext cx="4487333" cy="2413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CA14E234-1A96-6CCD-75F7-74EDF2F02E0A}"/>
                </a:ext>
              </a:extLst>
            </p:cNvPr>
            <p:cNvSpPr/>
            <p:nvPr/>
          </p:nvSpPr>
          <p:spPr>
            <a:xfrm>
              <a:off x="1168400" y="3111500"/>
              <a:ext cx="63500" cy="2413000"/>
            </a:xfrm>
            <a:prstGeom prst="rect">
              <a:avLst/>
            </a:prstGeom>
            <a:solidFill>
              <a:srgbClr val="D6AD6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BA4D3EC2-667E-9E9A-F8D0-62BDCD32D8D0}"/>
                </a:ext>
              </a:extLst>
            </p:cNvPr>
            <p:cNvSpPr txBox="1"/>
            <p:nvPr/>
          </p:nvSpPr>
          <p:spPr>
            <a:xfrm>
              <a:off x="1498600" y="3390900"/>
              <a:ext cx="3928533" cy="58477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3800" b="1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信息差</a:t>
              </a: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900F77FD-B4AD-9B3A-4E75-51D1F6A27BA1}"/>
                </a:ext>
              </a:extLst>
            </p:cNvPr>
            <p:cNvSpPr txBox="1"/>
            <p:nvPr/>
          </p:nvSpPr>
          <p:spPr>
            <a:xfrm>
              <a:off x="1498600" y="3937000"/>
              <a:ext cx="3928533" cy="52322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不知道信息在哪、事实散在群聊</a:t>
              </a:r>
              <a:r>
                <a:rPr lang="en-US" altLang="zh-CN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/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文档</a:t>
              </a:r>
              <a:r>
                <a:rPr lang="en-US" altLang="zh-CN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/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私聊</a:t>
              </a:r>
              <a:r>
                <a:rPr lang="en-US" altLang="zh-CN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/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系统里。</a:t>
              </a:r>
            </a:p>
          </p:txBody>
        </p:sp>
      </p:grpSp>
      <p:grpSp>
        <p:nvGrpSpPr>
          <p:cNvPr id="53" name="card_15">
            <a:extLst>
              <a:ext uri="{FF2B5EF4-FFF2-40B4-BE49-F238E27FC236}">
                <a16:creationId xmlns:a16="http://schemas.microsoft.com/office/drawing/2014/main" id="{55DF6C6E-8DA7-FAE9-3D95-0B72233262DD}"/>
              </a:ext>
            </a:extLst>
          </p:cNvPr>
          <p:cNvGrpSpPr/>
          <p:nvPr/>
        </p:nvGrpSpPr>
        <p:grpSpPr>
          <a:xfrm>
            <a:off x="5884333" y="3111500"/>
            <a:ext cx="4487334" cy="2413000"/>
            <a:chOff x="5884333" y="3111500"/>
            <a:chExt cx="4487334" cy="2413000"/>
          </a:xfrm>
        </p:grpSpPr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FF99DD43-249E-AF50-8E90-E2DD83B8377B}"/>
                </a:ext>
              </a:extLst>
            </p:cNvPr>
            <p:cNvSpPr/>
            <p:nvPr/>
          </p:nvSpPr>
          <p:spPr>
            <a:xfrm>
              <a:off x="5884333" y="3111500"/>
              <a:ext cx="4487334" cy="2413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9B292F22-2E74-692C-F057-EB35493C3B5C}"/>
                </a:ext>
              </a:extLst>
            </p:cNvPr>
            <p:cNvSpPr/>
            <p:nvPr/>
          </p:nvSpPr>
          <p:spPr>
            <a:xfrm>
              <a:off x="5884333" y="3111500"/>
              <a:ext cx="63500" cy="2413000"/>
            </a:xfrm>
            <a:prstGeom prst="rect">
              <a:avLst/>
            </a:prstGeom>
            <a:solidFill>
              <a:srgbClr val="20C7A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435024BE-4727-5B5B-D55C-E3D699FF4E15}"/>
                </a:ext>
              </a:extLst>
            </p:cNvPr>
            <p:cNvSpPr txBox="1"/>
            <p:nvPr/>
          </p:nvSpPr>
          <p:spPr>
            <a:xfrm>
              <a:off x="6214533" y="3390900"/>
              <a:ext cx="3928533" cy="58477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3800" b="1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时间差</a:t>
              </a: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32D7B44A-F7B8-7400-9EFB-99E3C45F7726}"/>
                </a:ext>
              </a:extLst>
            </p:cNvPr>
            <p:cNvSpPr txBox="1"/>
            <p:nvPr/>
          </p:nvSpPr>
          <p:spPr>
            <a:xfrm>
              <a:off x="6214533" y="3937000"/>
              <a:ext cx="3928533" cy="52322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等待确认、等待同步、等待转发，流程被人肉中继卡住。</a:t>
              </a:r>
            </a:p>
          </p:txBody>
        </p:sp>
      </p:grpSp>
      <p:grpSp>
        <p:nvGrpSpPr>
          <p:cNvPr id="58" name="card_16">
            <a:extLst>
              <a:ext uri="{FF2B5EF4-FFF2-40B4-BE49-F238E27FC236}">
                <a16:creationId xmlns:a16="http://schemas.microsoft.com/office/drawing/2014/main" id="{EE5F90BF-AF83-C984-1088-D43EB83FE537}"/>
              </a:ext>
            </a:extLst>
          </p:cNvPr>
          <p:cNvGrpSpPr/>
          <p:nvPr/>
        </p:nvGrpSpPr>
        <p:grpSpPr>
          <a:xfrm>
            <a:off x="10600267" y="3111500"/>
            <a:ext cx="4487333" cy="2413000"/>
            <a:chOff x="10600267" y="3111500"/>
            <a:chExt cx="4487333" cy="2413000"/>
          </a:xfrm>
        </p:grpSpPr>
        <p:sp>
          <p:nvSpPr>
            <p:cNvPr id="54" name="矩形: 圆角 53">
              <a:extLst>
                <a:ext uri="{FF2B5EF4-FFF2-40B4-BE49-F238E27FC236}">
                  <a16:creationId xmlns:a16="http://schemas.microsoft.com/office/drawing/2014/main" id="{79DEB5EC-1A0B-8636-8CAF-993D56D12FFA}"/>
                </a:ext>
              </a:extLst>
            </p:cNvPr>
            <p:cNvSpPr/>
            <p:nvPr/>
          </p:nvSpPr>
          <p:spPr>
            <a:xfrm>
              <a:off x="10600267" y="3111500"/>
              <a:ext cx="4487333" cy="2413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522162E9-D704-854D-732B-31F4D8AD16D4}"/>
                </a:ext>
              </a:extLst>
            </p:cNvPr>
            <p:cNvSpPr/>
            <p:nvPr/>
          </p:nvSpPr>
          <p:spPr>
            <a:xfrm>
              <a:off x="10600267" y="3111500"/>
              <a:ext cx="63500" cy="2413000"/>
            </a:xfrm>
            <a:prstGeom prst="rect">
              <a:avLst/>
            </a:prstGeom>
            <a:solidFill>
              <a:srgbClr val="9B75F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9955E16E-27BA-05EF-25C7-89DB5CBE6BA2}"/>
                </a:ext>
              </a:extLst>
            </p:cNvPr>
            <p:cNvSpPr txBox="1"/>
            <p:nvPr/>
          </p:nvSpPr>
          <p:spPr>
            <a:xfrm>
              <a:off x="10930467" y="3390900"/>
              <a:ext cx="3928533" cy="58477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3800" b="1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流程摩擦</a:t>
              </a: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43A1943D-6447-054F-63A6-D80D50905676}"/>
                </a:ext>
              </a:extLst>
            </p:cNvPr>
            <p:cNvSpPr txBox="1"/>
            <p:nvPr/>
          </p:nvSpPr>
          <p:spPr>
            <a:xfrm>
              <a:off x="10930467" y="3937000"/>
              <a:ext cx="3928533" cy="26161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重复整理、格式不统一、同类风险反复漏。</a:t>
              </a:r>
            </a:p>
          </p:txBody>
        </p:sp>
      </p:grpSp>
      <p:grpSp>
        <p:nvGrpSpPr>
          <p:cNvPr id="62" name="quote_17">
            <a:extLst>
              <a:ext uri="{FF2B5EF4-FFF2-40B4-BE49-F238E27FC236}">
                <a16:creationId xmlns:a16="http://schemas.microsoft.com/office/drawing/2014/main" id="{D657DFA5-9124-8415-A29F-077EE0E3A42D}"/>
              </a:ext>
            </a:extLst>
          </p:cNvPr>
          <p:cNvGrpSpPr/>
          <p:nvPr/>
        </p:nvGrpSpPr>
        <p:grpSpPr>
          <a:xfrm>
            <a:off x="914400" y="6959600"/>
            <a:ext cx="14427200" cy="889000"/>
            <a:chOff x="914400" y="6959600"/>
            <a:chExt cx="14427200" cy="889000"/>
          </a:xfrm>
        </p:grpSpPr>
        <p:sp>
          <p:nvSpPr>
            <p:cNvPr id="59" name="矩形: 圆角 58">
              <a:extLst>
                <a:ext uri="{FF2B5EF4-FFF2-40B4-BE49-F238E27FC236}">
                  <a16:creationId xmlns:a16="http://schemas.microsoft.com/office/drawing/2014/main" id="{42E9F0DB-1CF1-4A65-FA6A-55FC4A9F5C7F}"/>
                </a:ext>
              </a:extLst>
            </p:cNvPr>
            <p:cNvSpPr/>
            <p:nvPr/>
          </p:nvSpPr>
          <p:spPr>
            <a:xfrm>
              <a:off x="914400" y="6959600"/>
              <a:ext cx="14427200" cy="889000"/>
            </a:xfrm>
            <a:prstGeom prst="roundRect">
              <a:avLst/>
            </a:prstGeom>
            <a:solidFill>
              <a:srgbClr val="20C7AE">
                <a:alpha val="12000"/>
              </a:srgbClr>
            </a:solidFill>
            <a:ln w="12700" cap="flat" cmpd="sng" algn="ctr">
              <a:solidFill>
                <a:srgbClr val="20C7AE">
                  <a:alpha val="5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7E83CAD8-A9BE-274E-E9B5-285E72356965}"/>
                </a:ext>
              </a:extLst>
            </p:cNvPr>
            <p:cNvSpPr/>
            <p:nvPr/>
          </p:nvSpPr>
          <p:spPr>
            <a:xfrm>
              <a:off x="914400" y="6959600"/>
              <a:ext cx="76200" cy="889000"/>
            </a:xfrm>
            <a:prstGeom prst="rect">
              <a:avLst/>
            </a:prstGeom>
            <a:solidFill>
              <a:srgbClr val="20C7A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AC9C0E29-5BB4-D0CD-D402-5B412AD6F87C}"/>
                </a:ext>
              </a:extLst>
            </p:cNvPr>
            <p:cNvSpPr txBox="1"/>
            <p:nvPr/>
          </p:nvSpPr>
          <p:spPr>
            <a:xfrm>
              <a:off x="1270000" y="7162800"/>
              <a:ext cx="137668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判断：这些损耗不一定靠大模型回答一句话解决。很多时候，最终靠工具、流程、模板、规则系统和自动化解决。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45885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7">
            <a:extLst>
              <a:ext uri="{FF2B5EF4-FFF2-40B4-BE49-F238E27FC236}">
                <a16:creationId xmlns:a16="http://schemas.microsoft.com/office/drawing/2014/main" id="{98FE192F-C7FA-3C72-1766-3804DB6CC510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70B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2C76106-EFFD-9876-6B75-08E91A2B246B}"/>
              </a:ext>
            </a:extLst>
          </p:cNvPr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D6AD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DFDA1210-2FD9-BF2A-B0B7-6EB3148ECCC3}"/>
              </a:ext>
            </a:extLst>
          </p:cNvPr>
          <p:cNvSpPr/>
          <p:nvPr/>
        </p:nvSpPr>
        <p:spPr>
          <a:xfrm>
            <a:off x="762000" y="571500"/>
            <a:ext cx="3937000" cy="3937000"/>
          </a:xfrm>
          <a:prstGeom prst="ellipse">
            <a:avLst/>
          </a:prstGeom>
          <a:solidFill>
            <a:srgbClr val="D6AD61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1A5F1FE-26C2-E183-BBA3-F4CE10780A30}"/>
              </a:ext>
            </a:extLst>
          </p:cNvPr>
          <p:cNvSpPr/>
          <p:nvPr/>
        </p:nvSpPr>
        <p:spPr>
          <a:xfrm>
            <a:off x="11430000" y="889000"/>
            <a:ext cx="3556000" cy="3556000"/>
          </a:xfrm>
          <a:prstGeom prst="ellipse">
            <a:avLst/>
          </a:prstGeom>
          <a:solidFill>
            <a:srgbClr val="20C7AE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ABCECDE6-83CB-22C6-7EA7-E222956A9EDF}"/>
              </a:ext>
            </a:extLst>
          </p:cNvPr>
          <p:cNvSpPr/>
          <p:nvPr/>
        </p:nvSpPr>
        <p:spPr>
          <a:xfrm>
            <a:off x="10414000" y="5969000"/>
            <a:ext cx="3302000" cy="3302000"/>
          </a:xfrm>
          <a:prstGeom prst="ellipse">
            <a:avLst/>
          </a:prstGeom>
          <a:solidFill>
            <a:srgbClr val="9B75F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1D301D0E-59F2-3066-AD9B-726CA69BA717}"/>
              </a:ext>
            </a:extLst>
          </p:cNvPr>
          <p:cNvCxnSpPr/>
          <p:nvPr/>
        </p:nvCxnSpPr>
        <p:spPr>
          <a:xfrm>
            <a:off x="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69870C3-D198-DD94-2085-04226D8CF5F1}"/>
              </a:ext>
            </a:extLst>
          </p:cNvPr>
          <p:cNvCxnSpPr/>
          <p:nvPr/>
        </p:nvCxnSpPr>
        <p:spPr>
          <a:xfrm>
            <a:off x="812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8D58F14-A869-2EED-7E0B-FF51925185A8}"/>
              </a:ext>
            </a:extLst>
          </p:cNvPr>
          <p:cNvCxnSpPr/>
          <p:nvPr/>
        </p:nvCxnSpPr>
        <p:spPr>
          <a:xfrm>
            <a:off x="1625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5206349-7615-8446-C17D-5464D5C6B97C}"/>
              </a:ext>
            </a:extLst>
          </p:cNvPr>
          <p:cNvCxnSpPr/>
          <p:nvPr/>
        </p:nvCxnSpPr>
        <p:spPr>
          <a:xfrm>
            <a:off x="2438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2A0CB90E-9C1C-8815-3969-E787A6E54D08}"/>
              </a:ext>
            </a:extLst>
          </p:cNvPr>
          <p:cNvCxnSpPr/>
          <p:nvPr/>
        </p:nvCxnSpPr>
        <p:spPr>
          <a:xfrm>
            <a:off x="3251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28DFBE99-DC97-2833-02DD-3FB139F3DA4D}"/>
              </a:ext>
            </a:extLst>
          </p:cNvPr>
          <p:cNvCxnSpPr/>
          <p:nvPr/>
        </p:nvCxnSpPr>
        <p:spPr>
          <a:xfrm>
            <a:off x="4064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2944DE5E-E2C8-CCDD-7BC0-9E55ED2D9086}"/>
              </a:ext>
            </a:extLst>
          </p:cNvPr>
          <p:cNvCxnSpPr/>
          <p:nvPr/>
        </p:nvCxnSpPr>
        <p:spPr>
          <a:xfrm>
            <a:off x="4876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F9C7E1A-FF1F-CC6F-5706-1C0850793442}"/>
              </a:ext>
            </a:extLst>
          </p:cNvPr>
          <p:cNvCxnSpPr/>
          <p:nvPr/>
        </p:nvCxnSpPr>
        <p:spPr>
          <a:xfrm>
            <a:off x="5689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B76A6423-4508-1BAB-354E-DB3875C0332C}"/>
              </a:ext>
            </a:extLst>
          </p:cNvPr>
          <p:cNvCxnSpPr/>
          <p:nvPr/>
        </p:nvCxnSpPr>
        <p:spPr>
          <a:xfrm>
            <a:off x="6502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6565DE53-6996-B338-2A68-498E0675E94D}"/>
              </a:ext>
            </a:extLst>
          </p:cNvPr>
          <p:cNvCxnSpPr/>
          <p:nvPr/>
        </p:nvCxnSpPr>
        <p:spPr>
          <a:xfrm>
            <a:off x="7315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22F4834-41C5-716B-110E-2A985299BB76}"/>
              </a:ext>
            </a:extLst>
          </p:cNvPr>
          <p:cNvCxnSpPr/>
          <p:nvPr/>
        </p:nvCxnSpPr>
        <p:spPr>
          <a:xfrm>
            <a:off x="8128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09008EB9-D994-61C6-E515-A98D5B392831}"/>
              </a:ext>
            </a:extLst>
          </p:cNvPr>
          <p:cNvCxnSpPr/>
          <p:nvPr/>
        </p:nvCxnSpPr>
        <p:spPr>
          <a:xfrm>
            <a:off x="8940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C2688535-2BFF-7104-D6B3-DF5E9844AD9A}"/>
              </a:ext>
            </a:extLst>
          </p:cNvPr>
          <p:cNvCxnSpPr/>
          <p:nvPr/>
        </p:nvCxnSpPr>
        <p:spPr>
          <a:xfrm>
            <a:off x="9753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F971DAE2-F6B4-020D-8624-F86A532A9264}"/>
              </a:ext>
            </a:extLst>
          </p:cNvPr>
          <p:cNvCxnSpPr/>
          <p:nvPr/>
        </p:nvCxnSpPr>
        <p:spPr>
          <a:xfrm>
            <a:off x="10566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9C04B329-1530-5A65-19DF-D69546F38BB3}"/>
              </a:ext>
            </a:extLst>
          </p:cNvPr>
          <p:cNvCxnSpPr/>
          <p:nvPr/>
        </p:nvCxnSpPr>
        <p:spPr>
          <a:xfrm>
            <a:off x="11379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370FFCE3-5EAE-A1A7-A463-5F69C4E09AB4}"/>
              </a:ext>
            </a:extLst>
          </p:cNvPr>
          <p:cNvCxnSpPr/>
          <p:nvPr/>
        </p:nvCxnSpPr>
        <p:spPr>
          <a:xfrm>
            <a:off x="12192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FA1877E1-0F95-A1DF-E7B7-1E0429817023}"/>
              </a:ext>
            </a:extLst>
          </p:cNvPr>
          <p:cNvCxnSpPr/>
          <p:nvPr/>
        </p:nvCxnSpPr>
        <p:spPr>
          <a:xfrm>
            <a:off x="13004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922B897-8842-774A-507C-1A31FF1122FF}"/>
              </a:ext>
            </a:extLst>
          </p:cNvPr>
          <p:cNvCxnSpPr/>
          <p:nvPr/>
        </p:nvCxnSpPr>
        <p:spPr>
          <a:xfrm>
            <a:off x="13817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A21DA8D6-81E9-8B93-6D97-473E41867A16}"/>
              </a:ext>
            </a:extLst>
          </p:cNvPr>
          <p:cNvCxnSpPr/>
          <p:nvPr/>
        </p:nvCxnSpPr>
        <p:spPr>
          <a:xfrm>
            <a:off x="14630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E7ED9714-1B33-F6A1-63C2-9B2AA60FBAA0}"/>
              </a:ext>
            </a:extLst>
          </p:cNvPr>
          <p:cNvCxnSpPr/>
          <p:nvPr/>
        </p:nvCxnSpPr>
        <p:spPr>
          <a:xfrm>
            <a:off x="15443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3AA89E96-79DA-E45A-4615-13C08E7D6E99}"/>
              </a:ext>
            </a:extLst>
          </p:cNvPr>
          <p:cNvCxnSpPr/>
          <p:nvPr/>
        </p:nvCxnSpPr>
        <p:spPr>
          <a:xfrm>
            <a:off x="0" y="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76F3ADA9-3C59-091B-1810-B6A723DAFF05}"/>
              </a:ext>
            </a:extLst>
          </p:cNvPr>
          <p:cNvCxnSpPr/>
          <p:nvPr/>
        </p:nvCxnSpPr>
        <p:spPr>
          <a:xfrm>
            <a:off x="0" y="812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543DEB73-DE00-83DD-17A0-9F6D4806393E}"/>
              </a:ext>
            </a:extLst>
          </p:cNvPr>
          <p:cNvCxnSpPr/>
          <p:nvPr/>
        </p:nvCxnSpPr>
        <p:spPr>
          <a:xfrm>
            <a:off x="0" y="1625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A5516690-49AB-CA06-634E-38C7DD817B31}"/>
              </a:ext>
            </a:extLst>
          </p:cNvPr>
          <p:cNvCxnSpPr/>
          <p:nvPr/>
        </p:nvCxnSpPr>
        <p:spPr>
          <a:xfrm>
            <a:off x="0" y="2438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B0D2289D-0BB9-BBC8-EEA0-31B39E5306EF}"/>
              </a:ext>
            </a:extLst>
          </p:cNvPr>
          <p:cNvCxnSpPr/>
          <p:nvPr/>
        </p:nvCxnSpPr>
        <p:spPr>
          <a:xfrm>
            <a:off x="0" y="3251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595326EF-3B28-27CC-46A0-6035F5B173B9}"/>
              </a:ext>
            </a:extLst>
          </p:cNvPr>
          <p:cNvCxnSpPr/>
          <p:nvPr/>
        </p:nvCxnSpPr>
        <p:spPr>
          <a:xfrm>
            <a:off x="0" y="4064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1FFF2A58-B507-9F12-7099-F7DC3D5B37A7}"/>
              </a:ext>
            </a:extLst>
          </p:cNvPr>
          <p:cNvCxnSpPr/>
          <p:nvPr/>
        </p:nvCxnSpPr>
        <p:spPr>
          <a:xfrm>
            <a:off x="0" y="4876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651E6266-2AF5-2BD4-B0FC-C33AA5F14ED0}"/>
              </a:ext>
            </a:extLst>
          </p:cNvPr>
          <p:cNvCxnSpPr/>
          <p:nvPr/>
        </p:nvCxnSpPr>
        <p:spPr>
          <a:xfrm>
            <a:off x="0" y="5689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B6C241D0-C54F-DCC8-7B3E-082E0294AE6C}"/>
              </a:ext>
            </a:extLst>
          </p:cNvPr>
          <p:cNvCxnSpPr/>
          <p:nvPr/>
        </p:nvCxnSpPr>
        <p:spPr>
          <a:xfrm>
            <a:off x="0" y="6502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FEABD84C-6C10-B3BE-4732-CF445EE728C8}"/>
              </a:ext>
            </a:extLst>
          </p:cNvPr>
          <p:cNvCxnSpPr/>
          <p:nvPr/>
        </p:nvCxnSpPr>
        <p:spPr>
          <a:xfrm>
            <a:off x="0" y="7315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A24CCC9A-43D4-E7B4-8E13-C08ADC6803A8}"/>
              </a:ext>
            </a:extLst>
          </p:cNvPr>
          <p:cNvCxnSpPr/>
          <p:nvPr/>
        </p:nvCxnSpPr>
        <p:spPr>
          <a:xfrm>
            <a:off x="0" y="8128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5B63AB52-294D-C85C-F2C4-6B4D988AE2DB}"/>
              </a:ext>
            </a:extLst>
          </p:cNvPr>
          <p:cNvCxnSpPr/>
          <p:nvPr/>
        </p:nvCxnSpPr>
        <p:spPr>
          <a:xfrm>
            <a:off x="0" y="8940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F952181C-F5C3-272A-2472-1D87DA19B83C}"/>
              </a:ext>
            </a:extLst>
          </p:cNvPr>
          <p:cNvSpPr txBox="1"/>
          <p:nvPr/>
        </p:nvSpPr>
        <p:spPr>
          <a:xfrm>
            <a:off x="914400" y="609600"/>
            <a:ext cx="11430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400">
                <a:solidFill>
                  <a:srgbClr val="D6AD61"/>
                </a:solidFill>
                <a:latin typeface="Consolas" panose="020B0609020204030204" pitchFamily="49" charset="0"/>
              </a:rPr>
              <a:t>Change</a:t>
            </a:r>
            <a:endParaRPr lang="zh-CN" altLang="en-US" sz="1400">
              <a:solidFill>
                <a:srgbClr val="D6AD6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A2AF7CE1-FF46-8E86-8C04-DB811F7152CF}"/>
              </a:ext>
            </a:extLst>
          </p:cNvPr>
          <p:cNvSpPr txBox="1"/>
          <p:nvPr/>
        </p:nvSpPr>
        <p:spPr>
          <a:xfrm>
            <a:off x="914400" y="990600"/>
            <a:ext cx="13208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3600" b="1">
                <a:solidFill>
                  <a:srgbClr val="EFECE5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AI </a:t>
            </a:r>
            <a:r>
              <a:rPr lang="zh-CN" altLang="en-US" sz="3600" b="1">
                <a:solidFill>
                  <a:srgbClr val="EFECE5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的真正变化：降低“造工具”的门槛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5EE725E5-F542-9874-9EBE-BC509759DAA1}"/>
              </a:ext>
            </a:extLst>
          </p:cNvPr>
          <p:cNvSpPr txBox="1"/>
          <p:nvPr/>
        </p:nvSpPr>
        <p:spPr>
          <a:xfrm>
            <a:off x="914400" y="1905000"/>
            <a:ext cx="1270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很多过去只能忍掉的小痛点，现在值得重新看一遍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3A5B2B0B-A48C-0E04-9460-4FBCD2CB17E8}"/>
              </a:ext>
            </a:extLst>
          </p:cNvPr>
          <p:cNvSpPr txBox="1"/>
          <p:nvPr/>
        </p:nvSpPr>
        <p:spPr>
          <a:xfrm>
            <a:off x="914400" y="8686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1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驯化野生硅基伙伴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53B0E97-1E10-F817-184F-82D49403DB01}"/>
              </a:ext>
            </a:extLst>
          </p:cNvPr>
          <p:cNvSpPr txBox="1"/>
          <p:nvPr/>
        </p:nvSpPr>
        <p:spPr>
          <a:xfrm>
            <a:off x="14732000" y="86868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697184"/>
                </a:solidFill>
                <a:latin typeface="Consolas" panose="020B0609020204030204" pitchFamily="49" charset="0"/>
              </a:rPr>
              <a:t>07 / 18</a:t>
            </a:r>
            <a:endParaRPr lang="zh-CN" altLang="en-US" sz="1100">
              <a:solidFill>
                <a:srgbClr val="697184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567E2E9-8385-0B30-E813-462BBDA35CF8}"/>
              </a:ext>
            </a:extLst>
          </p:cNvPr>
          <p:cNvSpPr/>
          <p:nvPr/>
        </p:nvSpPr>
        <p:spPr>
          <a:xfrm>
            <a:off x="0" y="9093200"/>
            <a:ext cx="6321778" cy="50800"/>
          </a:xfrm>
          <a:prstGeom prst="rect">
            <a:avLst/>
          </a:prstGeom>
          <a:solidFill>
            <a:srgbClr val="20C7A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8" name="quote_18">
            <a:extLst>
              <a:ext uri="{FF2B5EF4-FFF2-40B4-BE49-F238E27FC236}">
                <a16:creationId xmlns:a16="http://schemas.microsoft.com/office/drawing/2014/main" id="{6E380007-2EE8-C91C-D07A-BD6315997035}"/>
              </a:ext>
            </a:extLst>
          </p:cNvPr>
          <p:cNvGrpSpPr/>
          <p:nvPr/>
        </p:nvGrpSpPr>
        <p:grpSpPr>
          <a:xfrm>
            <a:off x="1422400" y="2870200"/>
            <a:ext cx="13411200" cy="1143000"/>
            <a:chOff x="1422400" y="2870200"/>
            <a:chExt cx="13411200" cy="1143000"/>
          </a:xfrm>
        </p:grpSpPr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BE9678A8-C29F-7E5A-0E03-083EA2AE644A}"/>
                </a:ext>
              </a:extLst>
            </p:cNvPr>
            <p:cNvSpPr/>
            <p:nvPr/>
          </p:nvSpPr>
          <p:spPr>
            <a:xfrm>
              <a:off x="1422400" y="2870200"/>
              <a:ext cx="13411200" cy="1143000"/>
            </a:xfrm>
            <a:prstGeom prst="roundRect">
              <a:avLst/>
            </a:prstGeom>
            <a:solidFill>
              <a:srgbClr val="D6AD61">
                <a:alpha val="12000"/>
              </a:srgbClr>
            </a:solidFill>
            <a:ln w="12700" cap="flat" cmpd="sng" algn="ctr">
              <a:solidFill>
                <a:srgbClr val="D6AD61">
                  <a:alpha val="5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94EA5C1A-BAEE-B6FF-6EA7-D94C05533D2C}"/>
                </a:ext>
              </a:extLst>
            </p:cNvPr>
            <p:cNvSpPr/>
            <p:nvPr/>
          </p:nvSpPr>
          <p:spPr>
            <a:xfrm>
              <a:off x="1422400" y="2870200"/>
              <a:ext cx="76200" cy="1143000"/>
            </a:xfrm>
            <a:prstGeom prst="rect">
              <a:avLst/>
            </a:prstGeom>
            <a:solidFill>
              <a:srgbClr val="D6AD6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D3D576E3-48F9-DE27-B460-5831E272FC55}"/>
                </a:ext>
              </a:extLst>
            </p:cNvPr>
            <p:cNvSpPr txBox="1"/>
            <p:nvPr/>
          </p:nvSpPr>
          <p:spPr>
            <a:xfrm>
              <a:off x="1778000" y="3073400"/>
              <a:ext cx="12750800" cy="38472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500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只要一线同学能把痛点说清楚，就有机会通过 </a:t>
              </a:r>
              <a:r>
                <a:rPr lang="en-US" altLang="zh-CN" sz="2500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AI </a:t>
              </a:r>
              <a:r>
                <a:rPr lang="zh-CN" altLang="en-US" sz="2500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和 </a:t>
              </a:r>
              <a:r>
                <a:rPr lang="en-US" altLang="zh-CN" sz="2500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Vibe Coding </a:t>
              </a:r>
              <a:r>
                <a:rPr lang="zh-CN" altLang="en-US" sz="2500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把工具做出来。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69635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8">
            <a:extLst>
              <a:ext uri="{FF2B5EF4-FFF2-40B4-BE49-F238E27FC236}">
                <a16:creationId xmlns:a16="http://schemas.microsoft.com/office/drawing/2014/main" id="{D6C46B60-B3A3-3A9A-6DEC-DB6A9CB93C2E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70B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7193A78-FF69-0512-2B1D-F1A9D185FE75}"/>
              </a:ext>
            </a:extLst>
          </p:cNvPr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D6AD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5E0DC67E-4084-D941-0C19-DE2490FD9CC9}"/>
              </a:ext>
            </a:extLst>
          </p:cNvPr>
          <p:cNvSpPr/>
          <p:nvPr/>
        </p:nvSpPr>
        <p:spPr>
          <a:xfrm>
            <a:off x="762000" y="571500"/>
            <a:ext cx="3937000" cy="3937000"/>
          </a:xfrm>
          <a:prstGeom prst="ellipse">
            <a:avLst/>
          </a:prstGeom>
          <a:solidFill>
            <a:srgbClr val="D6AD61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D39920C3-8081-76FA-1450-169D347930B3}"/>
              </a:ext>
            </a:extLst>
          </p:cNvPr>
          <p:cNvSpPr/>
          <p:nvPr/>
        </p:nvSpPr>
        <p:spPr>
          <a:xfrm>
            <a:off x="11430000" y="889000"/>
            <a:ext cx="3556000" cy="3556000"/>
          </a:xfrm>
          <a:prstGeom prst="ellipse">
            <a:avLst/>
          </a:prstGeom>
          <a:solidFill>
            <a:srgbClr val="20C7AE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A842FAB6-37F3-2EC3-9936-F28A28180645}"/>
              </a:ext>
            </a:extLst>
          </p:cNvPr>
          <p:cNvSpPr/>
          <p:nvPr/>
        </p:nvSpPr>
        <p:spPr>
          <a:xfrm>
            <a:off x="10414000" y="5969000"/>
            <a:ext cx="3302000" cy="3302000"/>
          </a:xfrm>
          <a:prstGeom prst="ellipse">
            <a:avLst/>
          </a:prstGeom>
          <a:solidFill>
            <a:srgbClr val="9B75F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E4CA0A2-8C9D-919E-73FD-4B5AF0A6DD22}"/>
              </a:ext>
            </a:extLst>
          </p:cNvPr>
          <p:cNvCxnSpPr/>
          <p:nvPr/>
        </p:nvCxnSpPr>
        <p:spPr>
          <a:xfrm>
            <a:off x="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D68CCA5-3E35-DBC5-AA6A-194A1DA0F513}"/>
              </a:ext>
            </a:extLst>
          </p:cNvPr>
          <p:cNvCxnSpPr/>
          <p:nvPr/>
        </p:nvCxnSpPr>
        <p:spPr>
          <a:xfrm>
            <a:off x="812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A7B33A3-73CF-4296-5C12-B7FE2C830242}"/>
              </a:ext>
            </a:extLst>
          </p:cNvPr>
          <p:cNvCxnSpPr/>
          <p:nvPr/>
        </p:nvCxnSpPr>
        <p:spPr>
          <a:xfrm>
            <a:off x="1625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E3CDBD14-2203-1F8F-9A19-DD17937FB2EC}"/>
              </a:ext>
            </a:extLst>
          </p:cNvPr>
          <p:cNvCxnSpPr/>
          <p:nvPr/>
        </p:nvCxnSpPr>
        <p:spPr>
          <a:xfrm>
            <a:off x="2438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15E2C5EB-9C59-718C-C090-4C8614B6DDCC}"/>
              </a:ext>
            </a:extLst>
          </p:cNvPr>
          <p:cNvCxnSpPr/>
          <p:nvPr/>
        </p:nvCxnSpPr>
        <p:spPr>
          <a:xfrm>
            <a:off x="3251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4A3FD6AB-BA6B-B161-CB5D-614B5076A2F7}"/>
              </a:ext>
            </a:extLst>
          </p:cNvPr>
          <p:cNvCxnSpPr/>
          <p:nvPr/>
        </p:nvCxnSpPr>
        <p:spPr>
          <a:xfrm>
            <a:off x="4064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501E585-17F4-2E32-2B03-B0BBB07D35BB}"/>
              </a:ext>
            </a:extLst>
          </p:cNvPr>
          <p:cNvCxnSpPr/>
          <p:nvPr/>
        </p:nvCxnSpPr>
        <p:spPr>
          <a:xfrm>
            <a:off x="4876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CFCE1720-9CAE-9422-FF95-67BB6D3D7D12}"/>
              </a:ext>
            </a:extLst>
          </p:cNvPr>
          <p:cNvCxnSpPr/>
          <p:nvPr/>
        </p:nvCxnSpPr>
        <p:spPr>
          <a:xfrm>
            <a:off x="5689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0E10139F-81AB-F270-1BEB-46F75EE8DBAF}"/>
              </a:ext>
            </a:extLst>
          </p:cNvPr>
          <p:cNvCxnSpPr/>
          <p:nvPr/>
        </p:nvCxnSpPr>
        <p:spPr>
          <a:xfrm>
            <a:off x="6502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E6648069-4A94-5E02-2B49-E47A66C29242}"/>
              </a:ext>
            </a:extLst>
          </p:cNvPr>
          <p:cNvCxnSpPr/>
          <p:nvPr/>
        </p:nvCxnSpPr>
        <p:spPr>
          <a:xfrm>
            <a:off x="7315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B9ED2BF-BC3B-DD5F-4E79-5A76A036267A}"/>
              </a:ext>
            </a:extLst>
          </p:cNvPr>
          <p:cNvCxnSpPr/>
          <p:nvPr/>
        </p:nvCxnSpPr>
        <p:spPr>
          <a:xfrm>
            <a:off x="8128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152D518D-E852-A255-E334-9376339F7916}"/>
              </a:ext>
            </a:extLst>
          </p:cNvPr>
          <p:cNvCxnSpPr/>
          <p:nvPr/>
        </p:nvCxnSpPr>
        <p:spPr>
          <a:xfrm>
            <a:off x="8940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8593002-B806-BA1E-DD1D-75A04291F027}"/>
              </a:ext>
            </a:extLst>
          </p:cNvPr>
          <p:cNvCxnSpPr/>
          <p:nvPr/>
        </p:nvCxnSpPr>
        <p:spPr>
          <a:xfrm>
            <a:off x="9753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1840FB35-2C71-5C4A-5DFE-E8D5C2A403D7}"/>
              </a:ext>
            </a:extLst>
          </p:cNvPr>
          <p:cNvCxnSpPr/>
          <p:nvPr/>
        </p:nvCxnSpPr>
        <p:spPr>
          <a:xfrm>
            <a:off x="10566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2826DE4-B3B2-2263-D354-8B2D1F1B774A}"/>
              </a:ext>
            </a:extLst>
          </p:cNvPr>
          <p:cNvCxnSpPr/>
          <p:nvPr/>
        </p:nvCxnSpPr>
        <p:spPr>
          <a:xfrm>
            <a:off x="11379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159353DB-5966-67A8-6EB7-D44F21D083BD}"/>
              </a:ext>
            </a:extLst>
          </p:cNvPr>
          <p:cNvCxnSpPr/>
          <p:nvPr/>
        </p:nvCxnSpPr>
        <p:spPr>
          <a:xfrm>
            <a:off x="12192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BABFF2A2-E4F2-829C-3815-F350FFDB2A50}"/>
              </a:ext>
            </a:extLst>
          </p:cNvPr>
          <p:cNvCxnSpPr/>
          <p:nvPr/>
        </p:nvCxnSpPr>
        <p:spPr>
          <a:xfrm>
            <a:off x="13004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A75DCC82-2038-C897-04B1-497414E76FFD}"/>
              </a:ext>
            </a:extLst>
          </p:cNvPr>
          <p:cNvCxnSpPr/>
          <p:nvPr/>
        </p:nvCxnSpPr>
        <p:spPr>
          <a:xfrm>
            <a:off x="13817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554697B5-170D-5287-2452-AF0F9A67303D}"/>
              </a:ext>
            </a:extLst>
          </p:cNvPr>
          <p:cNvCxnSpPr/>
          <p:nvPr/>
        </p:nvCxnSpPr>
        <p:spPr>
          <a:xfrm>
            <a:off x="14630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9457A73D-8319-4593-C2F5-426D9658FFA1}"/>
              </a:ext>
            </a:extLst>
          </p:cNvPr>
          <p:cNvCxnSpPr/>
          <p:nvPr/>
        </p:nvCxnSpPr>
        <p:spPr>
          <a:xfrm>
            <a:off x="15443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DE2CD468-62D6-ADFB-2E1E-9F3C486A4C98}"/>
              </a:ext>
            </a:extLst>
          </p:cNvPr>
          <p:cNvCxnSpPr/>
          <p:nvPr/>
        </p:nvCxnSpPr>
        <p:spPr>
          <a:xfrm>
            <a:off x="0" y="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ABEF028-CB94-965E-6199-CF68AE32BA88}"/>
              </a:ext>
            </a:extLst>
          </p:cNvPr>
          <p:cNvCxnSpPr/>
          <p:nvPr/>
        </p:nvCxnSpPr>
        <p:spPr>
          <a:xfrm>
            <a:off x="0" y="812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4E1A758B-1F47-9C56-BEF7-664E6C5D000D}"/>
              </a:ext>
            </a:extLst>
          </p:cNvPr>
          <p:cNvCxnSpPr/>
          <p:nvPr/>
        </p:nvCxnSpPr>
        <p:spPr>
          <a:xfrm>
            <a:off x="0" y="1625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717721DA-B15B-CDA8-08F7-03FDBB57397D}"/>
              </a:ext>
            </a:extLst>
          </p:cNvPr>
          <p:cNvCxnSpPr/>
          <p:nvPr/>
        </p:nvCxnSpPr>
        <p:spPr>
          <a:xfrm>
            <a:off x="0" y="2438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3D5B77C4-3F14-6D37-3278-8E77C448D0C4}"/>
              </a:ext>
            </a:extLst>
          </p:cNvPr>
          <p:cNvCxnSpPr/>
          <p:nvPr/>
        </p:nvCxnSpPr>
        <p:spPr>
          <a:xfrm>
            <a:off x="0" y="3251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0FE4C94C-8391-BFA5-289A-31650944D53E}"/>
              </a:ext>
            </a:extLst>
          </p:cNvPr>
          <p:cNvCxnSpPr/>
          <p:nvPr/>
        </p:nvCxnSpPr>
        <p:spPr>
          <a:xfrm>
            <a:off x="0" y="4064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2BF3D185-7A6D-BF3B-15BE-E43D65A38A2E}"/>
              </a:ext>
            </a:extLst>
          </p:cNvPr>
          <p:cNvCxnSpPr/>
          <p:nvPr/>
        </p:nvCxnSpPr>
        <p:spPr>
          <a:xfrm>
            <a:off x="0" y="4876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D3570298-1BE2-45CD-D7DD-5EC6F732F8AB}"/>
              </a:ext>
            </a:extLst>
          </p:cNvPr>
          <p:cNvCxnSpPr/>
          <p:nvPr/>
        </p:nvCxnSpPr>
        <p:spPr>
          <a:xfrm>
            <a:off x="0" y="5689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5EF3733B-1E35-83AD-ECB0-A0C72A37D418}"/>
              </a:ext>
            </a:extLst>
          </p:cNvPr>
          <p:cNvCxnSpPr/>
          <p:nvPr/>
        </p:nvCxnSpPr>
        <p:spPr>
          <a:xfrm>
            <a:off x="0" y="6502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6C569CEF-5C73-B19D-EA06-7112A72E32FC}"/>
              </a:ext>
            </a:extLst>
          </p:cNvPr>
          <p:cNvCxnSpPr/>
          <p:nvPr/>
        </p:nvCxnSpPr>
        <p:spPr>
          <a:xfrm>
            <a:off x="0" y="7315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5A142741-22D4-B973-2C0F-A1F6CCB952FA}"/>
              </a:ext>
            </a:extLst>
          </p:cNvPr>
          <p:cNvCxnSpPr/>
          <p:nvPr/>
        </p:nvCxnSpPr>
        <p:spPr>
          <a:xfrm>
            <a:off x="0" y="8128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5520D3C2-5A76-D687-38AF-747B9D3572C1}"/>
              </a:ext>
            </a:extLst>
          </p:cNvPr>
          <p:cNvCxnSpPr/>
          <p:nvPr/>
        </p:nvCxnSpPr>
        <p:spPr>
          <a:xfrm>
            <a:off x="0" y="8940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BBCDAC14-B30E-342A-640E-405E23A5CE9F}"/>
              </a:ext>
            </a:extLst>
          </p:cNvPr>
          <p:cNvSpPr txBox="1"/>
          <p:nvPr/>
        </p:nvSpPr>
        <p:spPr>
          <a:xfrm>
            <a:off x="914400" y="609600"/>
            <a:ext cx="11430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400">
                <a:solidFill>
                  <a:srgbClr val="D6AD61"/>
                </a:solidFill>
                <a:latin typeface="Consolas" panose="020B0609020204030204" pitchFamily="49" charset="0"/>
              </a:rPr>
              <a:t>Checklist</a:t>
            </a:r>
            <a:endParaRPr lang="zh-CN" altLang="en-US" sz="1400">
              <a:solidFill>
                <a:srgbClr val="D6AD6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F42BE41F-CBA8-D83A-62AE-3FA8C399B1BF}"/>
              </a:ext>
            </a:extLst>
          </p:cNvPr>
          <p:cNvSpPr txBox="1"/>
          <p:nvPr/>
        </p:nvSpPr>
        <p:spPr>
          <a:xfrm>
            <a:off x="914400" y="990600"/>
            <a:ext cx="13208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600" b="1">
                <a:solidFill>
                  <a:srgbClr val="EFECE5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产品岗最常见的低效痛点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E4A3E5A5-FFD4-0656-A6FA-79F218F4CFF8}"/>
              </a:ext>
            </a:extLst>
          </p:cNvPr>
          <p:cNvSpPr txBox="1"/>
          <p:nvPr/>
        </p:nvSpPr>
        <p:spPr>
          <a:xfrm>
            <a:off x="914400" y="1905000"/>
            <a:ext cx="1270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现场可以让听众对照：哪颗钉子正在扎着我？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F4BFE61F-C64F-B24A-45F7-9DFC862724C0}"/>
              </a:ext>
            </a:extLst>
          </p:cNvPr>
          <p:cNvSpPr txBox="1"/>
          <p:nvPr/>
        </p:nvSpPr>
        <p:spPr>
          <a:xfrm>
            <a:off x="914400" y="8686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1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驯化野生硅基伙伴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74C5A919-4EF1-35FF-70D8-5B5859FE7AF7}"/>
              </a:ext>
            </a:extLst>
          </p:cNvPr>
          <p:cNvSpPr txBox="1"/>
          <p:nvPr/>
        </p:nvSpPr>
        <p:spPr>
          <a:xfrm>
            <a:off x="14732000" y="86868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697184"/>
                </a:solidFill>
                <a:latin typeface="Consolas" panose="020B0609020204030204" pitchFamily="49" charset="0"/>
              </a:rPr>
              <a:t>08 / 18</a:t>
            </a:r>
            <a:endParaRPr lang="zh-CN" altLang="en-US" sz="1100">
              <a:solidFill>
                <a:srgbClr val="697184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AB0EC25-1259-C252-FB1B-32D5632745F8}"/>
              </a:ext>
            </a:extLst>
          </p:cNvPr>
          <p:cNvSpPr/>
          <p:nvPr/>
        </p:nvSpPr>
        <p:spPr>
          <a:xfrm>
            <a:off x="0" y="9093200"/>
            <a:ext cx="7224889" cy="50800"/>
          </a:xfrm>
          <a:prstGeom prst="rect">
            <a:avLst/>
          </a:prstGeom>
          <a:solidFill>
            <a:srgbClr val="20C7A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8" name="list_19">
            <a:extLst>
              <a:ext uri="{FF2B5EF4-FFF2-40B4-BE49-F238E27FC236}">
                <a16:creationId xmlns:a16="http://schemas.microsoft.com/office/drawing/2014/main" id="{EFC632CB-B8F3-50F0-A69B-22F3AD6D98B7}"/>
              </a:ext>
            </a:extLst>
          </p:cNvPr>
          <p:cNvGrpSpPr/>
          <p:nvPr/>
        </p:nvGrpSpPr>
        <p:grpSpPr>
          <a:xfrm>
            <a:off x="1168400" y="2921000"/>
            <a:ext cx="6819900" cy="3937000"/>
            <a:chOff x="1168400" y="2921000"/>
            <a:chExt cx="6819900" cy="3937000"/>
          </a:xfrm>
        </p:grpSpPr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D6E6C6B8-94E9-3F6F-F31A-9007470B3E9E}"/>
                </a:ext>
              </a:extLst>
            </p:cNvPr>
            <p:cNvSpPr/>
            <p:nvPr/>
          </p:nvSpPr>
          <p:spPr>
            <a:xfrm>
              <a:off x="1168400" y="2921000"/>
              <a:ext cx="6819900" cy="3937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D6AD61">
                  <a:alpha val="6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0EC61DED-B6C2-C70A-46B4-2E12A4FBBE8C}"/>
                </a:ext>
              </a:extLst>
            </p:cNvPr>
            <p:cNvSpPr/>
            <p:nvPr/>
          </p:nvSpPr>
          <p:spPr>
            <a:xfrm>
              <a:off x="1168400" y="2921000"/>
              <a:ext cx="63500" cy="3937000"/>
            </a:xfrm>
            <a:prstGeom prst="rect">
              <a:avLst/>
            </a:prstGeom>
            <a:solidFill>
              <a:srgbClr val="D6AD6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9463D49D-C4BE-8E00-3AF1-9B597FE78249}"/>
                </a:ext>
              </a:extLst>
            </p:cNvPr>
            <p:cNvSpPr txBox="1"/>
            <p:nvPr/>
          </p:nvSpPr>
          <p:spPr>
            <a:xfrm>
              <a:off x="1524000" y="3200400"/>
              <a:ext cx="6134100" cy="123110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en-US" altLang="zh-CN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• </a:t>
              </a:r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每周重复整理数据、周报、日报
</a:t>
              </a:r>
              <a:r>
                <a:rPr lang="en-US" altLang="zh-CN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• </a:t>
              </a:r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会议纪要没人转成行动项
</a:t>
              </a:r>
              <a:r>
                <a:rPr lang="en-US" altLang="zh-CN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• </a:t>
              </a:r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需求文档格式总是不统一
</a:t>
              </a:r>
              <a:r>
                <a:rPr lang="en-US" altLang="zh-CN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• </a:t>
              </a:r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评审问题反复漏同类风险
</a:t>
              </a:r>
              <a:r>
                <a:rPr lang="en-US" altLang="zh-CN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• </a:t>
              </a:r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用户反馈散在群聊、表格、文档里</a:t>
              </a:r>
            </a:p>
          </p:txBody>
        </p:sp>
      </p:grpSp>
      <p:grpSp>
        <p:nvGrpSpPr>
          <p:cNvPr id="52" name="list_20">
            <a:extLst>
              <a:ext uri="{FF2B5EF4-FFF2-40B4-BE49-F238E27FC236}">
                <a16:creationId xmlns:a16="http://schemas.microsoft.com/office/drawing/2014/main" id="{13EFD390-5DB2-8B7F-B73E-9366BCA96DB8}"/>
              </a:ext>
            </a:extLst>
          </p:cNvPr>
          <p:cNvGrpSpPr/>
          <p:nvPr/>
        </p:nvGrpSpPr>
        <p:grpSpPr>
          <a:xfrm>
            <a:off x="8267700" y="2921000"/>
            <a:ext cx="6819900" cy="3937000"/>
            <a:chOff x="8267700" y="2921000"/>
            <a:chExt cx="6819900" cy="3937000"/>
          </a:xfrm>
        </p:grpSpPr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237EEBC0-6EA4-2825-81D0-FA41424338B0}"/>
                </a:ext>
              </a:extLst>
            </p:cNvPr>
            <p:cNvSpPr/>
            <p:nvPr/>
          </p:nvSpPr>
          <p:spPr>
            <a:xfrm>
              <a:off x="8267700" y="2921000"/>
              <a:ext cx="6819900" cy="3937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0C7AE">
                  <a:alpha val="6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EFBD2905-8504-CFDB-B623-248B57AD44FB}"/>
                </a:ext>
              </a:extLst>
            </p:cNvPr>
            <p:cNvSpPr/>
            <p:nvPr/>
          </p:nvSpPr>
          <p:spPr>
            <a:xfrm>
              <a:off x="8267700" y="2921000"/>
              <a:ext cx="63500" cy="3937000"/>
            </a:xfrm>
            <a:prstGeom prst="rect">
              <a:avLst/>
            </a:prstGeom>
            <a:solidFill>
              <a:srgbClr val="20C7A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570FC7C7-1456-FDB0-60DD-4D974F2BB579}"/>
                </a:ext>
              </a:extLst>
            </p:cNvPr>
            <p:cNvSpPr txBox="1"/>
            <p:nvPr/>
          </p:nvSpPr>
          <p:spPr>
            <a:xfrm>
              <a:off x="8623300" y="3200400"/>
              <a:ext cx="6134100" cy="123110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en-US" altLang="zh-CN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• </a:t>
              </a:r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竞品资料难沉淀成可复用结构
</a:t>
              </a:r>
              <a:r>
                <a:rPr lang="en-US" altLang="zh-CN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• </a:t>
              </a:r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流程靠人提醒，没人提醒就断
</a:t>
              </a:r>
              <a:r>
                <a:rPr lang="en-US" altLang="zh-CN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• </a:t>
              </a:r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信息靠私聊传递，换个人就断档
</a:t>
              </a:r>
              <a:r>
                <a:rPr lang="en-US" altLang="zh-CN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• </a:t>
              </a:r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新人不知道去哪找标准、模板、案例
</a:t>
              </a:r>
              <a:r>
                <a:rPr lang="en-US" altLang="zh-CN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• </a:t>
              </a:r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每次从零问、从零写、从零整理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0453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9">
            <a:extLst>
              <a:ext uri="{FF2B5EF4-FFF2-40B4-BE49-F238E27FC236}">
                <a16:creationId xmlns:a16="http://schemas.microsoft.com/office/drawing/2014/main" id="{1C4E23C2-A075-71F7-8448-209AB2E18394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70B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B061BD8-4C0F-8946-1EEB-CE83D1417A12}"/>
              </a:ext>
            </a:extLst>
          </p:cNvPr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D6AD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64AA428C-0FE0-F97A-17EB-0F9E3C63C4F3}"/>
              </a:ext>
            </a:extLst>
          </p:cNvPr>
          <p:cNvSpPr/>
          <p:nvPr/>
        </p:nvSpPr>
        <p:spPr>
          <a:xfrm>
            <a:off x="762000" y="571500"/>
            <a:ext cx="3937000" cy="3937000"/>
          </a:xfrm>
          <a:prstGeom prst="ellipse">
            <a:avLst/>
          </a:prstGeom>
          <a:solidFill>
            <a:srgbClr val="D6AD61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DD180071-B33B-1E11-F9D0-885E9289ECB6}"/>
              </a:ext>
            </a:extLst>
          </p:cNvPr>
          <p:cNvSpPr/>
          <p:nvPr/>
        </p:nvSpPr>
        <p:spPr>
          <a:xfrm>
            <a:off x="11430000" y="889000"/>
            <a:ext cx="3556000" cy="3556000"/>
          </a:xfrm>
          <a:prstGeom prst="ellipse">
            <a:avLst/>
          </a:prstGeom>
          <a:solidFill>
            <a:srgbClr val="20C7AE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B6F66E6-400D-A716-E357-E72686852A6C}"/>
              </a:ext>
            </a:extLst>
          </p:cNvPr>
          <p:cNvSpPr/>
          <p:nvPr/>
        </p:nvSpPr>
        <p:spPr>
          <a:xfrm>
            <a:off x="10414000" y="5969000"/>
            <a:ext cx="3302000" cy="3302000"/>
          </a:xfrm>
          <a:prstGeom prst="ellipse">
            <a:avLst/>
          </a:prstGeom>
          <a:solidFill>
            <a:srgbClr val="9B75F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DB4765E-4277-5B19-0DCF-E0B5F4A2E28B}"/>
              </a:ext>
            </a:extLst>
          </p:cNvPr>
          <p:cNvCxnSpPr/>
          <p:nvPr/>
        </p:nvCxnSpPr>
        <p:spPr>
          <a:xfrm>
            <a:off x="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41ABE8A-352A-B43A-93BD-CAF18CBAA2DB}"/>
              </a:ext>
            </a:extLst>
          </p:cNvPr>
          <p:cNvCxnSpPr/>
          <p:nvPr/>
        </p:nvCxnSpPr>
        <p:spPr>
          <a:xfrm>
            <a:off x="812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0D6F7D3A-DB50-DD2B-4320-20FB22AFC3B7}"/>
              </a:ext>
            </a:extLst>
          </p:cNvPr>
          <p:cNvCxnSpPr/>
          <p:nvPr/>
        </p:nvCxnSpPr>
        <p:spPr>
          <a:xfrm>
            <a:off x="1625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102029D-79C6-A723-DCD4-69EEBB37EEA7}"/>
              </a:ext>
            </a:extLst>
          </p:cNvPr>
          <p:cNvCxnSpPr/>
          <p:nvPr/>
        </p:nvCxnSpPr>
        <p:spPr>
          <a:xfrm>
            <a:off x="2438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34A0F61E-678E-F5BD-0FE1-5555795303CE}"/>
              </a:ext>
            </a:extLst>
          </p:cNvPr>
          <p:cNvCxnSpPr/>
          <p:nvPr/>
        </p:nvCxnSpPr>
        <p:spPr>
          <a:xfrm>
            <a:off x="3251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75E3E7A5-D440-1880-2714-4399427D7832}"/>
              </a:ext>
            </a:extLst>
          </p:cNvPr>
          <p:cNvCxnSpPr/>
          <p:nvPr/>
        </p:nvCxnSpPr>
        <p:spPr>
          <a:xfrm>
            <a:off x="4064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AD41F639-2328-207D-BB0D-A89025D8B82D}"/>
              </a:ext>
            </a:extLst>
          </p:cNvPr>
          <p:cNvCxnSpPr/>
          <p:nvPr/>
        </p:nvCxnSpPr>
        <p:spPr>
          <a:xfrm>
            <a:off x="4876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EAF1EEC2-3C13-0F48-C9F8-EC2098CE3DA8}"/>
              </a:ext>
            </a:extLst>
          </p:cNvPr>
          <p:cNvCxnSpPr/>
          <p:nvPr/>
        </p:nvCxnSpPr>
        <p:spPr>
          <a:xfrm>
            <a:off x="5689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5689F0B9-8753-A3C8-1388-71EFB3EEC9BB}"/>
              </a:ext>
            </a:extLst>
          </p:cNvPr>
          <p:cNvCxnSpPr/>
          <p:nvPr/>
        </p:nvCxnSpPr>
        <p:spPr>
          <a:xfrm>
            <a:off x="6502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4EFB750A-E19E-C57C-AC95-F729C0D558E4}"/>
              </a:ext>
            </a:extLst>
          </p:cNvPr>
          <p:cNvCxnSpPr/>
          <p:nvPr/>
        </p:nvCxnSpPr>
        <p:spPr>
          <a:xfrm>
            <a:off x="7315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C49F011-7C44-1108-E2C8-0412039914AA}"/>
              </a:ext>
            </a:extLst>
          </p:cNvPr>
          <p:cNvCxnSpPr/>
          <p:nvPr/>
        </p:nvCxnSpPr>
        <p:spPr>
          <a:xfrm>
            <a:off x="8128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9D9F7FC3-0D23-0263-C332-1DC6B41A5CFC}"/>
              </a:ext>
            </a:extLst>
          </p:cNvPr>
          <p:cNvCxnSpPr/>
          <p:nvPr/>
        </p:nvCxnSpPr>
        <p:spPr>
          <a:xfrm>
            <a:off x="8940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4578E31-A806-B29F-5F7B-2D657AA10B71}"/>
              </a:ext>
            </a:extLst>
          </p:cNvPr>
          <p:cNvCxnSpPr/>
          <p:nvPr/>
        </p:nvCxnSpPr>
        <p:spPr>
          <a:xfrm>
            <a:off x="9753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528617B1-F9DA-0985-E978-75E9AA48AC2A}"/>
              </a:ext>
            </a:extLst>
          </p:cNvPr>
          <p:cNvCxnSpPr/>
          <p:nvPr/>
        </p:nvCxnSpPr>
        <p:spPr>
          <a:xfrm>
            <a:off x="10566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5C4A6A0A-6C9C-F28F-14FD-8CBDFFE84A2B}"/>
              </a:ext>
            </a:extLst>
          </p:cNvPr>
          <p:cNvCxnSpPr/>
          <p:nvPr/>
        </p:nvCxnSpPr>
        <p:spPr>
          <a:xfrm>
            <a:off x="11379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14DC40A2-BF5C-B687-4A2C-6472B46EA932}"/>
              </a:ext>
            </a:extLst>
          </p:cNvPr>
          <p:cNvCxnSpPr/>
          <p:nvPr/>
        </p:nvCxnSpPr>
        <p:spPr>
          <a:xfrm>
            <a:off x="12192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9C940FBA-6F83-36E8-C2DA-58413EC4EE45}"/>
              </a:ext>
            </a:extLst>
          </p:cNvPr>
          <p:cNvCxnSpPr/>
          <p:nvPr/>
        </p:nvCxnSpPr>
        <p:spPr>
          <a:xfrm>
            <a:off x="13004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D87C755E-3E12-57BB-BDF6-8564E6168B4A}"/>
              </a:ext>
            </a:extLst>
          </p:cNvPr>
          <p:cNvCxnSpPr/>
          <p:nvPr/>
        </p:nvCxnSpPr>
        <p:spPr>
          <a:xfrm>
            <a:off x="13817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5B7C3AE9-DF38-E835-7E1A-272A2A1C430D}"/>
              </a:ext>
            </a:extLst>
          </p:cNvPr>
          <p:cNvCxnSpPr/>
          <p:nvPr/>
        </p:nvCxnSpPr>
        <p:spPr>
          <a:xfrm>
            <a:off x="14630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06F30F5F-05BE-B238-D578-3EFBB76435D3}"/>
              </a:ext>
            </a:extLst>
          </p:cNvPr>
          <p:cNvCxnSpPr/>
          <p:nvPr/>
        </p:nvCxnSpPr>
        <p:spPr>
          <a:xfrm>
            <a:off x="15443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E4497BBB-8E59-905C-829C-6F24C775FAFA}"/>
              </a:ext>
            </a:extLst>
          </p:cNvPr>
          <p:cNvCxnSpPr/>
          <p:nvPr/>
        </p:nvCxnSpPr>
        <p:spPr>
          <a:xfrm>
            <a:off x="0" y="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68DCDA24-92AD-428F-E9E6-7D2ABE9837F0}"/>
              </a:ext>
            </a:extLst>
          </p:cNvPr>
          <p:cNvCxnSpPr/>
          <p:nvPr/>
        </p:nvCxnSpPr>
        <p:spPr>
          <a:xfrm>
            <a:off x="0" y="812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0D86BEC3-6091-BB4A-9DD2-EF92F727B786}"/>
              </a:ext>
            </a:extLst>
          </p:cNvPr>
          <p:cNvCxnSpPr/>
          <p:nvPr/>
        </p:nvCxnSpPr>
        <p:spPr>
          <a:xfrm>
            <a:off x="0" y="1625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4BA4C6EF-3C71-61F5-0E62-ADD4204F5965}"/>
              </a:ext>
            </a:extLst>
          </p:cNvPr>
          <p:cNvCxnSpPr/>
          <p:nvPr/>
        </p:nvCxnSpPr>
        <p:spPr>
          <a:xfrm>
            <a:off x="0" y="2438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042F87A4-459B-1CB3-53AB-22054CD9E3FB}"/>
              </a:ext>
            </a:extLst>
          </p:cNvPr>
          <p:cNvCxnSpPr/>
          <p:nvPr/>
        </p:nvCxnSpPr>
        <p:spPr>
          <a:xfrm>
            <a:off x="0" y="3251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C3263D95-F518-609D-4F82-A5B4008CE437}"/>
              </a:ext>
            </a:extLst>
          </p:cNvPr>
          <p:cNvCxnSpPr/>
          <p:nvPr/>
        </p:nvCxnSpPr>
        <p:spPr>
          <a:xfrm>
            <a:off x="0" y="4064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8BBB4AB1-95DD-C74D-E163-BD9066482ED0}"/>
              </a:ext>
            </a:extLst>
          </p:cNvPr>
          <p:cNvCxnSpPr/>
          <p:nvPr/>
        </p:nvCxnSpPr>
        <p:spPr>
          <a:xfrm>
            <a:off x="0" y="4876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279AC936-63C2-82CA-C455-BD1D68242334}"/>
              </a:ext>
            </a:extLst>
          </p:cNvPr>
          <p:cNvCxnSpPr/>
          <p:nvPr/>
        </p:nvCxnSpPr>
        <p:spPr>
          <a:xfrm>
            <a:off x="0" y="5689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A4128359-B49A-FAB0-3502-2E9AF079AB18}"/>
              </a:ext>
            </a:extLst>
          </p:cNvPr>
          <p:cNvCxnSpPr/>
          <p:nvPr/>
        </p:nvCxnSpPr>
        <p:spPr>
          <a:xfrm>
            <a:off x="0" y="6502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69A9EEEA-3C5C-6AE8-61EC-BFDEA98E2BB4}"/>
              </a:ext>
            </a:extLst>
          </p:cNvPr>
          <p:cNvCxnSpPr/>
          <p:nvPr/>
        </p:nvCxnSpPr>
        <p:spPr>
          <a:xfrm>
            <a:off x="0" y="7315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9DF77BA5-027A-7A05-A168-0E6D8F2387AB}"/>
              </a:ext>
            </a:extLst>
          </p:cNvPr>
          <p:cNvCxnSpPr/>
          <p:nvPr/>
        </p:nvCxnSpPr>
        <p:spPr>
          <a:xfrm>
            <a:off x="0" y="8128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5F86A579-DB28-018F-F8FF-F9710555544E}"/>
              </a:ext>
            </a:extLst>
          </p:cNvPr>
          <p:cNvCxnSpPr/>
          <p:nvPr/>
        </p:nvCxnSpPr>
        <p:spPr>
          <a:xfrm>
            <a:off x="0" y="8940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869A7DD2-C2F3-B1B0-EDE4-96149D1B5AFB}"/>
              </a:ext>
            </a:extLst>
          </p:cNvPr>
          <p:cNvSpPr txBox="1"/>
          <p:nvPr/>
        </p:nvSpPr>
        <p:spPr>
          <a:xfrm>
            <a:off x="914400" y="609600"/>
            <a:ext cx="11430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400">
                <a:solidFill>
                  <a:srgbClr val="D6AD61"/>
                </a:solidFill>
                <a:latin typeface="Consolas" panose="020B0609020204030204" pitchFamily="49" charset="0"/>
              </a:rPr>
              <a:t>Two Silicon Capabilities</a:t>
            </a:r>
            <a:endParaRPr lang="zh-CN" altLang="en-US" sz="1400">
              <a:solidFill>
                <a:srgbClr val="D6AD6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A953ABEB-0D5A-879A-B813-F6A44D0B5FF8}"/>
              </a:ext>
            </a:extLst>
          </p:cNvPr>
          <p:cNvSpPr txBox="1"/>
          <p:nvPr/>
        </p:nvSpPr>
        <p:spPr>
          <a:xfrm>
            <a:off x="914400" y="990600"/>
            <a:ext cx="13208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600" b="1">
                <a:solidFill>
                  <a:srgbClr val="EFECE5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两类硅基能力：确定性硅基 </a:t>
            </a:r>
            <a:r>
              <a:rPr lang="en-US" altLang="zh-CN" sz="3600" b="1">
                <a:solidFill>
                  <a:srgbClr val="EFECE5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× </a:t>
            </a:r>
            <a:r>
              <a:rPr lang="zh-CN" altLang="en-US" sz="3600" b="1">
                <a:solidFill>
                  <a:srgbClr val="EFECE5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概率性硅基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3BBEDCE-15AC-93F0-5032-963C13D50FDC}"/>
              </a:ext>
            </a:extLst>
          </p:cNvPr>
          <p:cNvSpPr txBox="1"/>
          <p:nvPr/>
        </p:nvSpPr>
        <p:spPr>
          <a:xfrm>
            <a:off x="914400" y="8686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1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驯化野生硅基伙伴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901E438-BBD1-19FA-4AEC-F3824209E4DC}"/>
              </a:ext>
            </a:extLst>
          </p:cNvPr>
          <p:cNvSpPr txBox="1"/>
          <p:nvPr/>
        </p:nvSpPr>
        <p:spPr>
          <a:xfrm>
            <a:off x="14732000" y="86868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697184"/>
                </a:solidFill>
                <a:latin typeface="Consolas" panose="020B0609020204030204" pitchFamily="49" charset="0"/>
              </a:rPr>
              <a:t>09 / 18</a:t>
            </a:r>
            <a:endParaRPr lang="zh-CN" altLang="en-US" sz="1100">
              <a:solidFill>
                <a:srgbClr val="697184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719EDE0-B3B6-4AFC-1172-E2556FD6539F}"/>
              </a:ext>
            </a:extLst>
          </p:cNvPr>
          <p:cNvSpPr/>
          <p:nvPr/>
        </p:nvSpPr>
        <p:spPr>
          <a:xfrm>
            <a:off x="0" y="9093200"/>
            <a:ext cx="8128000" cy="50800"/>
          </a:xfrm>
          <a:prstGeom prst="rect">
            <a:avLst/>
          </a:prstGeom>
          <a:solidFill>
            <a:srgbClr val="20C7A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6" name="map_1">
            <a:extLst>
              <a:ext uri="{FF2B5EF4-FFF2-40B4-BE49-F238E27FC236}">
                <a16:creationId xmlns:a16="http://schemas.microsoft.com/office/drawing/2014/main" id="{599D86A6-436B-C37E-A5EF-1A93123A7DD9}"/>
              </a:ext>
            </a:extLst>
          </p:cNvPr>
          <p:cNvGrpSpPr/>
          <p:nvPr/>
        </p:nvGrpSpPr>
        <p:grpSpPr>
          <a:xfrm>
            <a:off x="1714500" y="3429000"/>
            <a:ext cx="2667000" cy="2667000"/>
            <a:chOff x="1714500" y="3429000"/>
            <a:chExt cx="2667000" cy="2667000"/>
          </a:xfrm>
        </p:grpSpPr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36303159-76E8-F7B8-A72E-BB8C788AAA6E}"/>
                </a:ext>
              </a:extLst>
            </p:cNvPr>
            <p:cNvSpPr/>
            <p:nvPr/>
          </p:nvSpPr>
          <p:spPr>
            <a:xfrm>
              <a:off x="1714500" y="3429000"/>
              <a:ext cx="2667000" cy="2667000"/>
            </a:xfrm>
            <a:prstGeom prst="ellipse">
              <a:avLst/>
            </a:prstGeom>
            <a:solidFill>
              <a:srgbClr val="D6AD61">
                <a:alpha val="12000"/>
              </a:srgbClr>
            </a:solidFill>
            <a:ln w="19050" cap="flat" cmpd="sng" algn="ctr">
              <a:solidFill>
                <a:srgbClr val="D6AD61">
                  <a:alpha val="8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2FB88AC9-8ACA-78F1-3B9E-AE8E0B2D2B16}"/>
                </a:ext>
              </a:extLst>
            </p:cNvPr>
            <p:cNvSpPr txBox="1"/>
            <p:nvPr/>
          </p:nvSpPr>
          <p:spPr>
            <a:xfrm>
              <a:off x="1993900" y="4241800"/>
              <a:ext cx="2108200" cy="124649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pPr algn="ctr"/>
              <a:r>
                <a:rPr lang="zh-CN" altLang="en-US" sz="2700" b="1">
                  <a:solidFill>
                    <a:srgbClr val="D6AD61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人
目标 </a:t>
              </a:r>
              <a:r>
                <a:rPr lang="en-US" altLang="zh-CN" sz="2700" b="1">
                  <a:solidFill>
                    <a:srgbClr val="D6AD61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/ </a:t>
              </a:r>
              <a:r>
                <a:rPr lang="zh-CN" altLang="en-US" sz="2700" b="1">
                  <a:solidFill>
                    <a:srgbClr val="D6AD61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标准 </a:t>
              </a:r>
              <a:r>
                <a:rPr lang="en-US" altLang="zh-CN" sz="2700" b="1">
                  <a:solidFill>
                    <a:srgbClr val="D6AD61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/ </a:t>
              </a:r>
              <a:r>
                <a:rPr lang="zh-CN" altLang="en-US" sz="2700" b="1">
                  <a:solidFill>
                    <a:srgbClr val="D6AD61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责任</a:t>
              </a:r>
            </a:p>
          </p:txBody>
        </p:sp>
      </p:grpSp>
      <p:grpSp>
        <p:nvGrpSpPr>
          <p:cNvPr id="49" name="map_2">
            <a:extLst>
              <a:ext uri="{FF2B5EF4-FFF2-40B4-BE49-F238E27FC236}">
                <a16:creationId xmlns:a16="http://schemas.microsoft.com/office/drawing/2014/main" id="{0F4BFDA5-17F4-2A92-AEB7-1941D8C829E0}"/>
              </a:ext>
            </a:extLst>
          </p:cNvPr>
          <p:cNvGrpSpPr/>
          <p:nvPr/>
        </p:nvGrpSpPr>
        <p:grpSpPr>
          <a:xfrm>
            <a:off x="6654800" y="3111500"/>
            <a:ext cx="2921000" cy="2921000"/>
            <a:chOff x="6654800" y="3111500"/>
            <a:chExt cx="2921000" cy="2921000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AF9A8CC6-4BAD-63A3-0E2E-710F597B295D}"/>
                </a:ext>
              </a:extLst>
            </p:cNvPr>
            <p:cNvSpPr/>
            <p:nvPr/>
          </p:nvSpPr>
          <p:spPr>
            <a:xfrm>
              <a:off x="6654800" y="3111500"/>
              <a:ext cx="2921000" cy="2921000"/>
            </a:xfrm>
            <a:prstGeom prst="ellipse">
              <a:avLst/>
            </a:prstGeom>
            <a:solidFill>
              <a:srgbClr val="9B75FF">
                <a:alpha val="12000"/>
              </a:srgbClr>
            </a:solidFill>
            <a:ln w="19050" cap="flat" cmpd="sng" algn="ctr">
              <a:solidFill>
                <a:srgbClr val="9B75FF">
                  <a:alpha val="8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A49C2967-57C7-6560-4290-41CE2E94A9AF}"/>
                </a:ext>
              </a:extLst>
            </p:cNvPr>
            <p:cNvSpPr txBox="1"/>
            <p:nvPr/>
          </p:nvSpPr>
          <p:spPr>
            <a:xfrm>
              <a:off x="6934200" y="3924300"/>
              <a:ext cx="2362200" cy="110799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pPr algn="ctr"/>
              <a:r>
                <a:rPr lang="zh-CN" altLang="en-US" sz="2400" b="1">
                  <a:solidFill>
                    <a:srgbClr val="9B75FF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概率性硅基
理解 </a:t>
              </a:r>
              <a:r>
                <a:rPr lang="en-US" altLang="zh-CN" sz="2400" b="1">
                  <a:solidFill>
                    <a:srgbClr val="9B75FF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/ </a:t>
              </a:r>
              <a:r>
                <a:rPr lang="zh-CN" altLang="en-US" sz="2400" b="1">
                  <a:solidFill>
                    <a:srgbClr val="9B75FF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追问 </a:t>
              </a:r>
              <a:r>
                <a:rPr lang="en-US" altLang="zh-CN" sz="2400" b="1">
                  <a:solidFill>
                    <a:srgbClr val="9B75FF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/ </a:t>
              </a:r>
              <a:r>
                <a:rPr lang="zh-CN" altLang="en-US" sz="2400" b="1">
                  <a:solidFill>
                    <a:srgbClr val="9B75FF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生成</a:t>
              </a:r>
            </a:p>
          </p:txBody>
        </p:sp>
      </p:grpSp>
      <p:grpSp>
        <p:nvGrpSpPr>
          <p:cNvPr id="52" name="map_3">
            <a:extLst>
              <a:ext uri="{FF2B5EF4-FFF2-40B4-BE49-F238E27FC236}">
                <a16:creationId xmlns:a16="http://schemas.microsoft.com/office/drawing/2014/main" id="{B478996C-0230-8833-682D-4316C18A30C0}"/>
              </a:ext>
            </a:extLst>
          </p:cNvPr>
          <p:cNvGrpSpPr/>
          <p:nvPr/>
        </p:nvGrpSpPr>
        <p:grpSpPr>
          <a:xfrm>
            <a:off x="11557000" y="3429000"/>
            <a:ext cx="2921000" cy="2921000"/>
            <a:chOff x="11557000" y="3429000"/>
            <a:chExt cx="2921000" cy="2921000"/>
          </a:xfrm>
        </p:grpSpPr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880CAC10-29C3-F3F4-A751-3A4E4E9EB9E1}"/>
                </a:ext>
              </a:extLst>
            </p:cNvPr>
            <p:cNvSpPr/>
            <p:nvPr/>
          </p:nvSpPr>
          <p:spPr>
            <a:xfrm>
              <a:off x="11557000" y="3429000"/>
              <a:ext cx="2921000" cy="2921000"/>
            </a:xfrm>
            <a:prstGeom prst="ellipse">
              <a:avLst/>
            </a:prstGeom>
            <a:solidFill>
              <a:srgbClr val="20C7AE">
                <a:alpha val="12000"/>
              </a:srgbClr>
            </a:solidFill>
            <a:ln w="19050" cap="flat" cmpd="sng" algn="ctr">
              <a:solidFill>
                <a:srgbClr val="20C7AE">
                  <a:alpha val="8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C748A292-2164-C952-DEF0-F5E00E931DC5}"/>
                </a:ext>
              </a:extLst>
            </p:cNvPr>
            <p:cNvSpPr txBox="1"/>
            <p:nvPr/>
          </p:nvSpPr>
          <p:spPr>
            <a:xfrm>
              <a:off x="11836400" y="4241800"/>
              <a:ext cx="2362200" cy="110799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pPr algn="ctr"/>
              <a:r>
                <a:rPr lang="zh-CN" altLang="en-US" sz="2400" b="1">
                  <a:solidFill>
                    <a:srgbClr val="20C7AE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确定性硅基
稳定 </a:t>
              </a:r>
              <a:r>
                <a:rPr lang="en-US" altLang="zh-CN" sz="2400" b="1">
                  <a:solidFill>
                    <a:srgbClr val="20C7AE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/ </a:t>
              </a:r>
              <a:r>
                <a:rPr lang="zh-CN" altLang="en-US" sz="2400" b="1">
                  <a:solidFill>
                    <a:srgbClr val="20C7AE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流转 </a:t>
              </a:r>
              <a:r>
                <a:rPr lang="en-US" altLang="zh-CN" sz="2400" b="1">
                  <a:solidFill>
                    <a:srgbClr val="20C7AE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/ </a:t>
              </a:r>
              <a:r>
                <a:rPr lang="zh-CN" altLang="en-US" sz="2400" b="1">
                  <a:solidFill>
                    <a:srgbClr val="20C7AE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校验</a:t>
              </a:r>
            </a:p>
          </p:txBody>
        </p:sp>
      </p:grp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98FC630E-2588-E2CB-B0C5-A9ADC9ED3263}"/>
              </a:ext>
            </a:extLst>
          </p:cNvPr>
          <p:cNvCxnSpPr/>
          <p:nvPr/>
        </p:nvCxnSpPr>
        <p:spPr>
          <a:xfrm>
            <a:off x="4318000" y="4762500"/>
            <a:ext cx="7239000" cy="0"/>
          </a:xfrm>
          <a:prstGeom prst="line">
            <a:avLst/>
          </a:prstGeom>
          <a:ln w="38100" cap="flat" cmpd="sng" algn="ctr">
            <a:solidFill>
              <a:srgbClr val="D6AD61">
                <a:alpha val="8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quote_25">
            <a:extLst>
              <a:ext uri="{FF2B5EF4-FFF2-40B4-BE49-F238E27FC236}">
                <a16:creationId xmlns:a16="http://schemas.microsoft.com/office/drawing/2014/main" id="{C59563E8-9378-A9A0-6963-998287DA4480}"/>
              </a:ext>
            </a:extLst>
          </p:cNvPr>
          <p:cNvGrpSpPr/>
          <p:nvPr/>
        </p:nvGrpSpPr>
        <p:grpSpPr>
          <a:xfrm>
            <a:off x="2032000" y="7048500"/>
            <a:ext cx="12192000" cy="889000"/>
            <a:chOff x="2032000" y="7048500"/>
            <a:chExt cx="12192000" cy="889000"/>
          </a:xfrm>
        </p:grpSpPr>
        <p:sp>
          <p:nvSpPr>
            <p:cNvPr id="54" name="矩形: 圆角 53">
              <a:extLst>
                <a:ext uri="{FF2B5EF4-FFF2-40B4-BE49-F238E27FC236}">
                  <a16:creationId xmlns:a16="http://schemas.microsoft.com/office/drawing/2014/main" id="{236C4091-3767-3813-2EEE-3A85B68BCC6D}"/>
                </a:ext>
              </a:extLst>
            </p:cNvPr>
            <p:cNvSpPr/>
            <p:nvPr/>
          </p:nvSpPr>
          <p:spPr>
            <a:xfrm>
              <a:off x="2032000" y="7048500"/>
              <a:ext cx="12192000" cy="889000"/>
            </a:xfrm>
            <a:prstGeom prst="roundRect">
              <a:avLst/>
            </a:prstGeom>
            <a:solidFill>
              <a:srgbClr val="D6AD61">
                <a:alpha val="12000"/>
              </a:srgbClr>
            </a:solidFill>
            <a:ln w="12700" cap="flat" cmpd="sng" algn="ctr">
              <a:solidFill>
                <a:srgbClr val="D6AD61">
                  <a:alpha val="5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67BDFD87-2957-15A8-BFA1-78BCA4CE6C33}"/>
                </a:ext>
              </a:extLst>
            </p:cNvPr>
            <p:cNvSpPr/>
            <p:nvPr/>
          </p:nvSpPr>
          <p:spPr>
            <a:xfrm>
              <a:off x="2032000" y="7048500"/>
              <a:ext cx="76200" cy="889000"/>
            </a:xfrm>
            <a:prstGeom prst="rect">
              <a:avLst/>
            </a:prstGeom>
            <a:solidFill>
              <a:srgbClr val="D6AD6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AB4EABD9-46D5-301E-7A4B-6C1D905C5835}"/>
                </a:ext>
              </a:extLst>
            </p:cNvPr>
            <p:cNvSpPr txBox="1"/>
            <p:nvPr/>
          </p:nvSpPr>
          <p:spPr>
            <a:xfrm>
              <a:off x="2387600" y="7251700"/>
              <a:ext cx="11531600" cy="338554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en-US" altLang="zh-CN" sz="2200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AI </a:t>
              </a:r>
              <a:r>
                <a:rPr lang="zh-CN" altLang="en-US" sz="2200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不一定直接解决组织损耗，但 </a:t>
              </a:r>
              <a:r>
                <a:rPr lang="en-US" altLang="zh-CN" sz="2200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AI </a:t>
              </a:r>
              <a:r>
                <a:rPr lang="zh-CN" altLang="en-US" sz="2200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可以帮你制造解决损耗的工具。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2505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5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10">
            <a:extLst>
              <a:ext uri="{FF2B5EF4-FFF2-40B4-BE49-F238E27FC236}">
                <a16:creationId xmlns:a16="http://schemas.microsoft.com/office/drawing/2014/main" id="{51D12B93-A8A2-219B-2DF5-31972E5CD37F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70B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1295B8-B98A-3EC3-AFE2-6B2EC8D9582F}"/>
              </a:ext>
            </a:extLst>
          </p:cNvPr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D6AD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3C31888-B388-3628-EF34-14F796CEBB0B}"/>
              </a:ext>
            </a:extLst>
          </p:cNvPr>
          <p:cNvSpPr/>
          <p:nvPr/>
        </p:nvSpPr>
        <p:spPr>
          <a:xfrm>
            <a:off x="762000" y="571500"/>
            <a:ext cx="3937000" cy="3937000"/>
          </a:xfrm>
          <a:prstGeom prst="ellipse">
            <a:avLst/>
          </a:prstGeom>
          <a:solidFill>
            <a:srgbClr val="D6AD61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41903F4D-96A7-1CA2-3385-C8D2D7FD477F}"/>
              </a:ext>
            </a:extLst>
          </p:cNvPr>
          <p:cNvSpPr/>
          <p:nvPr/>
        </p:nvSpPr>
        <p:spPr>
          <a:xfrm>
            <a:off x="11430000" y="889000"/>
            <a:ext cx="3556000" cy="3556000"/>
          </a:xfrm>
          <a:prstGeom prst="ellipse">
            <a:avLst/>
          </a:prstGeom>
          <a:solidFill>
            <a:srgbClr val="20C7AE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8E319AA-1E7A-A404-F721-88BA64EA616A}"/>
              </a:ext>
            </a:extLst>
          </p:cNvPr>
          <p:cNvSpPr/>
          <p:nvPr/>
        </p:nvSpPr>
        <p:spPr>
          <a:xfrm>
            <a:off x="10414000" y="5969000"/>
            <a:ext cx="3302000" cy="3302000"/>
          </a:xfrm>
          <a:prstGeom prst="ellipse">
            <a:avLst/>
          </a:prstGeom>
          <a:solidFill>
            <a:srgbClr val="9B75F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178F3950-65AF-4EE8-D876-60A83E919C04}"/>
              </a:ext>
            </a:extLst>
          </p:cNvPr>
          <p:cNvCxnSpPr/>
          <p:nvPr/>
        </p:nvCxnSpPr>
        <p:spPr>
          <a:xfrm>
            <a:off x="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AC7357A-5C8E-87EC-6053-28AAC0B5EB7D}"/>
              </a:ext>
            </a:extLst>
          </p:cNvPr>
          <p:cNvCxnSpPr/>
          <p:nvPr/>
        </p:nvCxnSpPr>
        <p:spPr>
          <a:xfrm>
            <a:off x="812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4805D0F-B6B5-BF2B-FA9E-E01A2875F06C}"/>
              </a:ext>
            </a:extLst>
          </p:cNvPr>
          <p:cNvCxnSpPr/>
          <p:nvPr/>
        </p:nvCxnSpPr>
        <p:spPr>
          <a:xfrm>
            <a:off x="1625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907F18A-A4CE-F172-CCBF-7DBDF7D933BB}"/>
              </a:ext>
            </a:extLst>
          </p:cNvPr>
          <p:cNvCxnSpPr/>
          <p:nvPr/>
        </p:nvCxnSpPr>
        <p:spPr>
          <a:xfrm>
            <a:off x="2438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4B0C67F-51BC-D444-2A86-EEDA21942F1C}"/>
              </a:ext>
            </a:extLst>
          </p:cNvPr>
          <p:cNvCxnSpPr/>
          <p:nvPr/>
        </p:nvCxnSpPr>
        <p:spPr>
          <a:xfrm>
            <a:off x="3251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1280FFF7-91C7-8DDF-BC9B-8E0E4F484CE3}"/>
              </a:ext>
            </a:extLst>
          </p:cNvPr>
          <p:cNvCxnSpPr/>
          <p:nvPr/>
        </p:nvCxnSpPr>
        <p:spPr>
          <a:xfrm>
            <a:off x="4064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EA96C97C-FBA9-FF39-D92A-4146FE701DA6}"/>
              </a:ext>
            </a:extLst>
          </p:cNvPr>
          <p:cNvCxnSpPr/>
          <p:nvPr/>
        </p:nvCxnSpPr>
        <p:spPr>
          <a:xfrm>
            <a:off x="4876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6C463D9-66ED-E3B1-2E4A-ED6D5F48D0C5}"/>
              </a:ext>
            </a:extLst>
          </p:cNvPr>
          <p:cNvCxnSpPr/>
          <p:nvPr/>
        </p:nvCxnSpPr>
        <p:spPr>
          <a:xfrm>
            <a:off x="5689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ABD83B6-9A7E-7DFA-01FF-6C5739030D9F}"/>
              </a:ext>
            </a:extLst>
          </p:cNvPr>
          <p:cNvCxnSpPr/>
          <p:nvPr/>
        </p:nvCxnSpPr>
        <p:spPr>
          <a:xfrm>
            <a:off x="6502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C198917B-5573-6AF4-8573-1DEFD133EA62}"/>
              </a:ext>
            </a:extLst>
          </p:cNvPr>
          <p:cNvCxnSpPr/>
          <p:nvPr/>
        </p:nvCxnSpPr>
        <p:spPr>
          <a:xfrm>
            <a:off x="7315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B174A39-0EFE-88B9-C750-4A6A32DC2858}"/>
              </a:ext>
            </a:extLst>
          </p:cNvPr>
          <p:cNvCxnSpPr/>
          <p:nvPr/>
        </p:nvCxnSpPr>
        <p:spPr>
          <a:xfrm>
            <a:off x="8128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D77ED57C-89EA-ADA5-374F-18FB7920DFC2}"/>
              </a:ext>
            </a:extLst>
          </p:cNvPr>
          <p:cNvCxnSpPr/>
          <p:nvPr/>
        </p:nvCxnSpPr>
        <p:spPr>
          <a:xfrm>
            <a:off x="8940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745542B5-81D1-399A-37AE-EB8A6811CBE9}"/>
              </a:ext>
            </a:extLst>
          </p:cNvPr>
          <p:cNvCxnSpPr/>
          <p:nvPr/>
        </p:nvCxnSpPr>
        <p:spPr>
          <a:xfrm>
            <a:off x="9753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954110CC-57C0-F5C1-C4B4-FE35C5680BE5}"/>
              </a:ext>
            </a:extLst>
          </p:cNvPr>
          <p:cNvCxnSpPr/>
          <p:nvPr/>
        </p:nvCxnSpPr>
        <p:spPr>
          <a:xfrm>
            <a:off x="10566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5D1C45BE-E74C-46E1-00B4-DD66F71D3CBE}"/>
              </a:ext>
            </a:extLst>
          </p:cNvPr>
          <p:cNvCxnSpPr/>
          <p:nvPr/>
        </p:nvCxnSpPr>
        <p:spPr>
          <a:xfrm>
            <a:off x="11379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400A14A1-9C6C-30DB-4F7C-422DAB185E6F}"/>
              </a:ext>
            </a:extLst>
          </p:cNvPr>
          <p:cNvCxnSpPr/>
          <p:nvPr/>
        </p:nvCxnSpPr>
        <p:spPr>
          <a:xfrm>
            <a:off x="12192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54BC1F95-A323-21C8-EB26-534A25443A49}"/>
              </a:ext>
            </a:extLst>
          </p:cNvPr>
          <p:cNvCxnSpPr/>
          <p:nvPr/>
        </p:nvCxnSpPr>
        <p:spPr>
          <a:xfrm>
            <a:off x="13004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79FF2AFE-AC68-0E6E-F65C-A59BADC878DC}"/>
              </a:ext>
            </a:extLst>
          </p:cNvPr>
          <p:cNvCxnSpPr/>
          <p:nvPr/>
        </p:nvCxnSpPr>
        <p:spPr>
          <a:xfrm>
            <a:off x="13817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052DF5EB-8164-4287-B3BB-27D96FC5AA5E}"/>
              </a:ext>
            </a:extLst>
          </p:cNvPr>
          <p:cNvCxnSpPr/>
          <p:nvPr/>
        </p:nvCxnSpPr>
        <p:spPr>
          <a:xfrm>
            <a:off x="14630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0DDDCB7D-1FE3-AEA3-7BC2-3D7FB53C6C6D}"/>
              </a:ext>
            </a:extLst>
          </p:cNvPr>
          <p:cNvCxnSpPr/>
          <p:nvPr/>
        </p:nvCxnSpPr>
        <p:spPr>
          <a:xfrm>
            <a:off x="15443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D477FAC8-9232-943F-6F9B-7D900FBC8897}"/>
              </a:ext>
            </a:extLst>
          </p:cNvPr>
          <p:cNvCxnSpPr/>
          <p:nvPr/>
        </p:nvCxnSpPr>
        <p:spPr>
          <a:xfrm>
            <a:off x="0" y="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86947F36-0DEA-8A3E-7013-3815FA5510C4}"/>
              </a:ext>
            </a:extLst>
          </p:cNvPr>
          <p:cNvCxnSpPr/>
          <p:nvPr/>
        </p:nvCxnSpPr>
        <p:spPr>
          <a:xfrm>
            <a:off x="0" y="812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A25C7B6A-07F5-F322-4018-EF2A03E4A98F}"/>
              </a:ext>
            </a:extLst>
          </p:cNvPr>
          <p:cNvCxnSpPr/>
          <p:nvPr/>
        </p:nvCxnSpPr>
        <p:spPr>
          <a:xfrm>
            <a:off x="0" y="1625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5279F8A3-3F17-4DB5-6E56-5436D43FE2BD}"/>
              </a:ext>
            </a:extLst>
          </p:cNvPr>
          <p:cNvCxnSpPr/>
          <p:nvPr/>
        </p:nvCxnSpPr>
        <p:spPr>
          <a:xfrm>
            <a:off x="0" y="2438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4AA93CA3-D7E0-2764-C19D-8A2D5C210553}"/>
              </a:ext>
            </a:extLst>
          </p:cNvPr>
          <p:cNvCxnSpPr/>
          <p:nvPr/>
        </p:nvCxnSpPr>
        <p:spPr>
          <a:xfrm>
            <a:off x="0" y="3251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097B951A-C7C9-5E99-4625-B63646009304}"/>
              </a:ext>
            </a:extLst>
          </p:cNvPr>
          <p:cNvCxnSpPr/>
          <p:nvPr/>
        </p:nvCxnSpPr>
        <p:spPr>
          <a:xfrm>
            <a:off x="0" y="4064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744B8BA8-6135-7550-E8D1-BCE9513E423D}"/>
              </a:ext>
            </a:extLst>
          </p:cNvPr>
          <p:cNvCxnSpPr/>
          <p:nvPr/>
        </p:nvCxnSpPr>
        <p:spPr>
          <a:xfrm>
            <a:off x="0" y="4876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27B91D8F-CC7B-FEFD-28BE-A30062C27D64}"/>
              </a:ext>
            </a:extLst>
          </p:cNvPr>
          <p:cNvCxnSpPr/>
          <p:nvPr/>
        </p:nvCxnSpPr>
        <p:spPr>
          <a:xfrm>
            <a:off x="0" y="5689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17BCEC39-FE5D-D094-7960-7C27989F32BD}"/>
              </a:ext>
            </a:extLst>
          </p:cNvPr>
          <p:cNvCxnSpPr/>
          <p:nvPr/>
        </p:nvCxnSpPr>
        <p:spPr>
          <a:xfrm>
            <a:off x="0" y="6502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C2139743-4CAC-9B43-2800-24E93A837EBD}"/>
              </a:ext>
            </a:extLst>
          </p:cNvPr>
          <p:cNvCxnSpPr/>
          <p:nvPr/>
        </p:nvCxnSpPr>
        <p:spPr>
          <a:xfrm>
            <a:off x="0" y="7315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D7D85E34-FC6F-5E8E-D5BE-78DFBE9320FB}"/>
              </a:ext>
            </a:extLst>
          </p:cNvPr>
          <p:cNvCxnSpPr/>
          <p:nvPr/>
        </p:nvCxnSpPr>
        <p:spPr>
          <a:xfrm>
            <a:off x="0" y="8128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1CE008F1-BB86-100E-D776-F98763887A60}"/>
              </a:ext>
            </a:extLst>
          </p:cNvPr>
          <p:cNvCxnSpPr/>
          <p:nvPr/>
        </p:nvCxnSpPr>
        <p:spPr>
          <a:xfrm>
            <a:off x="0" y="8940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63DF4E3C-D157-1C00-767C-1EDCD09FCD87}"/>
              </a:ext>
            </a:extLst>
          </p:cNvPr>
          <p:cNvSpPr txBox="1"/>
          <p:nvPr/>
        </p:nvSpPr>
        <p:spPr>
          <a:xfrm>
            <a:off x="914400" y="609600"/>
            <a:ext cx="11430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400">
                <a:solidFill>
                  <a:srgbClr val="D6AD61"/>
                </a:solidFill>
                <a:latin typeface="Consolas" panose="020B0609020204030204" pitchFamily="49" charset="0"/>
              </a:rPr>
              <a:t>Division</a:t>
            </a:r>
            <a:endParaRPr lang="zh-CN" altLang="en-US" sz="1400">
              <a:solidFill>
                <a:srgbClr val="D6AD6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94FF4E8-9215-2964-B252-A2687223F05E}"/>
              </a:ext>
            </a:extLst>
          </p:cNvPr>
          <p:cNvSpPr txBox="1"/>
          <p:nvPr/>
        </p:nvSpPr>
        <p:spPr>
          <a:xfrm>
            <a:off x="914400" y="990600"/>
            <a:ext cx="13208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600" b="1">
                <a:solidFill>
                  <a:srgbClr val="EFECE5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确定性硅基压低损耗，概率性硅基扩大半径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9CB745A9-0D5A-054D-12EE-5B19C5DE12F8}"/>
              </a:ext>
            </a:extLst>
          </p:cNvPr>
          <p:cNvSpPr txBox="1"/>
          <p:nvPr/>
        </p:nvSpPr>
        <p:spPr>
          <a:xfrm>
            <a:off x="914400" y="8686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1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驯化野生硅基伙伴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F0B0CC3D-FC3D-9F07-3A10-67DAE9DF8013}"/>
              </a:ext>
            </a:extLst>
          </p:cNvPr>
          <p:cNvSpPr txBox="1"/>
          <p:nvPr/>
        </p:nvSpPr>
        <p:spPr>
          <a:xfrm>
            <a:off x="14732000" y="86868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697184"/>
                </a:solidFill>
                <a:latin typeface="Consolas" panose="020B0609020204030204" pitchFamily="49" charset="0"/>
              </a:rPr>
              <a:t>10 / 18</a:t>
            </a:r>
            <a:endParaRPr lang="zh-CN" altLang="en-US" sz="1100">
              <a:solidFill>
                <a:srgbClr val="697184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5DBD83B1-5952-ABDB-AA08-5E0E948EECE7}"/>
              </a:ext>
            </a:extLst>
          </p:cNvPr>
          <p:cNvSpPr/>
          <p:nvPr/>
        </p:nvSpPr>
        <p:spPr>
          <a:xfrm>
            <a:off x="0" y="9093200"/>
            <a:ext cx="9031111" cy="50800"/>
          </a:xfrm>
          <a:prstGeom prst="rect">
            <a:avLst/>
          </a:prstGeom>
          <a:solidFill>
            <a:srgbClr val="20C7A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0" name="table_row_0">
            <a:extLst>
              <a:ext uri="{FF2B5EF4-FFF2-40B4-BE49-F238E27FC236}">
                <a16:creationId xmlns:a16="http://schemas.microsoft.com/office/drawing/2014/main" id="{144F1E51-4F04-A39E-5A94-0E7C55345943}"/>
              </a:ext>
            </a:extLst>
          </p:cNvPr>
          <p:cNvGrpSpPr/>
          <p:nvPr/>
        </p:nvGrpSpPr>
        <p:grpSpPr>
          <a:xfrm>
            <a:off x="1168400" y="2857500"/>
            <a:ext cx="13919200" cy="787400"/>
            <a:chOff x="1168400" y="2857500"/>
            <a:chExt cx="13919200" cy="787400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2A345EFA-4C76-0731-FE65-98446DBF8A40}"/>
                </a:ext>
              </a:extLst>
            </p:cNvPr>
            <p:cNvSpPr/>
            <p:nvPr/>
          </p:nvSpPr>
          <p:spPr>
            <a:xfrm>
              <a:off x="1168400" y="2857500"/>
              <a:ext cx="2286000" cy="787400"/>
            </a:xfrm>
            <a:prstGeom prst="rect">
              <a:avLst/>
            </a:prstGeom>
            <a:solidFill>
              <a:srgbClr val="151F32"/>
            </a:solidFill>
            <a:ln w="9525">
              <a:solidFill>
                <a:srgbClr val="2B34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5BBAFE0E-7368-B6C1-EBEC-D4CA88A4D56A}"/>
                </a:ext>
              </a:extLst>
            </p:cNvPr>
            <p:cNvSpPr txBox="1"/>
            <p:nvPr/>
          </p:nvSpPr>
          <p:spPr>
            <a:xfrm>
              <a:off x="1346200" y="3022600"/>
              <a:ext cx="1981200" cy="215444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400" b="1">
                  <a:solidFill>
                    <a:srgbClr val="D6AD6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角色</a:t>
              </a: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13FEB08B-8B38-D000-50D1-974B51C3B186}"/>
                </a:ext>
              </a:extLst>
            </p:cNvPr>
            <p:cNvSpPr/>
            <p:nvPr/>
          </p:nvSpPr>
          <p:spPr>
            <a:xfrm>
              <a:off x="3454400" y="2857500"/>
              <a:ext cx="5969000" cy="787400"/>
            </a:xfrm>
            <a:prstGeom prst="rect">
              <a:avLst/>
            </a:prstGeom>
            <a:solidFill>
              <a:srgbClr val="151F32"/>
            </a:solidFill>
            <a:ln w="9525">
              <a:solidFill>
                <a:srgbClr val="2B34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EB3F206F-FF56-DB70-2E35-7B699C58E5D8}"/>
                </a:ext>
              </a:extLst>
            </p:cNvPr>
            <p:cNvSpPr txBox="1"/>
            <p:nvPr/>
          </p:nvSpPr>
          <p:spPr>
            <a:xfrm>
              <a:off x="3632200" y="3022600"/>
              <a:ext cx="5664200" cy="215444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400" b="1">
                  <a:solidFill>
                    <a:srgbClr val="D6AD6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负责什么</a:t>
              </a: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5DB83640-F98F-56C8-B1CA-C23D8833667C}"/>
                </a:ext>
              </a:extLst>
            </p:cNvPr>
            <p:cNvSpPr/>
            <p:nvPr/>
          </p:nvSpPr>
          <p:spPr>
            <a:xfrm>
              <a:off x="9423400" y="2857500"/>
              <a:ext cx="5664200" cy="787400"/>
            </a:xfrm>
            <a:prstGeom prst="rect">
              <a:avLst/>
            </a:prstGeom>
            <a:solidFill>
              <a:srgbClr val="151F32"/>
            </a:solidFill>
            <a:ln w="9525">
              <a:solidFill>
                <a:srgbClr val="2B34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8A65C573-5FE1-4104-9618-B4E5A710BFEA}"/>
                </a:ext>
              </a:extLst>
            </p:cNvPr>
            <p:cNvSpPr txBox="1"/>
            <p:nvPr/>
          </p:nvSpPr>
          <p:spPr>
            <a:xfrm>
              <a:off x="9601200" y="3022600"/>
              <a:ext cx="5359400" cy="215444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400" b="1">
                  <a:solidFill>
                    <a:srgbClr val="D6AD6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不负责什么</a:t>
              </a:r>
            </a:p>
          </p:txBody>
        </p:sp>
      </p:grpSp>
      <p:grpSp>
        <p:nvGrpSpPr>
          <p:cNvPr id="57" name="table_row_1">
            <a:extLst>
              <a:ext uri="{FF2B5EF4-FFF2-40B4-BE49-F238E27FC236}">
                <a16:creationId xmlns:a16="http://schemas.microsoft.com/office/drawing/2014/main" id="{74D267A8-2432-892B-4CFD-0EE7675942CE}"/>
              </a:ext>
            </a:extLst>
          </p:cNvPr>
          <p:cNvGrpSpPr/>
          <p:nvPr/>
        </p:nvGrpSpPr>
        <p:grpSpPr>
          <a:xfrm>
            <a:off x="1168400" y="3644900"/>
            <a:ext cx="13919200" cy="787400"/>
            <a:chOff x="1168400" y="3644900"/>
            <a:chExt cx="13919200" cy="787400"/>
          </a:xfrm>
        </p:grpSpPr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9957605B-7C65-01EC-452F-5136E0FC0BC9}"/>
                </a:ext>
              </a:extLst>
            </p:cNvPr>
            <p:cNvSpPr/>
            <p:nvPr/>
          </p:nvSpPr>
          <p:spPr>
            <a:xfrm>
              <a:off x="1168400" y="3644900"/>
              <a:ext cx="2286000" cy="787400"/>
            </a:xfrm>
            <a:prstGeom prst="rect">
              <a:avLst/>
            </a:prstGeom>
            <a:solidFill>
              <a:srgbClr val="111A2B">
                <a:alpha val="90000"/>
              </a:srgbClr>
            </a:solidFill>
            <a:ln w="9525">
              <a:solidFill>
                <a:srgbClr val="2B34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36243641-AD44-CFE5-2FEC-D57AEFFDA754}"/>
                </a:ext>
              </a:extLst>
            </p:cNvPr>
            <p:cNvSpPr txBox="1"/>
            <p:nvPr/>
          </p:nvSpPr>
          <p:spPr>
            <a:xfrm>
              <a:off x="1346200" y="3810000"/>
              <a:ext cx="1981200" cy="24622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600" b="1">
                  <a:solidFill>
                    <a:srgbClr val="EFECE5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人</a:t>
              </a: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5AFAFBF2-9757-EFAB-83E4-8A09AB43F76B}"/>
                </a:ext>
              </a:extLst>
            </p:cNvPr>
            <p:cNvSpPr/>
            <p:nvPr/>
          </p:nvSpPr>
          <p:spPr>
            <a:xfrm>
              <a:off x="3454400" y="3644900"/>
              <a:ext cx="5969000" cy="787400"/>
            </a:xfrm>
            <a:prstGeom prst="rect">
              <a:avLst/>
            </a:prstGeom>
            <a:solidFill>
              <a:srgbClr val="111A2B">
                <a:alpha val="90000"/>
              </a:srgbClr>
            </a:solidFill>
            <a:ln w="9525">
              <a:solidFill>
                <a:srgbClr val="2B34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7CDF9C5C-141B-2CF8-F666-3DDCE992358A}"/>
                </a:ext>
              </a:extLst>
            </p:cNvPr>
            <p:cNvSpPr txBox="1"/>
            <p:nvPr/>
          </p:nvSpPr>
          <p:spPr>
            <a:xfrm>
              <a:off x="3632200" y="3810000"/>
              <a:ext cx="5664200" cy="24622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目标、价值、标准、取舍、验收、责任</a:t>
              </a:r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E615E671-C11E-0723-F040-1503DAE60119}"/>
                </a:ext>
              </a:extLst>
            </p:cNvPr>
            <p:cNvSpPr/>
            <p:nvPr/>
          </p:nvSpPr>
          <p:spPr>
            <a:xfrm>
              <a:off x="9423400" y="3644900"/>
              <a:ext cx="5664200" cy="787400"/>
            </a:xfrm>
            <a:prstGeom prst="rect">
              <a:avLst/>
            </a:prstGeom>
            <a:solidFill>
              <a:srgbClr val="111A2B">
                <a:alpha val="90000"/>
              </a:srgbClr>
            </a:solidFill>
            <a:ln w="9525">
              <a:solidFill>
                <a:srgbClr val="2B34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05C1993C-D510-E4D9-2BBF-7E91269C3EA6}"/>
                </a:ext>
              </a:extLst>
            </p:cNvPr>
            <p:cNvSpPr txBox="1"/>
            <p:nvPr/>
          </p:nvSpPr>
          <p:spPr>
            <a:xfrm>
              <a:off x="9601200" y="3810000"/>
              <a:ext cx="5359400" cy="24622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不该长期做人肉中继和重复搬运</a:t>
              </a:r>
            </a:p>
          </p:txBody>
        </p:sp>
      </p:grpSp>
      <p:grpSp>
        <p:nvGrpSpPr>
          <p:cNvPr id="64" name="table_row_2">
            <a:extLst>
              <a:ext uri="{FF2B5EF4-FFF2-40B4-BE49-F238E27FC236}">
                <a16:creationId xmlns:a16="http://schemas.microsoft.com/office/drawing/2014/main" id="{909EF01F-A384-CFD3-C3BC-2179AF209484}"/>
              </a:ext>
            </a:extLst>
          </p:cNvPr>
          <p:cNvGrpSpPr/>
          <p:nvPr/>
        </p:nvGrpSpPr>
        <p:grpSpPr>
          <a:xfrm>
            <a:off x="1168400" y="4432300"/>
            <a:ext cx="13919200" cy="787400"/>
            <a:chOff x="1168400" y="4432300"/>
            <a:chExt cx="13919200" cy="787400"/>
          </a:xfrm>
        </p:grpSpPr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52A4CF7A-6C69-A4D0-3930-119EAD9B0F46}"/>
                </a:ext>
              </a:extLst>
            </p:cNvPr>
            <p:cNvSpPr/>
            <p:nvPr/>
          </p:nvSpPr>
          <p:spPr>
            <a:xfrm>
              <a:off x="1168400" y="4432300"/>
              <a:ext cx="2286000" cy="787400"/>
            </a:xfrm>
            <a:prstGeom prst="rect">
              <a:avLst/>
            </a:prstGeom>
            <a:solidFill>
              <a:srgbClr val="111A2B">
                <a:alpha val="90000"/>
              </a:srgbClr>
            </a:solidFill>
            <a:ln w="9525">
              <a:solidFill>
                <a:srgbClr val="2B34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08DC872C-3ED2-084C-C09F-D44223F4A0DE}"/>
                </a:ext>
              </a:extLst>
            </p:cNvPr>
            <p:cNvSpPr txBox="1"/>
            <p:nvPr/>
          </p:nvSpPr>
          <p:spPr>
            <a:xfrm>
              <a:off x="1346200" y="4597400"/>
              <a:ext cx="1981200" cy="24622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600" b="1">
                  <a:solidFill>
                    <a:srgbClr val="EFECE5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概率性硅基</a:t>
              </a:r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08A080A1-DBA3-FEE4-2785-6F24DC59852D}"/>
                </a:ext>
              </a:extLst>
            </p:cNvPr>
            <p:cNvSpPr/>
            <p:nvPr/>
          </p:nvSpPr>
          <p:spPr>
            <a:xfrm>
              <a:off x="3454400" y="4432300"/>
              <a:ext cx="5969000" cy="787400"/>
            </a:xfrm>
            <a:prstGeom prst="rect">
              <a:avLst/>
            </a:prstGeom>
            <a:solidFill>
              <a:srgbClr val="111A2B">
                <a:alpha val="90000"/>
              </a:srgbClr>
            </a:solidFill>
            <a:ln w="9525">
              <a:solidFill>
                <a:srgbClr val="2B34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3585F2D7-3709-0986-DBB2-14DFE3899AF1}"/>
                </a:ext>
              </a:extLst>
            </p:cNvPr>
            <p:cNvSpPr txBox="1"/>
            <p:nvPr/>
          </p:nvSpPr>
          <p:spPr>
            <a:xfrm>
              <a:off x="3632200" y="4597400"/>
              <a:ext cx="5664200" cy="24622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理解、追问、生成、整理、挑战、扩展视角</a:t>
              </a:r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5B5A478B-7A4F-FF2D-AD87-F349100B8E55}"/>
                </a:ext>
              </a:extLst>
            </p:cNvPr>
            <p:cNvSpPr/>
            <p:nvPr/>
          </p:nvSpPr>
          <p:spPr>
            <a:xfrm>
              <a:off x="9423400" y="4432300"/>
              <a:ext cx="5664200" cy="787400"/>
            </a:xfrm>
            <a:prstGeom prst="rect">
              <a:avLst/>
            </a:prstGeom>
            <a:solidFill>
              <a:srgbClr val="111A2B">
                <a:alpha val="90000"/>
              </a:srgbClr>
            </a:solidFill>
            <a:ln w="9525">
              <a:solidFill>
                <a:srgbClr val="2B34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B55A9C23-72D3-3FE9-CDEE-2D5B2343C201}"/>
                </a:ext>
              </a:extLst>
            </p:cNvPr>
            <p:cNvSpPr txBox="1"/>
            <p:nvPr/>
          </p:nvSpPr>
          <p:spPr>
            <a:xfrm>
              <a:off x="9601200" y="4597400"/>
              <a:ext cx="5359400" cy="24622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不替人做最终判断</a:t>
              </a:r>
            </a:p>
          </p:txBody>
        </p:sp>
      </p:grpSp>
      <p:grpSp>
        <p:nvGrpSpPr>
          <p:cNvPr id="71" name="table_row_3">
            <a:extLst>
              <a:ext uri="{FF2B5EF4-FFF2-40B4-BE49-F238E27FC236}">
                <a16:creationId xmlns:a16="http://schemas.microsoft.com/office/drawing/2014/main" id="{B0214D62-E39E-B097-59DD-8AC90228C712}"/>
              </a:ext>
            </a:extLst>
          </p:cNvPr>
          <p:cNvGrpSpPr/>
          <p:nvPr/>
        </p:nvGrpSpPr>
        <p:grpSpPr>
          <a:xfrm>
            <a:off x="1168400" y="5219700"/>
            <a:ext cx="13919200" cy="787400"/>
            <a:chOff x="1168400" y="5219700"/>
            <a:chExt cx="13919200" cy="787400"/>
          </a:xfrm>
        </p:grpSpPr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0240F99A-C03E-B760-8563-C13E1DD711ED}"/>
                </a:ext>
              </a:extLst>
            </p:cNvPr>
            <p:cNvSpPr/>
            <p:nvPr/>
          </p:nvSpPr>
          <p:spPr>
            <a:xfrm>
              <a:off x="1168400" y="5219700"/>
              <a:ext cx="2286000" cy="787400"/>
            </a:xfrm>
            <a:prstGeom prst="rect">
              <a:avLst/>
            </a:prstGeom>
            <a:solidFill>
              <a:srgbClr val="111A2B">
                <a:alpha val="90000"/>
              </a:srgbClr>
            </a:solidFill>
            <a:ln w="9525">
              <a:solidFill>
                <a:srgbClr val="2B34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6618CCB8-77BF-191F-8A12-A3AF7F42FD34}"/>
                </a:ext>
              </a:extLst>
            </p:cNvPr>
            <p:cNvSpPr txBox="1"/>
            <p:nvPr/>
          </p:nvSpPr>
          <p:spPr>
            <a:xfrm>
              <a:off x="1346200" y="5384800"/>
              <a:ext cx="1981200" cy="24622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600" b="1">
                  <a:solidFill>
                    <a:srgbClr val="EFECE5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确定性硅基</a:t>
              </a:r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FABE121F-D0DB-F871-0292-A5EFFB6B0B95}"/>
                </a:ext>
              </a:extLst>
            </p:cNvPr>
            <p:cNvSpPr/>
            <p:nvPr/>
          </p:nvSpPr>
          <p:spPr>
            <a:xfrm>
              <a:off x="3454400" y="5219700"/>
              <a:ext cx="5969000" cy="787400"/>
            </a:xfrm>
            <a:prstGeom prst="rect">
              <a:avLst/>
            </a:prstGeom>
            <a:solidFill>
              <a:srgbClr val="111A2B">
                <a:alpha val="90000"/>
              </a:srgbClr>
            </a:solidFill>
            <a:ln w="9525">
              <a:solidFill>
                <a:srgbClr val="2B34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25D257F5-D03A-D845-1F7B-411867E2546C}"/>
                </a:ext>
              </a:extLst>
            </p:cNvPr>
            <p:cNvSpPr txBox="1"/>
            <p:nvPr/>
          </p:nvSpPr>
          <p:spPr>
            <a:xfrm>
              <a:off x="3632200" y="5384800"/>
              <a:ext cx="5664200" cy="24622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稳定执行、自动流转、提醒、校验、沉淀</a:t>
              </a:r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600BBCA5-5794-EDC8-703C-B06503D6E43D}"/>
                </a:ext>
              </a:extLst>
            </p:cNvPr>
            <p:cNvSpPr/>
            <p:nvPr/>
          </p:nvSpPr>
          <p:spPr>
            <a:xfrm>
              <a:off x="9423400" y="5219700"/>
              <a:ext cx="5664200" cy="787400"/>
            </a:xfrm>
            <a:prstGeom prst="rect">
              <a:avLst/>
            </a:prstGeom>
            <a:solidFill>
              <a:srgbClr val="111A2B">
                <a:alpha val="90000"/>
              </a:srgbClr>
            </a:solidFill>
            <a:ln w="9525">
              <a:solidFill>
                <a:srgbClr val="2B34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6DD49C72-8CEC-E1B1-B04A-B7DC7C8568E9}"/>
                </a:ext>
              </a:extLst>
            </p:cNvPr>
            <p:cNvSpPr txBox="1"/>
            <p:nvPr/>
          </p:nvSpPr>
          <p:spPr>
            <a:xfrm>
              <a:off x="9601200" y="5384800"/>
              <a:ext cx="5359400" cy="24622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不处理模糊取舍和价值判断</a:t>
              </a:r>
            </a:p>
          </p:txBody>
        </p:sp>
      </p:grpSp>
      <p:grpSp>
        <p:nvGrpSpPr>
          <p:cNvPr id="75" name="quote_29">
            <a:extLst>
              <a:ext uri="{FF2B5EF4-FFF2-40B4-BE49-F238E27FC236}">
                <a16:creationId xmlns:a16="http://schemas.microsoft.com/office/drawing/2014/main" id="{8C5C22FF-5EE4-AE60-2F86-3A2581E87047}"/>
              </a:ext>
            </a:extLst>
          </p:cNvPr>
          <p:cNvGrpSpPr/>
          <p:nvPr/>
        </p:nvGrpSpPr>
        <p:grpSpPr>
          <a:xfrm>
            <a:off x="914400" y="6959600"/>
            <a:ext cx="14427200" cy="889000"/>
            <a:chOff x="914400" y="6959600"/>
            <a:chExt cx="14427200" cy="889000"/>
          </a:xfrm>
        </p:grpSpPr>
        <p:sp>
          <p:nvSpPr>
            <p:cNvPr id="72" name="矩形: 圆角 71">
              <a:extLst>
                <a:ext uri="{FF2B5EF4-FFF2-40B4-BE49-F238E27FC236}">
                  <a16:creationId xmlns:a16="http://schemas.microsoft.com/office/drawing/2014/main" id="{2AAF1414-0834-9D36-1681-40511C216C13}"/>
                </a:ext>
              </a:extLst>
            </p:cNvPr>
            <p:cNvSpPr/>
            <p:nvPr/>
          </p:nvSpPr>
          <p:spPr>
            <a:xfrm>
              <a:off x="914400" y="6959600"/>
              <a:ext cx="14427200" cy="889000"/>
            </a:xfrm>
            <a:prstGeom prst="roundRect">
              <a:avLst/>
            </a:prstGeom>
            <a:solidFill>
              <a:srgbClr val="20C7AE">
                <a:alpha val="12000"/>
              </a:srgbClr>
            </a:solidFill>
            <a:ln w="12700" cap="flat" cmpd="sng" algn="ctr">
              <a:solidFill>
                <a:srgbClr val="20C7AE">
                  <a:alpha val="5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6419851D-ED5F-92A3-A15F-E9A8474BC46A}"/>
                </a:ext>
              </a:extLst>
            </p:cNvPr>
            <p:cNvSpPr/>
            <p:nvPr/>
          </p:nvSpPr>
          <p:spPr>
            <a:xfrm>
              <a:off x="914400" y="6959600"/>
              <a:ext cx="76200" cy="889000"/>
            </a:xfrm>
            <a:prstGeom prst="rect">
              <a:avLst/>
            </a:prstGeom>
            <a:solidFill>
              <a:srgbClr val="20C7A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26611E4C-D1C6-5708-91B9-9C714861F2D7}"/>
                </a:ext>
              </a:extLst>
            </p:cNvPr>
            <p:cNvSpPr txBox="1"/>
            <p:nvPr/>
          </p:nvSpPr>
          <p:spPr>
            <a:xfrm>
              <a:off x="1270000" y="7162800"/>
              <a:ext cx="137668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一句话：模糊探索交给概率性硅基，稳定事实和执行交给确定性工具，人守住目标、标准和责任。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86807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11">
            <a:extLst>
              <a:ext uri="{FF2B5EF4-FFF2-40B4-BE49-F238E27FC236}">
                <a16:creationId xmlns:a16="http://schemas.microsoft.com/office/drawing/2014/main" id="{34AA4D8C-045A-C33A-4CD2-B3041129B612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70B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8A66B9-36AD-C95C-CEDF-BC762B9A373A}"/>
              </a:ext>
            </a:extLst>
          </p:cNvPr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D6AD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F26D699D-929F-13AA-1A85-AB0EB8A3D5B5}"/>
              </a:ext>
            </a:extLst>
          </p:cNvPr>
          <p:cNvSpPr/>
          <p:nvPr/>
        </p:nvSpPr>
        <p:spPr>
          <a:xfrm>
            <a:off x="762000" y="571500"/>
            <a:ext cx="3937000" cy="3937000"/>
          </a:xfrm>
          <a:prstGeom prst="ellipse">
            <a:avLst/>
          </a:prstGeom>
          <a:solidFill>
            <a:srgbClr val="D6AD61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B20DC264-83E3-3988-B2E1-DE33B201497D}"/>
              </a:ext>
            </a:extLst>
          </p:cNvPr>
          <p:cNvSpPr/>
          <p:nvPr/>
        </p:nvSpPr>
        <p:spPr>
          <a:xfrm>
            <a:off x="11430000" y="889000"/>
            <a:ext cx="3556000" cy="3556000"/>
          </a:xfrm>
          <a:prstGeom prst="ellipse">
            <a:avLst/>
          </a:prstGeom>
          <a:solidFill>
            <a:srgbClr val="20C7AE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B02A1690-DFD6-76A8-18A8-C7227ED9ADAE}"/>
              </a:ext>
            </a:extLst>
          </p:cNvPr>
          <p:cNvSpPr/>
          <p:nvPr/>
        </p:nvSpPr>
        <p:spPr>
          <a:xfrm>
            <a:off x="10414000" y="5969000"/>
            <a:ext cx="3302000" cy="3302000"/>
          </a:xfrm>
          <a:prstGeom prst="ellipse">
            <a:avLst/>
          </a:prstGeom>
          <a:solidFill>
            <a:srgbClr val="9B75F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1D61D6BC-062D-51BF-D576-2FFC11655276}"/>
              </a:ext>
            </a:extLst>
          </p:cNvPr>
          <p:cNvCxnSpPr/>
          <p:nvPr/>
        </p:nvCxnSpPr>
        <p:spPr>
          <a:xfrm>
            <a:off x="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1322277-CC06-91D9-F22B-3588D77DEF9B}"/>
              </a:ext>
            </a:extLst>
          </p:cNvPr>
          <p:cNvCxnSpPr/>
          <p:nvPr/>
        </p:nvCxnSpPr>
        <p:spPr>
          <a:xfrm>
            <a:off x="812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39DC79F0-7C2E-51E5-5724-64727B6B8E18}"/>
              </a:ext>
            </a:extLst>
          </p:cNvPr>
          <p:cNvCxnSpPr/>
          <p:nvPr/>
        </p:nvCxnSpPr>
        <p:spPr>
          <a:xfrm>
            <a:off x="1625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D8481E3-038A-AA11-A1A3-201EB4C11746}"/>
              </a:ext>
            </a:extLst>
          </p:cNvPr>
          <p:cNvCxnSpPr/>
          <p:nvPr/>
        </p:nvCxnSpPr>
        <p:spPr>
          <a:xfrm>
            <a:off x="2438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14ABC631-14F3-9632-7CA3-3DC806D9ADBC}"/>
              </a:ext>
            </a:extLst>
          </p:cNvPr>
          <p:cNvCxnSpPr/>
          <p:nvPr/>
        </p:nvCxnSpPr>
        <p:spPr>
          <a:xfrm>
            <a:off x="3251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5B331345-2C38-742B-5530-2FA2AC3E830B}"/>
              </a:ext>
            </a:extLst>
          </p:cNvPr>
          <p:cNvCxnSpPr/>
          <p:nvPr/>
        </p:nvCxnSpPr>
        <p:spPr>
          <a:xfrm>
            <a:off x="4064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F2154EC0-DE2B-FC78-2F1A-F8F88E363A4D}"/>
              </a:ext>
            </a:extLst>
          </p:cNvPr>
          <p:cNvCxnSpPr/>
          <p:nvPr/>
        </p:nvCxnSpPr>
        <p:spPr>
          <a:xfrm>
            <a:off x="4876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5264CAE4-5D36-2763-956D-70BFF19F62F9}"/>
              </a:ext>
            </a:extLst>
          </p:cNvPr>
          <p:cNvCxnSpPr/>
          <p:nvPr/>
        </p:nvCxnSpPr>
        <p:spPr>
          <a:xfrm>
            <a:off x="5689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C13BD61F-D38E-6FA9-825E-9C69615ECC01}"/>
              </a:ext>
            </a:extLst>
          </p:cNvPr>
          <p:cNvCxnSpPr/>
          <p:nvPr/>
        </p:nvCxnSpPr>
        <p:spPr>
          <a:xfrm>
            <a:off x="6502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D91461DE-15C9-B058-C092-A7666C69A4D7}"/>
              </a:ext>
            </a:extLst>
          </p:cNvPr>
          <p:cNvCxnSpPr/>
          <p:nvPr/>
        </p:nvCxnSpPr>
        <p:spPr>
          <a:xfrm>
            <a:off x="7315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F81037F-40A2-05B8-9C3F-22809D8F9B29}"/>
              </a:ext>
            </a:extLst>
          </p:cNvPr>
          <p:cNvCxnSpPr/>
          <p:nvPr/>
        </p:nvCxnSpPr>
        <p:spPr>
          <a:xfrm>
            <a:off x="8128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A5525C28-B498-A17D-67F4-9FE455C5B4B9}"/>
              </a:ext>
            </a:extLst>
          </p:cNvPr>
          <p:cNvCxnSpPr/>
          <p:nvPr/>
        </p:nvCxnSpPr>
        <p:spPr>
          <a:xfrm>
            <a:off x="8940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1BC57778-327C-26FB-BDF8-9E2FA0E09F96}"/>
              </a:ext>
            </a:extLst>
          </p:cNvPr>
          <p:cNvCxnSpPr/>
          <p:nvPr/>
        </p:nvCxnSpPr>
        <p:spPr>
          <a:xfrm>
            <a:off x="9753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9B44DC47-1E43-125F-FA02-412F4567DEDE}"/>
              </a:ext>
            </a:extLst>
          </p:cNvPr>
          <p:cNvCxnSpPr/>
          <p:nvPr/>
        </p:nvCxnSpPr>
        <p:spPr>
          <a:xfrm>
            <a:off x="10566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A7695C08-9C02-3C1B-B063-639A2E9C2F2C}"/>
              </a:ext>
            </a:extLst>
          </p:cNvPr>
          <p:cNvCxnSpPr/>
          <p:nvPr/>
        </p:nvCxnSpPr>
        <p:spPr>
          <a:xfrm>
            <a:off x="11379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8E2CB927-2144-6298-23A5-A4568DD4EAB0}"/>
              </a:ext>
            </a:extLst>
          </p:cNvPr>
          <p:cNvCxnSpPr/>
          <p:nvPr/>
        </p:nvCxnSpPr>
        <p:spPr>
          <a:xfrm>
            <a:off x="12192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F2E219AE-C589-9D98-01FA-DBF27D122545}"/>
              </a:ext>
            </a:extLst>
          </p:cNvPr>
          <p:cNvCxnSpPr/>
          <p:nvPr/>
        </p:nvCxnSpPr>
        <p:spPr>
          <a:xfrm>
            <a:off x="13004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EBFE6A97-115B-8C8D-8B0B-C3A5249E61B5}"/>
              </a:ext>
            </a:extLst>
          </p:cNvPr>
          <p:cNvCxnSpPr/>
          <p:nvPr/>
        </p:nvCxnSpPr>
        <p:spPr>
          <a:xfrm>
            <a:off x="13817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8132E6D1-1C6B-FF39-E887-684720F96CE0}"/>
              </a:ext>
            </a:extLst>
          </p:cNvPr>
          <p:cNvCxnSpPr/>
          <p:nvPr/>
        </p:nvCxnSpPr>
        <p:spPr>
          <a:xfrm>
            <a:off x="14630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291EC60-43CD-5D33-592B-25C97A12639C}"/>
              </a:ext>
            </a:extLst>
          </p:cNvPr>
          <p:cNvCxnSpPr/>
          <p:nvPr/>
        </p:nvCxnSpPr>
        <p:spPr>
          <a:xfrm>
            <a:off x="15443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3429F34D-AC93-6D99-5E1F-C2C99A8D7D06}"/>
              </a:ext>
            </a:extLst>
          </p:cNvPr>
          <p:cNvCxnSpPr/>
          <p:nvPr/>
        </p:nvCxnSpPr>
        <p:spPr>
          <a:xfrm>
            <a:off x="0" y="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9453564E-1FCF-FABF-3F99-0105124601AE}"/>
              </a:ext>
            </a:extLst>
          </p:cNvPr>
          <p:cNvCxnSpPr/>
          <p:nvPr/>
        </p:nvCxnSpPr>
        <p:spPr>
          <a:xfrm>
            <a:off x="0" y="812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093A5E42-C161-B6AA-7071-2B5141A2B797}"/>
              </a:ext>
            </a:extLst>
          </p:cNvPr>
          <p:cNvCxnSpPr/>
          <p:nvPr/>
        </p:nvCxnSpPr>
        <p:spPr>
          <a:xfrm>
            <a:off x="0" y="1625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C8541CFE-594D-1FF3-26BD-1754B0B192EC}"/>
              </a:ext>
            </a:extLst>
          </p:cNvPr>
          <p:cNvCxnSpPr/>
          <p:nvPr/>
        </p:nvCxnSpPr>
        <p:spPr>
          <a:xfrm>
            <a:off x="0" y="2438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C15E2EB0-9346-9006-B281-3F84E233F0E6}"/>
              </a:ext>
            </a:extLst>
          </p:cNvPr>
          <p:cNvCxnSpPr/>
          <p:nvPr/>
        </p:nvCxnSpPr>
        <p:spPr>
          <a:xfrm>
            <a:off x="0" y="3251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C886F4E1-BC09-6326-8F05-CE3EE6EACAAC}"/>
              </a:ext>
            </a:extLst>
          </p:cNvPr>
          <p:cNvCxnSpPr/>
          <p:nvPr/>
        </p:nvCxnSpPr>
        <p:spPr>
          <a:xfrm>
            <a:off x="0" y="4064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9B2E84B3-4628-8C89-A4E7-CC1F8E6051B5}"/>
              </a:ext>
            </a:extLst>
          </p:cNvPr>
          <p:cNvCxnSpPr/>
          <p:nvPr/>
        </p:nvCxnSpPr>
        <p:spPr>
          <a:xfrm>
            <a:off x="0" y="4876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A2D5626F-A80F-99AF-A6E9-07379804D253}"/>
              </a:ext>
            </a:extLst>
          </p:cNvPr>
          <p:cNvCxnSpPr/>
          <p:nvPr/>
        </p:nvCxnSpPr>
        <p:spPr>
          <a:xfrm>
            <a:off x="0" y="5689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F80F8132-6A8C-218F-1EB8-DE45523013CB}"/>
              </a:ext>
            </a:extLst>
          </p:cNvPr>
          <p:cNvCxnSpPr/>
          <p:nvPr/>
        </p:nvCxnSpPr>
        <p:spPr>
          <a:xfrm>
            <a:off x="0" y="6502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5222B5C8-F62E-DBD9-5E37-49F96F022843}"/>
              </a:ext>
            </a:extLst>
          </p:cNvPr>
          <p:cNvCxnSpPr/>
          <p:nvPr/>
        </p:nvCxnSpPr>
        <p:spPr>
          <a:xfrm>
            <a:off x="0" y="7315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323C388A-161C-B161-9548-B846F6D37BEC}"/>
              </a:ext>
            </a:extLst>
          </p:cNvPr>
          <p:cNvCxnSpPr/>
          <p:nvPr/>
        </p:nvCxnSpPr>
        <p:spPr>
          <a:xfrm>
            <a:off x="0" y="8128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F11140F1-9956-9EB6-FAFC-C9E3EB6E1B9D}"/>
              </a:ext>
            </a:extLst>
          </p:cNvPr>
          <p:cNvCxnSpPr/>
          <p:nvPr/>
        </p:nvCxnSpPr>
        <p:spPr>
          <a:xfrm>
            <a:off x="0" y="8940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012BA08F-4954-8496-33F9-6F16C919C618}"/>
              </a:ext>
            </a:extLst>
          </p:cNvPr>
          <p:cNvSpPr txBox="1"/>
          <p:nvPr/>
        </p:nvSpPr>
        <p:spPr>
          <a:xfrm>
            <a:off x="914400" y="609600"/>
            <a:ext cx="11430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400">
                <a:solidFill>
                  <a:srgbClr val="D6AD61"/>
                </a:solidFill>
                <a:latin typeface="Consolas" panose="020B0609020204030204" pitchFamily="49" charset="0"/>
              </a:rPr>
              <a:t>Vibe Coding</a:t>
            </a:r>
            <a:endParaRPr lang="zh-CN" altLang="en-US" sz="1400">
              <a:solidFill>
                <a:srgbClr val="D6AD6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28CC578-07B0-C3DA-65F5-D4366F5B0FBE}"/>
              </a:ext>
            </a:extLst>
          </p:cNvPr>
          <p:cNvSpPr txBox="1"/>
          <p:nvPr/>
        </p:nvSpPr>
        <p:spPr>
          <a:xfrm>
            <a:off x="914400" y="990600"/>
            <a:ext cx="13208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3600" b="1">
                <a:solidFill>
                  <a:srgbClr val="EFECE5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Vibe Coding </a:t>
            </a:r>
            <a:r>
              <a:rPr lang="zh-CN" altLang="en-US" sz="3600" b="1">
                <a:solidFill>
                  <a:srgbClr val="EFECE5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不是人人都要变程序员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64843877-A2C6-4EBE-F55C-BB399E96A93E}"/>
              </a:ext>
            </a:extLst>
          </p:cNvPr>
          <p:cNvSpPr txBox="1"/>
          <p:nvPr/>
        </p:nvSpPr>
        <p:spPr>
          <a:xfrm>
            <a:off x="914400" y="1905000"/>
            <a:ext cx="1270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它真正的意义是：让懂业务痛点的人，第一次可以直接参与制造工具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C4ECA96-A5E1-38E3-CF0F-7ADB1EA0FDC1}"/>
              </a:ext>
            </a:extLst>
          </p:cNvPr>
          <p:cNvSpPr txBox="1"/>
          <p:nvPr/>
        </p:nvSpPr>
        <p:spPr>
          <a:xfrm>
            <a:off x="914400" y="8686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1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驯化野生硅基伙伴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C61B0D4C-4592-5818-7C26-86B217CCB47A}"/>
              </a:ext>
            </a:extLst>
          </p:cNvPr>
          <p:cNvSpPr txBox="1"/>
          <p:nvPr/>
        </p:nvSpPr>
        <p:spPr>
          <a:xfrm>
            <a:off x="14732000" y="86868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697184"/>
                </a:solidFill>
                <a:latin typeface="Consolas" panose="020B0609020204030204" pitchFamily="49" charset="0"/>
              </a:rPr>
              <a:t>11 / 18</a:t>
            </a:r>
            <a:endParaRPr lang="zh-CN" altLang="en-US" sz="1100">
              <a:solidFill>
                <a:srgbClr val="697184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C4C2CA9-26F9-2BD8-560F-ECE7DFA4D9AF}"/>
              </a:ext>
            </a:extLst>
          </p:cNvPr>
          <p:cNvSpPr/>
          <p:nvPr/>
        </p:nvSpPr>
        <p:spPr>
          <a:xfrm>
            <a:off x="0" y="9093200"/>
            <a:ext cx="9934222" cy="50800"/>
          </a:xfrm>
          <a:prstGeom prst="rect">
            <a:avLst/>
          </a:prstGeom>
          <a:solidFill>
            <a:srgbClr val="20C7A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8" name="quote_30">
            <a:extLst>
              <a:ext uri="{FF2B5EF4-FFF2-40B4-BE49-F238E27FC236}">
                <a16:creationId xmlns:a16="http://schemas.microsoft.com/office/drawing/2014/main" id="{3AAE0833-B576-4750-3B92-608E1522CCB3}"/>
              </a:ext>
            </a:extLst>
          </p:cNvPr>
          <p:cNvGrpSpPr/>
          <p:nvPr/>
        </p:nvGrpSpPr>
        <p:grpSpPr>
          <a:xfrm>
            <a:off x="1422400" y="2870200"/>
            <a:ext cx="13411200" cy="1143000"/>
            <a:chOff x="1422400" y="2870200"/>
            <a:chExt cx="13411200" cy="1143000"/>
          </a:xfrm>
        </p:grpSpPr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DBE2206B-8729-0BAF-2643-C03A5938C624}"/>
                </a:ext>
              </a:extLst>
            </p:cNvPr>
            <p:cNvSpPr/>
            <p:nvPr/>
          </p:nvSpPr>
          <p:spPr>
            <a:xfrm>
              <a:off x="1422400" y="2870200"/>
              <a:ext cx="13411200" cy="1143000"/>
            </a:xfrm>
            <a:prstGeom prst="roundRect">
              <a:avLst/>
            </a:prstGeom>
            <a:solidFill>
              <a:srgbClr val="D6AD61">
                <a:alpha val="12000"/>
              </a:srgbClr>
            </a:solidFill>
            <a:ln w="12700" cap="flat" cmpd="sng" algn="ctr">
              <a:solidFill>
                <a:srgbClr val="D6AD61">
                  <a:alpha val="5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85C598FE-1E70-53ED-BEB4-C9002AF43154}"/>
                </a:ext>
              </a:extLst>
            </p:cNvPr>
            <p:cNvSpPr/>
            <p:nvPr/>
          </p:nvSpPr>
          <p:spPr>
            <a:xfrm>
              <a:off x="1422400" y="2870200"/>
              <a:ext cx="76200" cy="1143000"/>
            </a:xfrm>
            <a:prstGeom prst="rect">
              <a:avLst/>
            </a:prstGeom>
            <a:solidFill>
              <a:srgbClr val="D6AD6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5D9C8699-9B12-9229-3E10-D91EC52BF399}"/>
                </a:ext>
              </a:extLst>
            </p:cNvPr>
            <p:cNvSpPr txBox="1"/>
            <p:nvPr/>
          </p:nvSpPr>
          <p:spPr>
            <a:xfrm>
              <a:off x="1778000" y="3073400"/>
              <a:ext cx="12750800" cy="38472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en-US" altLang="zh-CN" sz="2500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Vibe Coding </a:t>
              </a:r>
              <a:r>
                <a:rPr lang="zh-CN" altLang="en-US" sz="2500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不是让产品变程序员，而是让最懂钉子的人，也能参与造锤子。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84504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12">
            <a:extLst>
              <a:ext uri="{FF2B5EF4-FFF2-40B4-BE49-F238E27FC236}">
                <a16:creationId xmlns:a16="http://schemas.microsoft.com/office/drawing/2014/main" id="{6FA592C5-B28A-9B83-9B60-27BD2A2EFA2B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70B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5177355-DE55-ACA9-71F3-467DF873BA0A}"/>
              </a:ext>
            </a:extLst>
          </p:cNvPr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D6AD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E534B21-7C74-ECB9-4715-37848E7CCDC8}"/>
              </a:ext>
            </a:extLst>
          </p:cNvPr>
          <p:cNvSpPr/>
          <p:nvPr/>
        </p:nvSpPr>
        <p:spPr>
          <a:xfrm>
            <a:off x="762000" y="571500"/>
            <a:ext cx="3937000" cy="3937000"/>
          </a:xfrm>
          <a:prstGeom prst="ellipse">
            <a:avLst/>
          </a:prstGeom>
          <a:solidFill>
            <a:srgbClr val="D6AD61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3951D403-49F7-6145-6ACF-922455BAF9FD}"/>
              </a:ext>
            </a:extLst>
          </p:cNvPr>
          <p:cNvSpPr/>
          <p:nvPr/>
        </p:nvSpPr>
        <p:spPr>
          <a:xfrm>
            <a:off x="11430000" y="889000"/>
            <a:ext cx="3556000" cy="3556000"/>
          </a:xfrm>
          <a:prstGeom prst="ellipse">
            <a:avLst/>
          </a:prstGeom>
          <a:solidFill>
            <a:srgbClr val="20C7AE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27420C5-A036-1BD3-23F0-CB3A6727C8F7}"/>
              </a:ext>
            </a:extLst>
          </p:cNvPr>
          <p:cNvSpPr/>
          <p:nvPr/>
        </p:nvSpPr>
        <p:spPr>
          <a:xfrm>
            <a:off x="10414000" y="5969000"/>
            <a:ext cx="3302000" cy="3302000"/>
          </a:xfrm>
          <a:prstGeom prst="ellipse">
            <a:avLst/>
          </a:prstGeom>
          <a:solidFill>
            <a:srgbClr val="9B75F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EF98C5B9-141A-0040-6D49-A05794BD438E}"/>
              </a:ext>
            </a:extLst>
          </p:cNvPr>
          <p:cNvCxnSpPr/>
          <p:nvPr/>
        </p:nvCxnSpPr>
        <p:spPr>
          <a:xfrm>
            <a:off x="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CDE2AE5-B407-C4A6-D181-193208758AA0}"/>
              </a:ext>
            </a:extLst>
          </p:cNvPr>
          <p:cNvCxnSpPr/>
          <p:nvPr/>
        </p:nvCxnSpPr>
        <p:spPr>
          <a:xfrm>
            <a:off x="812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EF00BFD-44F0-44DF-97E3-59AD811D31B5}"/>
              </a:ext>
            </a:extLst>
          </p:cNvPr>
          <p:cNvCxnSpPr/>
          <p:nvPr/>
        </p:nvCxnSpPr>
        <p:spPr>
          <a:xfrm>
            <a:off x="1625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FCA0953-DA66-7323-EFB2-B7211146188B}"/>
              </a:ext>
            </a:extLst>
          </p:cNvPr>
          <p:cNvCxnSpPr/>
          <p:nvPr/>
        </p:nvCxnSpPr>
        <p:spPr>
          <a:xfrm>
            <a:off x="2438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231A27A8-3AFB-B79C-07CF-3A07B5F8FA15}"/>
              </a:ext>
            </a:extLst>
          </p:cNvPr>
          <p:cNvCxnSpPr/>
          <p:nvPr/>
        </p:nvCxnSpPr>
        <p:spPr>
          <a:xfrm>
            <a:off x="3251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3522EF48-36CD-9ED3-0594-1231EFC12AE8}"/>
              </a:ext>
            </a:extLst>
          </p:cNvPr>
          <p:cNvCxnSpPr/>
          <p:nvPr/>
        </p:nvCxnSpPr>
        <p:spPr>
          <a:xfrm>
            <a:off x="4064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DF5A0D85-ED22-FF91-A686-F4836B9B3819}"/>
              </a:ext>
            </a:extLst>
          </p:cNvPr>
          <p:cNvCxnSpPr/>
          <p:nvPr/>
        </p:nvCxnSpPr>
        <p:spPr>
          <a:xfrm>
            <a:off x="4876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6ED85BDE-6B75-B57E-5163-182B359DA001}"/>
              </a:ext>
            </a:extLst>
          </p:cNvPr>
          <p:cNvCxnSpPr/>
          <p:nvPr/>
        </p:nvCxnSpPr>
        <p:spPr>
          <a:xfrm>
            <a:off x="5689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FE0530AC-756E-BE64-08C7-CD1AA8EA4C4B}"/>
              </a:ext>
            </a:extLst>
          </p:cNvPr>
          <p:cNvCxnSpPr/>
          <p:nvPr/>
        </p:nvCxnSpPr>
        <p:spPr>
          <a:xfrm>
            <a:off x="6502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E6100C3F-46F2-E6A5-7672-D1B2EA638C5A}"/>
              </a:ext>
            </a:extLst>
          </p:cNvPr>
          <p:cNvCxnSpPr/>
          <p:nvPr/>
        </p:nvCxnSpPr>
        <p:spPr>
          <a:xfrm>
            <a:off x="7315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E02E5E1-2B81-FCA1-95BE-E0F9B174F6D1}"/>
              </a:ext>
            </a:extLst>
          </p:cNvPr>
          <p:cNvCxnSpPr/>
          <p:nvPr/>
        </p:nvCxnSpPr>
        <p:spPr>
          <a:xfrm>
            <a:off x="8128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0E28B85C-07BF-5184-C769-B3D7009D0552}"/>
              </a:ext>
            </a:extLst>
          </p:cNvPr>
          <p:cNvCxnSpPr/>
          <p:nvPr/>
        </p:nvCxnSpPr>
        <p:spPr>
          <a:xfrm>
            <a:off x="8940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4769A0E1-29BF-133D-FA92-FE68EAAA71D5}"/>
              </a:ext>
            </a:extLst>
          </p:cNvPr>
          <p:cNvCxnSpPr/>
          <p:nvPr/>
        </p:nvCxnSpPr>
        <p:spPr>
          <a:xfrm>
            <a:off x="9753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BDC06F63-1D3B-680E-F0B6-12B8351F7872}"/>
              </a:ext>
            </a:extLst>
          </p:cNvPr>
          <p:cNvCxnSpPr/>
          <p:nvPr/>
        </p:nvCxnSpPr>
        <p:spPr>
          <a:xfrm>
            <a:off x="10566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A2CC6B4E-CEBB-3E1E-0892-C967C6C46EFF}"/>
              </a:ext>
            </a:extLst>
          </p:cNvPr>
          <p:cNvCxnSpPr/>
          <p:nvPr/>
        </p:nvCxnSpPr>
        <p:spPr>
          <a:xfrm>
            <a:off x="11379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89191FEB-DF43-4021-9208-02CA21EB927D}"/>
              </a:ext>
            </a:extLst>
          </p:cNvPr>
          <p:cNvCxnSpPr/>
          <p:nvPr/>
        </p:nvCxnSpPr>
        <p:spPr>
          <a:xfrm>
            <a:off x="12192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204FC917-109F-CBF7-1180-9A9B1EB4FD05}"/>
              </a:ext>
            </a:extLst>
          </p:cNvPr>
          <p:cNvCxnSpPr/>
          <p:nvPr/>
        </p:nvCxnSpPr>
        <p:spPr>
          <a:xfrm>
            <a:off x="13004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6F04E09C-2590-EE8F-695E-4EA57F79DFB0}"/>
              </a:ext>
            </a:extLst>
          </p:cNvPr>
          <p:cNvCxnSpPr/>
          <p:nvPr/>
        </p:nvCxnSpPr>
        <p:spPr>
          <a:xfrm>
            <a:off x="13817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046FB320-67B3-17FB-AF54-6756019D8350}"/>
              </a:ext>
            </a:extLst>
          </p:cNvPr>
          <p:cNvCxnSpPr/>
          <p:nvPr/>
        </p:nvCxnSpPr>
        <p:spPr>
          <a:xfrm>
            <a:off x="14630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BC5EB449-9A6C-0450-C2DC-796521EB63AC}"/>
              </a:ext>
            </a:extLst>
          </p:cNvPr>
          <p:cNvCxnSpPr/>
          <p:nvPr/>
        </p:nvCxnSpPr>
        <p:spPr>
          <a:xfrm>
            <a:off x="15443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08E2BE60-69F1-1547-F6A5-221F760825CB}"/>
              </a:ext>
            </a:extLst>
          </p:cNvPr>
          <p:cNvCxnSpPr/>
          <p:nvPr/>
        </p:nvCxnSpPr>
        <p:spPr>
          <a:xfrm>
            <a:off x="0" y="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4E32C8A0-A35B-AB6A-2E0A-CC5FA356F624}"/>
              </a:ext>
            </a:extLst>
          </p:cNvPr>
          <p:cNvCxnSpPr/>
          <p:nvPr/>
        </p:nvCxnSpPr>
        <p:spPr>
          <a:xfrm>
            <a:off x="0" y="812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29627DC4-67C0-E118-63B5-6F7F120B89EB}"/>
              </a:ext>
            </a:extLst>
          </p:cNvPr>
          <p:cNvCxnSpPr/>
          <p:nvPr/>
        </p:nvCxnSpPr>
        <p:spPr>
          <a:xfrm>
            <a:off x="0" y="1625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04DD1420-2DAA-022F-BA31-5F66C6D6953D}"/>
              </a:ext>
            </a:extLst>
          </p:cNvPr>
          <p:cNvCxnSpPr/>
          <p:nvPr/>
        </p:nvCxnSpPr>
        <p:spPr>
          <a:xfrm>
            <a:off x="0" y="2438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C4358573-1A40-CCFE-E9CB-D5A88C5F1C5E}"/>
              </a:ext>
            </a:extLst>
          </p:cNvPr>
          <p:cNvCxnSpPr/>
          <p:nvPr/>
        </p:nvCxnSpPr>
        <p:spPr>
          <a:xfrm>
            <a:off x="0" y="3251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7A5E826F-3024-DF9A-35FE-70738E64FEF2}"/>
              </a:ext>
            </a:extLst>
          </p:cNvPr>
          <p:cNvCxnSpPr/>
          <p:nvPr/>
        </p:nvCxnSpPr>
        <p:spPr>
          <a:xfrm>
            <a:off x="0" y="4064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9EC2AF09-700F-3E9D-1D25-904C3DAE7D8B}"/>
              </a:ext>
            </a:extLst>
          </p:cNvPr>
          <p:cNvCxnSpPr/>
          <p:nvPr/>
        </p:nvCxnSpPr>
        <p:spPr>
          <a:xfrm>
            <a:off x="0" y="4876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C5D31C47-BFC9-60AC-DE5C-A8F038C1CAD2}"/>
              </a:ext>
            </a:extLst>
          </p:cNvPr>
          <p:cNvCxnSpPr/>
          <p:nvPr/>
        </p:nvCxnSpPr>
        <p:spPr>
          <a:xfrm>
            <a:off x="0" y="5689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9813C08D-327A-E0D7-5DDF-1A2320E50D4B}"/>
              </a:ext>
            </a:extLst>
          </p:cNvPr>
          <p:cNvCxnSpPr/>
          <p:nvPr/>
        </p:nvCxnSpPr>
        <p:spPr>
          <a:xfrm>
            <a:off x="0" y="6502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CFD623F6-E78B-B5BF-E1AF-5792DBD0CFE2}"/>
              </a:ext>
            </a:extLst>
          </p:cNvPr>
          <p:cNvCxnSpPr/>
          <p:nvPr/>
        </p:nvCxnSpPr>
        <p:spPr>
          <a:xfrm>
            <a:off x="0" y="7315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18B5BCD8-FBCB-7AED-3D74-DD8E7C5DDF30}"/>
              </a:ext>
            </a:extLst>
          </p:cNvPr>
          <p:cNvCxnSpPr/>
          <p:nvPr/>
        </p:nvCxnSpPr>
        <p:spPr>
          <a:xfrm>
            <a:off x="0" y="8128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62A667DD-E5B1-9191-930E-2B45D56B6738}"/>
              </a:ext>
            </a:extLst>
          </p:cNvPr>
          <p:cNvCxnSpPr/>
          <p:nvPr/>
        </p:nvCxnSpPr>
        <p:spPr>
          <a:xfrm>
            <a:off x="0" y="8940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E0FD7842-FEB4-A94A-D206-7FA098073DDC}"/>
              </a:ext>
            </a:extLst>
          </p:cNvPr>
          <p:cNvSpPr txBox="1"/>
          <p:nvPr/>
        </p:nvSpPr>
        <p:spPr>
          <a:xfrm>
            <a:off x="914400" y="609600"/>
            <a:ext cx="11430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400">
                <a:solidFill>
                  <a:srgbClr val="D6AD61"/>
                </a:solidFill>
                <a:latin typeface="Consolas" panose="020B0609020204030204" pitchFamily="49" charset="0"/>
              </a:rPr>
              <a:t>Method</a:t>
            </a:r>
            <a:endParaRPr lang="zh-CN" altLang="en-US" sz="1400">
              <a:solidFill>
                <a:srgbClr val="D6AD6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F8CF05C-DFBC-49F7-C11F-60F85FBC1A3C}"/>
              </a:ext>
            </a:extLst>
          </p:cNvPr>
          <p:cNvSpPr txBox="1"/>
          <p:nvPr/>
        </p:nvSpPr>
        <p:spPr>
          <a:xfrm>
            <a:off x="914400" y="990600"/>
            <a:ext cx="13208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600" b="1">
                <a:solidFill>
                  <a:srgbClr val="EFECE5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从痛点到工具的六步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019AE02A-6185-94D9-63B6-5907060D87BA}"/>
              </a:ext>
            </a:extLst>
          </p:cNvPr>
          <p:cNvSpPr txBox="1"/>
          <p:nvPr/>
        </p:nvSpPr>
        <p:spPr>
          <a:xfrm>
            <a:off x="914400" y="1905000"/>
            <a:ext cx="1270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不要直接让 </a:t>
            </a:r>
            <a:r>
              <a:rPr lang="en-US" altLang="zh-CN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AI </a:t>
            </a:r>
            <a:r>
              <a:rPr lang="zh-CN" altLang="en-US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写方案，先让它补齐缺失信息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3FAABB3-6AFE-B7F4-5B03-C931E58BE02A}"/>
              </a:ext>
            </a:extLst>
          </p:cNvPr>
          <p:cNvSpPr txBox="1"/>
          <p:nvPr/>
        </p:nvSpPr>
        <p:spPr>
          <a:xfrm>
            <a:off x="914400" y="8686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1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驯化野生硅基伙伴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5996793-43E0-B495-18A8-602BDA9C7286}"/>
              </a:ext>
            </a:extLst>
          </p:cNvPr>
          <p:cNvSpPr txBox="1"/>
          <p:nvPr/>
        </p:nvSpPr>
        <p:spPr>
          <a:xfrm>
            <a:off x="14732000" y="86868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697184"/>
                </a:solidFill>
                <a:latin typeface="Consolas" panose="020B0609020204030204" pitchFamily="49" charset="0"/>
              </a:rPr>
              <a:t>12 / 18</a:t>
            </a:r>
            <a:endParaRPr lang="zh-CN" altLang="en-US" sz="1100">
              <a:solidFill>
                <a:srgbClr val="697184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DE9F794-EFC2-29E4-7E75-FFDC611CAD05}"/>
              </a:ext>
            </a:extLst>
          </p:cNvPr>
          <p:cNvSpPr/>
          <p:nvPr/>
        </p:nvSpPr>
        <p:spPr>
          <a:xfrm>
            <a:off x="0" y="9093200"/>
            <a:ext cx="10837333" cy="50800"/>
          </a:xfrm>
          <a:prstGeom prst="rect">
            <a:avLst/>
          </a:prstGeom>
          <a:solidFill>
            <a:srgbClr val="20C7A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0" name="step_1">
            <a:extLst>
              <a:ext uri="{FF2B5EF4-FFF2-40B4-BE49-F238E27FC236}">
                <a16:creationId xmlns:a16="http://schemas.microsoft.com/office/drawing/2014/main" id="{33663373-E441-8A5F-0114-C8C2206C5D98}"/>
              </a:ext>
            </a:extLst>
          </p:cNvPr>
          <p:cNvGrpSpPr/>
          <p:nvPr/>
        </p:nvGrpSpPr>
        <p:grpSpPr>
          <a:xfrm>
            <a:off x="1168400" y="3238500"/>
            <a:ext cx="2214033" cy="2413000"/>
            <a:chOff x="1168400" y="3238500"/>
            <a:chExt cx="2214033" cy="2413000"/>
          </a:xfrm>
        </p:grpSpPr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7309A005-91E4-DA28-A322-2A6B6FF20007}"/>
                </a:ext>
              </a:extLst>
            </p:cNvPr>
            <p:cNvSpPr/>
            <p:nvPr/>
          </p:nvSpPr>
          <p:spPr>
            <a:xfrm>
              <a:off x="1168400" y="3238500"/>
              <a:ext cx="2214033" cy="2413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>
              <a:solidFill>
                <a:srgbClr val="2B34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94DAF66C-C6F7-F259-D538-38195F6890EC}"/>
                </a:ext>
              </a:extLst>
            </p:cNvPr>
            <p:cNvSpPr/>
            <p:nvPr/>
          </p:nvSpPr>
          <p:spPr>
            <a:xfrm>
              <a:off x="1397000" y="3467100"/>
              <a:ext cx="457200" cy="457200"/>
            </a:xfrm>
            <a:prstGeom prst="ellipse">
              <a:avLst/>
            </a:prstGeom>
            <a:noFill/>
            <a:ln w="15240" cap="flat" cmpd="sng" algn="ctr">
              <a:solidFill>
                <a:srgbClr val="D6AD6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F31E1D89-12E6-2140-6067-524AB9C8FF35}"/>
                </a:ext>
              </a:extLst>
            </p:cNvPr>
            <p:cNvSpPr txBox="1"/>
            <p:nvPr/>
          </p:nvSpPr>
          <p:spPr>
            <a:xfrm>
              <a:off x="1397000" y="3543300"/>
              <a:ext cx="457200" cy="20005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pPr algn="ctr"/>
              <a:r>
                <a:rPr lang="en-US" altLang="zh-CN" sz="1300" b="1">
                  <a:solidFill>
                    <a:srgbClr val="D6AD61"/>
                  </a:solidFill>
                  <a:latin typeface="Consolas" panose="020B0609020204030204" pitchFamily="49" charset="0"/>
                </a:rPr>
                <a:t>1</a:t>
              </a:r>
              <a:endParaRPr lang="zh-CN" altLang="en-US" sz="1300" b="1">
                <a:solidFill>
                  <a:srgbClr val="D6AD6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3C694E28-18FC-1F91-7E15-72BE8820B213}"/>
                </a:ext>
              </a:extLst>
            </p:cNvPr>
            <p:cNvSpPr txBox="1"/>
            <p:nvPr/>
          </p:nvSpPr>
          <p:spPr>
            <a:xfrm>
              <a:off x="1397000" y="4102100"/>
              <a:ext cx="1807633" cy="29238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900" b="1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找钉子</a:t>
              </a: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902C5514-639C-DEA4-D8C2-65FEB7111BA3}"/>
                </a:ext>
              </a:extLst>
            </p:cNvPr>
            <p:cNvSpPr txBox="1"/>
            <p:nvPr/>
          </p:nvSpPr>
          <p:spPr>
            <a:xfrm>
              <a:off x="1397000" y="4559300"/>
              <a:ext cx="1833033" cy="40011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3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哪件事反复痛、每周重复、靠人肉同步？</a:t>
              </a:r>
            </a:p>
          </p:txBody>
        </p:sp>
      </p:grpSp>
      <p:grpSp>
        <p:nvGrpSpPr>
          <p:cNvPr id="56" name="step_2">
            <a:extLst>
              <a:ext uri="{FF2B5EF4-FFF2-40B4-BE49-F238E27FC236}">
                <a16:creationId xmlns:a16="http://schemas.microsoft.com/office/drawing/2014/main" id="{F2374022-0C9A-3325-9DD2-222CA59C14D6}"/>
              </a:ext>
            </a:extLst>
          </p:cNvPr>
          <p:cNvGrpSpPr/>
          <p:nvPr/>
        </p:nvGrpSpPr>
        <p:grpSpPr>
          <a:xfrm>
            <a:off x="3509433" y="3238500"/>
            <a:ext cx="2214034" cy="2413000"/>
            <a:chOff x="3509433" y="3238500"/>
            <a:chExt cx="2214034" cy="2413000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F316FBFA-72A1-388C-CCDD-8C1C13D76E29}"/>
                </a:ext>
              </a:extLst>
            </p:cNvPr>
            <p:cNvSpPr/>
            <p:nvPr/>
          </p:nvSpPr>
          <p:spPr>
            <a:xfrm>
              <a:off x="3509433" y="3238500"/>
              <a:ext cx="2214034" cy="2413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>
              <a:solidFill>
                <a:srgbClr val="2B34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1605B6A2-C5BF-C362-264C-ED7E8CD94925}"/>
                </a:ext>
              </a:extLst>
            </p:cNvPr>
            <p:cNvSpPr/>
            <p:nvPr/>
          </p:nvSpPr>
          <p:spPr>
            <a:xfrm>
              <a:off x="3738033" y="3467100"/>
              <a:ext cx="457200" cy="457200"/>
            </a:xfrm>
            <a:prstGeom prst="ellipse">
              <a:avLst/>
            </a:prstGeom>
            <a:noFill/>
            <a:ln w="15240" cap="flat" cmpd="sng" algn="ctr">
              <a:solidFill>
                <a:srgbClr val="D6AD6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D26FD383-C88E-7E79-19CE-502FC5C3CF28}"/>
                </a:ext>
              </a:extLst>
            </p:cNvPr>
            <p:cNvSpPr txBox="1"/>
            <p:nvPr/>
          </p:nvSpPr>
          <p:spPr>
            <a:xfrm>
              <a:off x="3738033" y="3543300"/>
              <a:ext cx="457200" cy="20005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pPr algn="ctr"/>
              <a:r>
                <a:rPr lang="en-US" altLang="zh-CN" sz="1300" b="1">
                  <a:solidFill>
                    <a:srgbClr val="D6AD61"/>
                  </a:solidFill>
                  <a:latin typeface="Consolas" panose="020B0609020204030204" pitchFamily="49" charset="0"/>
                </a:rPr>
                <a:t>2</a:t>
              </a:r>
              <a:endParaRPr lang="zh-CN" altLang="en-US" sz="1300" b="1">
                <a:solidFill>
                  <a:srgbClr val="D6AD6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0742FDF5-127F-489D-DB28-520B4394054B}"/>
                </a:ext>
              </a:extLst>
            </p:cNvPr>
            <p:cNvSpPr txBox="1"/>
            <p:nvPr/>
          </p:nvSpPr>
          <p:spPr>
            <a:xfrm>
              <a:off x="3738033" y="4102100"/>
              <a:ext cx="1807633" cy="29238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900" b="1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讲痛点</a:t>
              </a:r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7D721974-3901-4C30-26DA-6497E43EBB75}"/>
                </a:ext>
              </a:extLst>
            </p:cNvPr>
            <p:cNvSpPr txBox="1"/>
            <p:nvPr/>
          </p:nvSpPr>
          <p:spPr>
            <a:xfrm>
              <a:off x="3738033" y="4559300"/>
              <a:ext cx="1833033" cy="40011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3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谁在何时遇到什么问题？错了会怎样？</a:t>
              </a:r>
            </a:p>
          </p:txBody>
        </p:sp>
      </p:grpSp>
      <p:grpSp>
        <p:nvGrpSpPr>
          <p:cNvPr id="62" name="step_3">
            <a:extLst>
              <a:ext uri="{FF2B5EF4-FFF2-40B4-BE49-F238E27FC236}">
                <a16:creationId xmlns:a16="http://schemas.microsoft.com/office/drawing/2014/main" id="{277946D9-0DB1-8C7A-2C89-C8351C03AF42}"/>
              </a:ext>
            </a:extLst>
          </p:cNvPr>
          <p:cNvGrpSpPr/>
          <p:nvPr/>
        </p:nvGrpSpPr>
        <p:grpSpPr>
          <a:xfrm>
            <a:off x="5850467" y="3238500"/>
            <a:ext cx="2214033" cy="2413000"/>
            <a:chOff x="5850467" y="3238500"/>
            <a:chExt cx="2214033" cy="2413000"/>
          </a:xfrm>
        </p:grpSpPr>
        <p:sp>
          <p:nvSpPr>
            <p:cNvPr id="57" name="矩形: 圆角 56">
              <a:extLst>
                <a:ext uri="{FF2B5EF4-FFF2-40B4-BE49-F238E27FC236}">
                  <a16:creationId xmlns:a16="http://schemas.microsoft.com/office/drawing/2014/main" id="{82CAC671-F4C6-84D3-7820-B9E234E7C2C7}"/>
                </a:ext>
              </a:extLst>
            </p:cNvPr>
            <p:cNvSpPr/>
            <p:nvPr/>
          </p:nvSpPr>
          <p:spPr>
            <a:xfrm>
              <a:off x="5850467" y="3238500"/>
              <a:ext cx="2214033" cy="2413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>
              <a:solidFill>
                <a:srgbClr val="2B34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90AFCB8-CCC9-ADB7-772C-A049AE28D651}"/>
                </a:ext>
              </a:extLst>
            </p:cNvPr>
            <p:cNvSpPr/>
            <p:nvPr/>
          </p:nvSpPr>
          <p:spPr>
            <a:xfrm>
              <a:off x="6079067" y="3467100"/>
              <a:ext cx="457199" cy="457200"/>
            </a:xfrm>
            <a:prstGeom prst="ellipse">
              <a:avLst/>
            </a:prstGeom>
            <a:noFill/>
            <a:ln w="15240" cap="flat" cmpd="sng" algn="ctr">
              <a:solidFill>
                <a:srgbClr val="D6AD6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5B79C21E-E0CB-483F-C8B8-C9FB951F5BE3}"/>
                </a:ext>
              </a:extLst>
            </p:cNvPr>
            <p:cNvSpPr txBox="1"/>
            <p:nvPr/>
          </p:nvSpPr>
          <p:spPr>
            <a:xfrm>
              <a:off x="6079067" y="3543300"/>
              <a:ext cx="457200" cy="20005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pPr algn="ctr"/>
              <a:r>
                <a:rPr lang="en-US" altLang="zh-CN" sz="1300" b="1">
                  <a:solidFill>
                    <a:srgbClr val="D6AD61"/>
                  </a:solidFill>
                  <a:latin typeface="Consolas" panose="020B0609020204030204" pitchFamily="49" charset="0"/>
                </a:rPr>
                <a:t>3</a:t>
              </a:r>
              <a:endParaRPr lang="zh-CN" altLang="en-US" sz="1300" b="1">
                <a:solidFill>
                  <a:srgbClr val="D6AD6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AE21423D-2BF2-0E7E-1579-949FC3431A48}"/>
                </a:ext>
              </a:extLst>
            </p:cNvPr>
            <p:cNvSpPr txBox="1"/>
            <p:nvPr/>
          </p:nvSpPr>
          <p:spPr>
            <a:xfrm>
              <a:off x="6079067" y="4102100"/>
              <a:ext cx="1807633" cy="29238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900" b="1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让 </a:t>
              </a:r>
              <a:r>
                <a:rPr lang="en-US" altLang="zh-CN" sz="1900" b="1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AI </a:t>
              </a:r>
              <a:r>
                <a:rPr lang="zh-CN" altLang="en-US" sz="1900" b="1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追问</a:t>
              </a: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EE4A75E0-B775-7F98-BB67-E540EA7646ED}"/>
                </a:ext>
              </a:extLst>
            </p:cNvPr>
            <p:cNvSpPr txBox="1"/>
            <p:nvPr/>
          </p:nvSpPr>
          <p:spPr>
            <a:xfrm>
              <a:off x="6079067" y="4559300"/>
              <a:ext cx="1833033" cy="40011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3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先补上下文，不急着写代码或方案。</a:t>
              </a:r>
            </a:p>
          </p:txBody>
        </p:sp>
      </p:grpSp>
      <p:grpSp>
        <p:nvGrpSpPr>
          <p:cNvPr id="68" name="step_4">
            <a:extLst>
              <a:ext uri="{FF2B5EF4-FFF2-40B4-BE49-F238E27FC236}">
                <a16:creationId xmlns:a16="http://schemas.microsoft.com/office/drawing/2014/main" id="{9612D8E5-2D28-22AD-AD76-FB9693ACC79A}"/>
              </a:ext>
            </a:extLst>
          </p:cNvPr>
          <p:cNvGrpSpPr/>
          <p:nvPr/>
        </p:nvGrpSpPr>
        <p:grpSpPr>
          <a:xfrm>
            <a:off x="8191500" y="3238500"/>
            <a:ext cx="2214033" cy="2413000"/>
            <a:chOff x="8191500" y="3238500"/>
            <a:chExt cx="2214033" cy="2413000"/>
          </a:xfrm>
        </p:grpSpPr>
        <p:sp>
          <p:nvSpPr>
            <p:cNvPr id="63" name="矩形: 圆角 62">
              <a:extLst>
                <a:ext uri="{FF2B5EF4-FFF2-40B4-BE49-F238E27FC236}">
                  <a16:creationId xmlns:a16="http://schemas.microsoft.com/office/drawing/2014/main" id="{34E326F1-6278-2395-18EF-D76665437863}"/>
                </a:ext>
              </a:extLst>
            </p:cNvPr>
            <p:cNvSpPr/>
            <p:nvPr/>
          </p:nvSpPr>
          <p:spPr>
            <a:xfrm>
              <a:off x="8191500" y="3238500"/>
              <a:ext cx="2214033" cy="2413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>
              <a:solidFill>
                <a:srgbClr val="2B34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057184CE-AE23-2AF6-8DEE-366F0BD30CEF}"/>
                </a:ext>
              </a:extLst>
            </p:cNvPr>
            <p:cNvSpPr/>
            <p:nvPr/>
          </p:nvSpPr>
          <p:spPr>
            <a:xfrm>
              <a:off x="8420100" y="3467100"/>
              <a:ext cx="457200" cy="457200"/>
            </a:xfrm>
            <a:prstGeom prst="ellipse">
              <a:avLst/>
            </a:prstGeom>
            <a:noFill/>
            <a:ln w="15240" cap="flat" cmpd="sng" algn="ctr">
              <a:solidFill>
                <a:srgbClr val="D6AD6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9FFE1D28-7669-7625-9B01-612B6FD46369}"/>
                </a:ext>
              </a:extLst>
            </p:cNvPr>
            <p:cNvSpPr txBox="1"/>
            <p:nvPr/>
          </p:nvSpPr>
          <p:spPr>
            <a:xfrm>
              <a:off x="8420100" y="3543300"/>
              <a:ext cx="457200" cy="20005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pPr algn="ctr"/>
              <a:r>
                <a:rPr lang="en-US" altLang="zh-CN" sz="1300" b="1">
                  <a:solidFill>
                    <a:srgbClr val="D6AD61"/>
                  </a:solidFill>
                  <a:latin typeface="Consolas" panose="020B0609020204030204" pitchFamily="49" charset="0"/>
                </a:rPr>
                <a:t>4</a:t>
              </a:r>
              <a:endParaRPr lang="zh-CN" altLang="en-US" sz="1300" b="1">
                <a:solidFill>
                  <a:srgbClr val="D6AD6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B45C7014-5C30-1228-1DC7-CA5859BDE8B3}"/>
                </a:ext>
              </a:extLst>
            </p:cNvPr>
            <p:cNvSpPr txBox="1"/>
            <p:nvPr/>
          </p:nvSpPr>
          <p:spPr>
            <a:xfrm>
              <a:off x="8420100" y="4102100"/>
              <a:ext cx="1807633" cy="29238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900" b="1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形成流程</a:t>
              </a:r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5B1FF542-7F43-1693-4D83-2F3228088DCF}"/>
                </a:ext>
              </a:extLst>
            </p:cNvPr>
            <p:cNvSpPr txBox="1"/>
            <p:nvPr/>
          </p:nvSpPr>
          <p:spPr>
            <a:xfrm>
              <a:off x="8420100" y="4559300"/>
              <a:ext cx="1833033" cy="40011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3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哪些步骤规则化？哪些判断必须人做？</a:t>
              </a:r>
            </a:p>
          </p:txBody>
        </p:sp>
      </p:grpSp>
      <p:grpSp>
        <p:nvGrpSpPr>
          <p:cNvPr id="74" name="step_5">
            <a:extLst>
              <a:ext uri="{FF2B5EF4-FFF2-40B4-BE49-F238E27FC236}">
                <a16:creationId xmlns:a16="http://schemas.microsoft.com/office/drawing/2014/main" id="{DAFCBFB9-0CD9-05CD-CB7F-C5469BA7241F}"/>
              </a:ext>
            </a:extLst>
          </p:cNvPr>
          <p:cNvGrpSpPr/>
          <p:nvPr/>
        </p:nvGrpSpPr>
        <p:grpSpPr>
          <a:xfrm>
            <a:off x="10532533" y="3238500"/>
            <a:ext cx="2214033" cy="2413000"/>
            <a:chOff x="10532533" y="3238500"/>
            <a:chExt cx="2214033" cy="2413000"/>
          </a:xfrm>
        </p:grpSpPr>
        <p:sp>
          <p:nvSpPr>
            <p:cNvPr id="69" name="矩形: 圆角 68">
              <a:extLst>
                <a:ext uri="{FF2B5EF4-FFF2-40B4-BE49-F238E27FC236}">
                  <a16:creationId xmlns:a16="http://schemas.microsoft.com/office/drawing/2014/main" id="{A159B1CA-11E3-56C4-3A4F-4EA17E63D66D}"/>
                </a:ext>
              </a:extLst>
            </p:cNvPr>
            <p:cNvSpPr/>
            <p:nvPr/>
          </p:nvSpPr>
          <p:spPr>
            <a:xfrm>
              <a:off x="10532533" y="3238500"/>
              <a:ext cx="2214033" cy="2413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>
              <a:solidFill>
                <a:srgbClr val="2B34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35BC85D5-A19D-AFD8-9BF1-589824A76E7E}"/>
                </a:ext>
              </a:extLst>
            </p:cNvPr>
            <p:cNvSpPr/>
            <p:nvPr/>
          </p:nvSpPr>
          <p:spPr>
            <a:xfrm>
              <a:off x="10761133" y="3467100"/>
              <a:ext cx="457200" cy="457200"/>
            </a:xfrm>
            <a:prstGeom prst="ellipse">
              <a:avLst/>
            </a:prstGeom>
            <a:noFill/>
            <a:ln w="15240" cap="flat" cmpd="sng" algn="ctr">
              <a:solidFill>
                <a:srgbClr val="D6AD6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1C2B1715-8840-D485-049C-A8ECFC6A137B}"/>
                </a:ext>
              </a:extLst>
            </p:cNvPr>
            <p:cNvSpPr txBox="1"/>
            <p:nvPr/>
          </p:nvSpPr>
          <p:spPr>
            <a:xfrm>
              <a:off x="10761133" y="3543300"/>
              <a:ext cx="457200" cy="20005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pPr algn="ctr"/>
              <a:r>
                <a:rPr lang="en-US" altLang="zh-CN" sz="1300" b="1">
                  <a:solidFill>
                    <a:srgbClr val="D6AD61"/>
                  </a:solidFill>
                  <a:latin typeface="Consolas" panose="020B0609020204030204" pitchFamily="49" charset="0"/>
                </a:rPr>
                <a:t>5</a:t>
              </a:r>
              <a:endParaRPr lang="zh-CN" altLang="en-US" sz="1300" b="1">
                <a:solidFill>
                  <a:srgbClr val="D6AD6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0148438E-F42F-B482-670F-86D0B5E797B5}"/>
                </a:ext>
              </a:extLst>
            </p:cNvPr>
            <p:cNvSpPr txBox="1"/>
            <p:nvPr/>
          </p:nvSpPr>
          <p:spPr>
            <a:xfrm>
              <a:off x="10761133" y="4102100"/>
              <a:ext cx="1807633" cy="29238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900" b="1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做成工具</a:t>
              </a: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27366A75-3BBF-E27F-BB06-07C72420C4CB}"/>
                </a:ext>
              </a:extLst>
            </p:cNvPr>
            <p:cNvSpPr txBox="1"/>
            <p:nvPr/>
          </p:nvSpPr>
          <p:spPr>
            <a:xfrm>
              <a:off x="10761133" y="4559300"/>
              <a:ext cx="1833033" cy="40011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3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提示词、</a:t>
              </a:r>
              <a:r>
                <a:rPr lang="en-US" altLang="zh-CN" sz="13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Checklist</a:t>
              </a:r>
              <a:r>
                <a:rPr lang="zh-CN" altLang="en-US" sz="13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、表格、小网页、脚本。</a:t>
              </a:r>
            </a:p>
          </p:txBody>
        </p:sp>
      </p:grpSp>
      <p:grpSp>
        <p:nvGrpSpPr>
          <p:cNvPr id="80" name="step_6">
            <a:extLst>
              <a:ext uri="{FF2B5EF4-FFF2-40B4-BE49-F238E27FC236}">
                <a16:creationId xmlns:a16="http://schemas.microsoft.com/office/drawing/2014/main" id="{FE479318-7705-2CDB-A0FE-0B08810A34F5}"/>
              </a:ext>
            </a:extLst>
          </p:cNvPr>
          <p:cNvGrpSpPr/>
          <p:nvPr/>
        </p:nvGrpSpPr>
        <p:grpSpPr>
          <a:xfrm>
            <a:off x="12873567" y="3238500"/>
            <a:ext cx="2214033" cy="2413000"/>
            <a:chOff x="12873567" y="3238500"/>
            <a:chExt cx="2214033" cy="2413000"/>
          </a:xfrm>
        </p:grpSpPr>
        <p:sp>
          <p:nvSpPr>
            <p:cNvPr id="75" name="矩形: 圆角 74">
              <a:extLst>
                <a:ext uri="{FF2B5EF4-FFF2-40B4-BE49-F238E27FC236}">
                  <a16:creationId xmlns:a16="http://schemas.microsoft.com/office/drawing/2014/main" id="{47369103-97C0-3C33-E05C-93EAB786732F}"/>
                </a:ext>
              </a:extLst>
            </p:cNvPr>
            <p:cNvSpPr/>
            <p:nvPr/>
          </p:nvSpPr>
          <p:spPr>
            <a:xfrm>
              <a:off x="12873567" y="3238500"/>
              <a:ext cx="2214033" cy="2413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>
              <a:solidFill>
                <a:srgbClr val="2B34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77986FF7-71A0-6BAB-9693-056819DC9EE8}"/>
                </a:ext>
              </a:extLst>
            </p:cNvPr>
            <p:cNvSpPr/>
            <p:nvPr/>
          </p:nvSpPr>
          <p:spPr>
            <a:xfrm>
              <a:off x="13102166" y="3467100"/>
              <a:ext cx="457200" cy="457200"/>
            </a:xfrm>
            <a:prstGeom prst="ellipse">
              <a:avLst/>
            </a:prstGeom>
            <a:noFill/>
            <a:ln w="15240" cap="flat" cmpd="sng" algn="ctr">
              <a:solidFill>
                <a:srgbClr val="D6AD6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8CBD1208-E8DA-8910-CA2B-0F58BAA1A7FF}"/>
                </a:ext>
              </a:extLst>
            </p:cNvPr>
            <p:cNvSpPr txBox="1"/>
            <p:nvPr/>
          </p:nvSpPr>
          <p:spPr>
            <a:xfrm>
              <a:off x="13102166" y="3543300"/>
              <a:ext cx="457200" cy="20005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pPr algn="ctr"/>
              <a:r>
                <a:rPr lang="en-US" altLang="zh-CN" sz="1300" b="1">
                  <a:solidFill>
                    <a:srgbClr val="D6AD61"/>
                  </a:solidFill>
                  <a:latin typeface="Consolas" panose="020B0609020204030204" pitchFamily="49" charset="0"/>
                </a:rPr>
                <a:t>6</a:t>
              </a:r>
              <a:endParaRPr lang="zh-CN" altLang="en-US" sz="1300" b="1">
                <a:solidFill>
                  <a:srgbClr val="D6AD6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36B92BB8-38C4-A9C8-7B01-E18188AFCE88}"/>
                </a:ext>
              </a:extLst>
            </p:cNvPr>
            <p:cNvSpPr txBox="1"/>
            <p:nvPr/>
          </p:nvSpPr>
          <p:spPr>
            <a:xfrm>
              <a:off x="13102166" y="4102100"/>
              <a:ext cx="1807633" cy="29238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900" b="1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复用迭代</a:t>
              </a:r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F6EC7D5C-2923-141D-4FED-84531E8300CC}"/>
                </a:ext>
              </a:extLst>
            </p:cNvPr>
            <p:cNvSpPr txBox="1"/>
            <p:nvPr/>
          </p:nvSpPr>
          <p:spPr>
            <a:xfrm>
              <a:off x="13102166" y="4559300"/>
              <a:ext cx="1833033" cy="40011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3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跑一次不算提效，下次复用才是提效。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93268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13">
            <a:extLst>
              <a:ext uri="{FF2B5EF4-FFF2-40B4-BE49-F238E27FC236}">
                <a16:creationId xmlns:a16="http://schemas.microsoft.com/office/drawing/2014/main" id="{5A7AD316-8AA0-5AF4-112C-CDA7A875D050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70B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CAD708A-2704-408F-26AE-3DAA96F95BBD}"/>
              </a:ext>
            </a:extLst>
          </p:cNvPr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D6AD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F60F1F35-5B84-45E8-8FF7-E50214711EAB}"/>
              </a:ext>
            </a:extLst>
          </p:cNvPr>
          <p:cNvSpPr/>
          <p:nvPr/>
        </p:nvSpPr>
        <p:spPr>
          <a:xfrm>
            <a:off x="762000" y="571500"/>
            <a:ext cx="3937000" cy="3937000"/>
          </a:xfrm>
          <a:prstGeom prst="ellipse">
            <a:avLst/>
          </a:prstGeom>
          <a:solidFill>
            <a:srgbClr val="D6AD61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B33EDD1C-0F56-F887-521F-4AC0459770AA}"/>
              </a:ext>
            </a:extLst>
          </p:cNvPr>
          <p:cNvSpPr/>
          <p:nvPr/>
        </p:nvSpPr>
        <p:spPr>
          <a:xfrm>
            <a:off x="11430000" y="889000"/>
            <a:ext cx="3556000" cy="3556000"/>
          </a:xfrm>
          <a:prstGeom prst="ellipse">
            <a:avLst/>
          </a:prstGeom>
          <a:solidFill>
            <a:srgbClr val="20C7AE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10630B5-E7FD-7139-76F6-9DED0B04E81E}"/>
              </a:ext>
            </a:extLst>
          </p:cNvPr>
          <p:cNvSpPr/>
          <p:nvPr/>
        </p:nvSpPr>
        <p:spPr>
          <a:xfrm>
            <a:off x="10414000" y="5969000"/>
            <a:ext cx="3302000" cy="3302000"/>
          </a:xfrm>
          <a:prstGeom prst="ellipse">
            <a:avLst/>
          </a:prstGeom>
          <a:solidFill>
            <a:srgbClr val="9B75F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10D4DA3-E2F6-B818-4E41-3C85F5EE200A}"/>
              </a:ext>
            </a:extLst>
          </p:cNvPr>
          <p:cNvCxnSpPr/>
          <p:nvPr/>
        </p:nvCxnSpPr>
        <p:spPr>
          <a:xfrm>
            <a:off x="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0877A8A-88CA-3888-FB5D-19A4612A1511}"/>
              </a:ext>
            </a:extLst>
          </p:cNvPr>
          <p:cNvCxnSpPr/>
          <p:nvPr/>
        </p:nvCxnSpPr>
        <p:spPr>
          <a:xfrm>
            <a:off x="812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E0307CBB-D363-7E09-91C5-9D60B4AD00A6}"/>
              </a:ext>
            </a:extLst>
          </p:cNvPr>
          <p:cNvCxnSpPr/>
          <p:nvPr/>
        </p:nvCxnSpPr>
        <p:spPr>
          <a:xfrm>
            <a:off x="1625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436F858-C0DB-69BD-7B67-6E536208A3F3}"/>
              </a:ext>
            </a:extLst>
          </p:cNvPr>
          <p:cNvCxnSpPr/>
          <p:nvPr/>
        </p:nvCxnSpPr>
        <p:spPr>
          <a:xfrm>
            <a:off x="2438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65FF7024-DB02-FB34-75B9-7D5B366673EC}"/>
              </a:ext>
            </a:extLst>
          </p:cNvPr>
          <p:cNvCxnSpPr/>
          <p:nvPr/>
        </p:nvCxnSpPr>
        <p:spPr>
          <a:xfrm>
            <a:off x="3251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F815833C-3B5A-E186-6A3C-C3F3812A9BE0}"/>
              </a:ext>
            </a:extLst>
          </p:cNvPr>
          <p:cNvCxnSpPr/>
          <p:nvPr/>
        </p:nvCxnSpPr>
        <p:spPr>
          <a:xfrm>
            <a:off x="4064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5920327-4015-1156-3016-CC659C6D155F}"/>
              </a:ext>
            </a:extLst>
          </p:cNvPr>
          <p:cNvCxnSpPr/>
          <p:nvPr/>
        </p:nvCxnSpPr>
        <p:spPr>
          <a:xfrm>
            <a:off x="4876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9DBFA9BB-3A2E-DE8C-2734-F04CCF323246}"/>
              </a:ext>
            </a:extLst>
          </p:cNvPr>
          <p:cNvCxnSpPr/>
          <p:nvPr/>
        </p:nvCxnSpPr>
        <p:spPr>
          <a:xfrm>
            <a:off x="5689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9BA2D35D-868C-BC7F-9762-9968B39E9DD7}"/>
              </a:ext>
            </a:extLst>
          </p:cNvPr>
          <p:cNvCxnSpPr/>
          <p:nvPr/>
        </p:nvCxnSpPr>
        <p:spPr>
          <a:xfrm>
            <a:off x="6502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D917BC96-7B88-A720-E460-25CF1CC21088}"/>
              </a:ext>
            </a:extLst>
          </p:cNvPr>
          <p:cNvCxnSpPr/>
          <p:nvPr/>
        </p:nvCxnSpPr>
        <p:spPr>
          <a:xfrm>
            <a:off x="7315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C25ED21-ACBE-58B5-641D-79B1B3816403}"/>
              </a:ext>
            </a:extLst>
          </p:cNvPr>
          <p:cNvCxnSpPr/>
          <p:nvPr/>
        </p:nvCxnSpPr>
        <p:spPr>
          <a:xfrm>
            <a:off x="8128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9AF7C6EF-F14D-F5F5-581A-AC0A1F50745C}"/>
              </a:ext>
            </a:extLst>
          </p:cNvPr>
          <p:cNvCxnSpPr/>
          <p:nvPr/>
        </p:nvCxnSpPr>
        <p:spPr>
          <a:xfrm>
            <a:off x="8940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AB55A19D-09BC-CFCA-3A02-076419476552}"/>
              </a:ext>
            </a:extLst>
          </p:cNvPr>
          <p:cNvCxnSpPr/>
          <p:nvPr/>
        </p:nvCxnSpPr>
        <p:spPr>
          <a:xfrm>
            <a:off x="9753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107DBB7F-CC28-04DF-C9BF-6319219C944E}"/>
              </a:ext>
            </a:extLst>
          </p:cNvPr>
          <p:cNvCxnSpPr/>
          <p:nvPr/>
        </p:nvCxnSpPr>
        <p:spPr>
          <a:xfrm>
            <a:off x="10566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A7922400-F502-1E51-2D85-65B6880E3573}"/>
              </a:ext>
            </a:extLst>
          </p:cNvPr>
          <p:cNvCxnSpPr/>
          <p:nvPr/>
        </p:nvCxnSpPr>
        <p:spPr>
          <a:xfrm>
            <a:off x="11379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42A6323B-4EE7-793E-CD5F-5A4DB792EFE8}"/>
              </a:ext>
            </a:extLst>
          </p:cNvPr>
          <p:cNvCxnSpPr/>
          <p:nvPr/>
        </p:nvCxnSpPr>
        <p:spPr>
          <a:xfrm>
            <a:off x="12192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16816290-5CC2-4D36-BB51-A9CDF63B9456}"/>
              </a:ext>
            </a:extLst>
          </p:cNvPr>
          <p:cNvCxnSpPr/>
          <p:nvPr/>
        </p:nvCxnSpPr>
        <p:spPr>
          <a:xfrm>
            <a:off x="13004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98892FC2-84D8-A443-8B5E-4249B680CF11}"/>
              </a:ext>
            </a:extLst>
          </p:cNvPr>
          <p:cNvCxnSpPr/>
          <p:nvPr/>
        </p:nvCxnSpPr>
        <p:spPr>
          <a:xfrm>
            <a:off x="13817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08CAA3BF-6F1A-3EBE-0247-7D4589169B8E}"/>
              </a:ext>
            </a:extLst>
          </p:cNvPr>
          <p:cNvCxnSpPr/>
          <p:nvPr/>
        </p:nvCxnSpPr>
        <p:spPr>
          <a:xfrm>
            <a:off x="14630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31020B4A-FB47-7C53-ABFD-774ABBC924D3}"/>
              </a:ext>
            </a:extLst>
          </p:cNvPr>
          <p:cNvCxnSpPr/>
          <p:nvPr/>
        </p:nvCxnSpPr>
        <p:spPr>
          <a:xfrm>
            <a:off x="15443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70DDE72D-135B-6748-BF74-9531741052E3}"/>
              </a:ext>
            </a:extLst>
          </p:cNvPr>
          <p:cNvCxnSpPr/>
          <p:nvPr/>
        </p:nvCxnSpPr>
        <p:spPr>
          <a:xfrm>
            <a:off x="0" y="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A2E829B-B64A-7B07-5FD3-DD26BB3A26E2}"/>
              </a:ext>
            </a:extLst>
          </p:cNvPr>
          <p:cNvCxnSpPr/>
          <p:nvPr/>
        </p:nvCxnSpPr>
        <p:spPr>
          <a:xfrm>
            <a:off x="0" y="812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23492AE2-791E-A76F-C6CF-F884560166FE}"/>
              </a:ext>
            </a:extLst>
          </p:cNvPr>
          <p:cNvCxnSpPr/>
          <p:nvPr/>
        </p:nvCxnSpPr>
        <p:spPr>
          <a:xfrm>
            <a:off x="0" y="1625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B196C604-5FBA-DEF6-04D3-2EE6A01A1655}"/>
              </a:ext>
            </a:extLst>
          </p:cNvPr>
          <p:cNvCxnSpPr/>
          <p:nvPr/>
        </p:nvCxnSpPr>
        <p:spPr>
          <a:xfrm>
            <a:off x="0" y="2438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8867285-5DBE-533C-9AD3-9EB487E2E07A}"/>
              </a:ext>
            </a:extLst>
          </p:cNvPr>
          <p:cNvCxnSpPr/>
          <p:nvPr/>
        </p:nvCxnSpPr>
        <p:spPr>
          <a:xfrm>
            <a:off x="0" y="3251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9B361169-2954-818C-E130-87BC83655A1A}"/>
              </a:ext>
            </a:extLst>
          </p:cNvPr>
          <p:cNvCxnSpPr/>
          <p:nvPr/>
        </p:nvCxnSpPr>
        <p:spPr>
          <a:xfrm>
            <a:off x="0" y="4064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7196616A-C3FE-6E1F-9186-7677E5AA44A3}"/>
              </a:ext>
            </a:extLst>
          </p:cNvPr>
          <p:cNvCxnSpPr/>
          <p:nvPr/>
        </p:nvCxnSpPr>
        <p:spPr>
          <a:xfrm>
            <a:off x="0" y="4876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A90A9832-DC59-8FAF-3784-759A68A490A7}"/>
              </a:ext>
            </a:extLst>
          </p:cNvPr>
          <p:cNvCxnSpPr/>
          <p:nvPr/>
        </p:nvCxnSpPr>
        <p:spPr>
          <a:xfrm>
            <a:off x="0" y="5689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01FA21B8-8E00-1F9E-6325-63D942423F61}"/>
              </a:ext>
            </a:extLst>
          </p:cNvPr>
          <p:cNvCxnSpPr/>
          <p:nvPr/>
        </p:nvCxnSpPr>
        <p:spPr>
          <a:xfrm>
            <a:off x="0" y="6502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6141FEA2-A5F6-497F-5DB8-EA459DCC9A16}"/>
              </a:ext>
            </a:extLst>
          </p:cNvPr>
          <p:cNvCxnSpPr/>
          <p:nvPr/>
        </p:nvCxnSpPr>
        <p:spPr>
          <a:xfrm>
            <a:off x="0" y="7315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48747AFB-5DB8-8C94-EEB9-65385AA0DC22}"/>
              </a:ext>
            </a:extLst>
          </p:cNvPr>
          <p:cNvCxnSpPr/>
          <p:nvPr/>
        </p:nvCxnSpPr>
        <p:spPr>
          <a:xfrm>
            <a:off x="0" y="8128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309A74BB-9921-60A6-F5B8-F589889887C7}"/>
              </a:ext>
            </a:extLst>
          </p:cNvPr>
          <p:cNvCxnSpPr/>
          <p:nvPr/>
        </p:nvCxnSpPr>
        <p:spPr>
          <a:xfrm>
            <a:off x="0" y="8940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1808E571-934A-8A27-767B-A6DD8AB7E20E}"/>
              </a:ext>
            </a:extLst>
          </p:cNvPr>
          <p:cNvSpPr txBox="1"/>
          <p:nvPr/>
        </p:nvSpPr>
        <p:spPr>
          <a:xfrm>
            <a:off x="914400" y="609600"/>
            <a:ext cx="11430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400">
                <a:solidFill>
                  <a:srgbClr val="D6AD61"/>
                </a:solidFill>
                <a:latin typeface="Consolas" panose="020B0609020204030204" pitchFamily="49" charset="0"/>
              </a:rPr>
              <a:t>Demo Options</a:t>
            </a:r>
            <a:endParaRPr lang="zh-CN" altLang="en-US" sz="1400">
              <a:solidFill>
                <a:srgbClr val="D6AD6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459246B-2D67-4718-3154-BAD06E80C3B6}"/>
              </a:ext>
            </a:extLst>
          </p:cNvPr>
          <p:cNvSpPr txBox="1"/>
          <p:nvPr/>
        </p:nvSpPr>
        <p:spPr>
          <a:xfrm>
            <a:off x="914400" y="990600"/>
            <a:ext cx="13208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600" b="1">
                <a:solidFill>
                  <a:srgbClr val="EFECE5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现场可以演示的三个小案例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FF4F656E-37C0-7F05-3B1C-7134FB511142}"/>
              </a:ext>
            </a:extLst>
          </p:cNvPr>
          <p:cNvSpPr txBox="1"/>
          <p:nvPr/>
        </p:nvSpPr>
        <p:spPr>
          <a:xfrm>
            <a:off x="914400" y="1905000"/>
            <a:ext cx="1270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选一个真实案例跑，不要只讲概念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EF6BBB7-B37F-CEFB-CAD5-218CBCCECE17}"/>
              </a:ext>
            </a:extLst>
          </p:cNvPr>
          <p:cNvSpPr txBox="1"/>
          <p:nvPr/>
        </p:nvSpPr>
        <p:spPr>
          <a:xfrm>
            <a:off x="914400" y="8686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1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驯化野生硅基伙伴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731B195E-5423-9DA1-9D80-8945AB3185DA}"/>
              </a:ext>
            </a:extLst>
          </p:cNvPr>
          <p:cNvSpPr txBox="1"/>
          <p:nvPr/>
        </p:nvSpPr>
        <p:spPr>
          <a:xfrm>
            <a:off x="14732000" y="86868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697184"/>
                </a:solidFill>
                <a:latin typeface="Consolas" panose="020B0609020204030204" pitchFamily="49" charset="0"/>
              </a:rPr>
              <a:t>13 / 18</a:t>
            </a:r>
            <a:endParaRPr lang="zh-CN" altLang="en-US" sz="1100">
              <a:solidFill>
                <a:srgbClr val="697184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E4D3DE8-792A-8746-2C5C-DC8EB97F4B5E}"/>
              </a:ext>
            </a:extLst>
          </p:cNvPr>
          <p:cNvSpPr/>
          <p:nvPr/>
        </p:nvSpPr>
        <p:spPr>
          <a:xfrm>
            <a:off x="0" y="9093200"/>
            <a:ext cx="11740445" cy="50800"/>
          </a:xfrm>
          <a:prstGeom prst="rect">
            <a:avLst/>
          </a:prstGeom>
          <a:solidFill>
            <a:srgbClr val="20C7A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9" name="card_37">
            <a:extLst>
              <a:ext uri="{FF2B5EF4-FFF2-40B4-BE49-F238E27FC236}">
                <a16:creationId xmlns:a16="http://schemas.microsoft.com/office/drawing/2014/main" id="{1E0A4DC2-151E-3231-CA4E-6FF842D089FE}"/>
              </a:ext>
            </a:extLst>
          </p:cNvPr>
          <p:cNvGrpSpPr/>
          <p:nvPr/>
        </p:nvGrpSpPr>
        <p:grpSpPr>
          <a:xfrm>
            <a:off x="1168400" y="2857500"/>
            <a:ext cx="4487333" cy="2667000"/>
            <a:chOff x="1168400" y="2857500"/>
            <a:chExt cx="4487333" cy="2667000"/>
          </a:xfrm>
        </p:grpSpPr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7FD37208-B52B-66F9-0B44-1A4139C86708}"/>
                </a:ext>
              </a:extLst>
            </p:cNvPr>
            <p:cNvSpPr/>
            <p:nvPr/>
          </p:nvSpPr>
          <p:spPr>
            <a:xfrm>
              <a:off x="1168400" y="2857500"/>
              <a:ext cx="4487333" cy="2667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850724F6-E88C-1AA4-C390-E654C17CFA0B}"/>
                </a:ext>
              </a:extLst>
            </p:cNvPr>
            <p:cNvSpPr/>
            <p:nvPr/>
          </p:nvSpPr>
          <p:spPr>
            <a:xfrm>
              <a:off x="1168400" y="2857500"/>
              <a:ext cx="63500" cy="2667000"/>
            </a:xfrm>
            <a:prstGeom prst="rect">
              <a:avLst/>
            </a:prstGeom>
            <a:solidFill>
              <a:srgbClr val="D6AD6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4A3B0A6D-4CB8-72AC-AB75-10CF78422B0A}"/>
                </a:ext>
              </a:extLst>
            </p:cNvPr>
            <p:cNvSpPr txBox="1"/>
            <p:nvPr/>
          </p:nvSpPr>
          <p:spPr>
            <a:xfrm>
              <a:off x="1498600" y="3136900"/>
              <a:ext cx="3928533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400" b="1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会议纪要 → 行动项工具</a:t>
              </a: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9608A04C-4377-5A2E-9308-FAAE360C7368}"/>
                </a:ext>
              </a:extLst>
            </p:cNvPr>
            <p:cNvSpPr txBox="1"/>
            <p:nvPr/>
          </p:nvSpPr>
          <p:spPr>
            <a:xfrm>
              <a:off x="1498600" y="3683000"/>
              <a:ext cx="3928533" cy="52322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输入会议纪要，输出“谁 </a:t>
              </a:r>
              <a:r>
                <a:rPr lang="en-US" altLang="zh-CN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/ 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什么时间 </a:t>
              </a:r>
              <a:r>
                <a:rPr lang="en-US" altLang="zh-CN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/ 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做什么 </a:t>
              </a:r>
              <a:r>
                <a:rPr lang="en-US" altLang="zh-CN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/ 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到什么程度”。</a:t>
              </a:r>
            </a:p>
          </p:txBody>
        </p:sp>
      </p:grpSp>
      <p:grpSp>
        <p:nvGrpSpPr>
          <p:cNvPr id="54" name="card_38">
            <a:extLst>
              <a:ext uri="{FF2B5EF4-FFF2-40B4-BE49-F238E27FC236}">
                <a16:creationId xmlns:a16="http://schemas.microsoft.com/office/drawing/2014/main" id="{D0EB3C45-F737-9A40-A9F0-5D06444369AE}"/>
              </a:ext>
            </a:extLst>
          </p:cNvPr>
          <p:cNvGrpSpPr/>
          <p:nvPr/>
        </p:nvGrpSpPr>
        <p:grpSpPr>
          <a:xfrm>
            <a:off x="5884333" y="2857500"/>
            <a:ext cx="4487334" cy="2667000"/>
            <a:chOff x="5884333" y="2857500"/>
            <a:chExt cx="4487334" cy="2667000"/>
          </a:xfrm>
        </p:grpSpPr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2B2777CC-1C4E-D1F2-A157-E709F88F598B}"/>
                </a:ext>
              </a:extLst>
            </p:cNvPr>
            <p:cNvSpPr/>
            <p:nvPr/>
          </p:nvSpPr>
          <p:spPr>
            <a:xfrm>
              <a:off x="5884333" y="2857500"/>
              <a:ext cx="4487334" cy="2667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519953F3-2C49-5297-83F3-53B76916FC5C}"/>
                </a:ext>
              </a:extLst>
            </p:cNvPr>
            <p:cNvSpPr/>
            <p:nvPr/>
          </p:nvSpPr>
          <p:spPr>
            <a:xfrm>
              <a:off x="5884333" y="2857500"/>
              <a:ext cx="63500" cy="2667000"/>
            </a:xfrm>
            <a:prstGeom prst="rect">
              <a:avLst/>
            </a:prstGeom>
            <a:solidFill>
              <a:srgbClr val="20C7A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0EE8FCED-6628-5A88-6DFA-ADDDCA3CDCA5}"/>
                </a:ext>
              </a:extLst>
            </p:cNvPr>
            <p:cNvSpPr txBox="1"/>
            <p:nvPr/>
          </p:nvSpPr>
          <p:spPr>
            <a:xfrm>
              <a:off x="6214533" y="3136900"/>
              <a:ext cx="3928533" cy="738664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400" b="1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方案评审 → </a:t>
              </a:r>
              <a:r>
                <a:rPr lang="en-US" altLang="zh-CN" sz="2400" b="1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Checklist </a:t>
              </a:r>
              <a:r>
                <a:rPr lang="zh-CN" altLang="en-US" sz="2400" b="1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生成器</a:t>
              </a: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0114693B-B9D8-663B-AFD4-2B097B08C47A}"/>
                </a:ext>
              </a:extLst>
            </p:cNvPr>
            <p:cNvSpPr txBox="1"/>
            <p:nvPr/>
          </p:nvSpPr>
          <p:spPr>
            <a:xfrm>
              <a:off x="6214533" y="3683000"/>
              <a:ext cx="3928533" cy="52322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从用户、研发、测试、运营、制作人五个视角生成评审问题。</a:t>
              </a:r>
            </a:p>
          </p:txBody>
        </p:sp>
      </p:grpSp>
      <p:grpSp>
        <p:nvGrpSpPr>
          <p:cNvPr id="59" name="card_39">
            <a:extLst>
              <a:ext uri="{FF2B5EF4-FFF2-40B4-BE49-F238E27FC236}">
                <a16:creationId xmlns:a16="http://schemas.microsoft.com/office/drawing/2014/main" id="{E685E267-C020-3549-953A-AFEBB7C84A36}"/>
              </a:ext>
            </a:extLst>
          </p:cNvPr>
          <p:cNvGrpSpPr/>
          <p:nvPr/>
        </p:nvGrpSpPr>
        <p:grpSpPr>
          <a:xfrm>
            <a:off x="10600267" y="2857500"/>
            <a:ext cx="4487333" cy="2667000"/>
            <a:chOff x="10600267" y="2857500"/>
            <a:chExt cx="4487333" cy="2667000"/>
          </a:xfrm>
        </p:grpSpPr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7530A21D-FE1D-4201-1554-4353BE6AA904}"/>
                </a:ext>
              </a:extLst>
            </p:cNvPr>
            <p:cNvSpPr/>
            <p:nvPr/>
          </p:nvSpPr>
          <p:spPr>
            <a:xfrm>
              <a:off x="10600267" y="2857500"/>
              <a:ext cx="4487333" cy="2667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CE516003-53DC-0CE2-7686-BA46336E9BB5}"/>
                </a:ext>
              </a:extLst>
            </p:cNvPr>
            <p:cNvSpPr/>
            <p:nvPr/>
          </p:nvSpPr>
          <p:spPr>
            <a:xfrm>
              <a:off x="10600267" y="2857500"/>
              <a:ext cx="63500" cy="2667000"/>
            </a:xfrm>
            <a:prstGeom prst="rect">
              <a:avLst/>
            </a:prstGeom>
            <a:solidFill>
              <a:srgbClr val="9B75F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54C8CC69-C3AA-B268-2D46-FB08AB969058}"/>
                </a:ext>
              </a:extLst>
            </p:cNvPr>
            <p:cNvSpPr txBox="1"/>
            <p:nvPr/>
          </p:nvSpPr>
          <p:spPr>
            <a:xfrm>
              <a:off x="10930467" y="3136900"/>
              <a:ext cx="3928533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400" b="1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周报素材 → 汇报草稿</a:t>
              </a: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E466DF38-538D-29A9-AC76-6D2C64EECD99}"/>
                </a:ext>
              </a:extLst>
            </p:cNvPr>
            <p:cNvSpPr txBox="1"/>
            <p:nvPr/>
          </p:nvSpPr>
          <p:spPr>
            <a:xfrm>
              <a:off x="10930467" y="3683000"/>
              <a:ext cx="3928533" cy="52322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把任务、会议、待办压成给上级看的结论、风险、下周重点。</a:t>
              </a:r>
            </a:p>
          </p:txBody>
        </p:sp>
      </p:grpSp>
      <p:grpSp>
        <p:nvGrpSpPr>
          <p:cNvPr id="63" name="quote_40">
            <a:extLst>
              <a:ext uri="{FF2B5EF4-FFF2-40B4-BE49-F238E27FC236}">
                <a16:creationId xmlns:a16="http://schemas.microsoft.com/office/drawing/2014/main" id="{A052C61E-D364-F643-A0EC-57C20C27BFB1}"/>
              </a:ext>
            </a:extLst>
          </p:cNvPr>
          <p:cNvGrpSpPr/>
          <p:nvPr/>
        </p:nvGrpSpPr>
        <p:grpSpPr>
          <a:xfrm>
            <a:off x="914400" y="7670800"/>
            <a:ext cx="14427200" cy="889000"/>
            <a:chOff x="914400" y="7670800"/>
            <a:chExt cx="14427200" cy="889000"/>
          </a:xfrm>
        </p:grpSpPr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86F3246A-11A8-CC05-B7B6-400B0BCAA9B3}"/>
                </a:ext>
              </a:extLst>
            </p:cNvPr>
            <p:cNvSpPr/>
            <p:nvPr/>
          </p:nvSpPr>
          <p:spPr>
            <a:xfrm>
              <a:off x="914400" y="7670800"/>
              <a:ext cx="14427200" cy="889000"/>
            </a:xfrm>
            <a:prstGeom prst="roundRect">
              <a:avLst/>
            </a:prstGeom>
            <a:solidFill>
              <a:srgbClr val="20C7AE">
                <a:alpha val="12000"/>
              </a:srgbClr>
            </a:solidFill>
            <a:ln w="12700" cap="flat" cmpd="sng" algn="ctr">
              <a:solidFill>
                <a:srgbClr val="20C7AE">
                  <a:alpha val="5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119B8C47-3FEC-8D88-741C-E5FF42A1E723}"/>
                </a:ext>
              </a:extLst>
            </p:cNvPr>
            <p:cNvSpPr/>
            <p:nvPr/>
          </p:nvSpPr>
          <p:spPr>
            <a:xfrm>
              <a:off x="914400" y="7670800"/>
              <a:ext cx="76200" cy="889000"/>
            </a:xfrm>
            <a:prstGeom prst="rect">
              <a:avLst/>
            </a:prstGeom>
            <a:solidFill>
              <a:srgbClr val="20C7A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934E8278-C618-505B-5DFD-079AE233C902}"/>
                </a:ext>
              </a:extLst>
            </p:cNvPr>
            <p:cNvSpPr txBox="1"/>
            <p:nvPr/>
          </p:nvSpPr>
          <p:spPr>
            <a:xfrm>
              <a:off x="1270000" y="7874000"/>
              <a:ext cx="137668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演示重点：展示“痛点 → </a:t>
              </a:r>
              <a:r>
                <a:rPr lang="en-US" altLang="zh-CN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AI </a:t>
              </a:r>
              <a:r>
                <a:rPr lang="zh-CN" altLang="en-US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追问 → 流程化 → 可复用产物”，而不是展示某个工具多神。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99149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14">
            <a:extLst>
              <a:ext uri="{FF2B5EF4-FFF2-40B4-BE49-F238E27FC236}">
                <a16:creationId xmlns:a16="http://schemas.microsoft.com/office/drawing/2014/main" id="{1A472F3B-5BBD-5656-4D63-4B1608EA094F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70B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40B4AD7-173F-1159-07BC-65FC9BE1297E}"/>
              </a:ext>
            </a:extLst>
          </p:cNvPr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D6AD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62708661-61EF-0152-ECA4-BD707B98273C}"/>
              </a:ext>
            </a:extLst>
          </p:cNvPr>
          <p:cNvSpPr/>
          <p:nvPr/>
        </p:nvSpPr>
        <p:spPr>
          <a:xfrm>
            <a:off x="762000" y="571500"/>
            <a:ext cx="3937000" cy="3937000"/>
          </a:xfrm>
          <a:prstGeom prst="ellipse">
            <a:avLst/>
          </a:prstGeom>
          <a:solidFill>
            <a:srgbClr val="D6AD61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F31182BF-8015-14FA-D78E-C04C129D38D6}"/>
              </a:ext>
            </a:extLst>
          </p:cNvPr>
          <p:cNvSpPr/>
          <p:nvPr/>
        </p:nvSpPr>
        <p:spPr>
          <a:xfrm>
            <a:off x="11430000" y="889000"/>
            <a:ext cx="3556000" cy="3556000"/>
          </a:xfrm>
          <a:prstGeom prst="ellipse">
            <a:avLst/>
          </a:prstGeom>
          <a:solidFill>
            <a:srgbClr val="20C7AE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AAF2A5B-634E-E86E-5A43-362E3A2664FD}"/>
              </a:ext>
            </a:extLst>
          </p:cNvPr>
          <p:cNvSpPr/>
          <p:nvPr/>
        </p:nvSpPr>
        <p:spPr>
          <a:xfrm>
            <a:off x="10414000" y="5969000"/>
            <a:ext cx="3302000" cy="3302000"/>
          </a:xfrm>
          <a:prstGeom prst="ellipse">
            <a:avLst/>
          </a:prstGeom>
          <a:solidFill>
            <a:srgbClr val="9B75F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2F23840-A975-EF46-CE9F-F9F0AB429812}"/>
              </a:ext>
            </a:extLst>
          </p:cNvPr>
          <p:cNvCxnSpPr/>
          <p:nvPr/>
        </p:nvCxnSpPr>
        <p:spPr>
          <a:xfrm>
            <a:off x="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1E2FB39-846B-2A16-5B19-AAAFD66F3C4F}"/>
              </a:ext>
            </a:extLst>
          </p:cNvPr>
          <p:cNvCxnSpPr/>
          <p:nvPr/>
        </p:nvCxnSpPr>
        <p:spPr>
          <a:xfrm>
            <a:off x="812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0BB943E-104E-EB07-0BEE-B49E6FEA584B}"/>
              </a:ext>
            </a:extLst>
          </p:cNvPr>
          <p:cNvCxnSpPr/>
          <p:nvPr/>
        </p:nvCxnSpPr>
        <p:spPr>
          <a:xfrm>
            <a:off x="1625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01300564-A7DA-BCCF-FEB8-0D80DEEAA15D}"/>
              </a:ext>
            </a:extLst>
          </p:cNvPr>
          <p:cNvCxnSpPr/>
          <p:nvPr/>
        </p:nvCxnSpPr>
        <p:spPr>
          <a:xfrm>
            <a:off x="2438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E744CB05-FDF2-1D10-DAEE-C5D927518A44}"/>
              </a:ext>
            </a:extLst>
          </p:cNvPr>
          <p:cNvCxnSpPr/>
          <p:nvPr/>
        </p:nvCxnSpPr>
        <p:spPr>
          <a:xfrm>
            <a:off x="3251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84298EF-7E9D-FA04-4593-958AEDEE1826}"/>
              </a:ext>
            </a:extLst>
          </p:cNvPr>
          <p:cNvCxnSpPr/>
          <p:nvPr/>
        </p:nvCxnSpPr>
        <p:spPr>
          <a:xfrm>
            <a:off x="4064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D85A7676-C356-8916-26B7-3353C964C68C}"/>
              </a:ext>
            </a:extLst>
          </p:cNvPr>
          <p:cNvCxnSpPr/>
          <p:nvPr/>
        </p:nvCxnSpPr>
        <p:spPr>
          <a:xfrm>
            <a:off x="4876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F9D26F75-3AC1-3F25-3A69-6AB5E80CBCB3}"/>
              </a:ext>
            </a:extLst>
          </p:cNvPr>
          <p:cNvCxnSpPr/>
          <p:nvPr/>
        </p:nvCxnSpPr>
        <p:spPr>
          <a:xfrm>
            <a:off x="5689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74F97D37-ABF9-0E00-BF6C-E2CF814DBA08}"/>
              </a:ext>
            </a:extLst>
          </p:cNvPr>
          <p:cNvCxnSpPr/>
          <p:nvPr/>
        </p:nvCxnSpPr>
        <p:spPr>
          <a:xfrm>
            <a:off x="6502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1DCA4A42-4D25-E2E5-C551-3473146BC35C}"/>
              </a:ext>
            </a:extLst>
          </p:cNvPr>
          <p:cNvCxnSpPr/>
          <p:nvPr/>
        </p:nvCxnSpPr>
        <p:spPr>
          <a:xfrm>
            <a:off x="7315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2B872C6-E872-43B1-EA54-955D9B58A623}"/>
              </a:ext>
            </a:extLst>
          </p:cNvPr>
          <p:cNvCxnSpPr/>
          <p:nvPr/>
        </p:nvCxnSpPr>
        <p:spPr>
          <a:xfrm>
            <a:off x="8128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0BAD9CF2-F17E-515A-2FC7-DA7B85F15931}"/>
              </a:ext>
            </a:extLst>
          </p:cNvPr>
          <p:cNvCxnSpPr/>
          <p:nvPr/>
        </p:nvCxnSpPr>
        <p:spPr>
          <a:xfrm>
            <a:off x="8940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B62A4FA0-203B-9835-3ECD-669C8DF77CA8}"/>
              </a:ext>
            </a:extLst>
          </p:cNvPr>
          <p:cNvCxnSpPr/>
          <p:nvPr/>
        </p:nvCxnSpPr>
        <p:spPr>
          <a:xfrm>
            <a:off x="9753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6CD1AADE-9A50-7B32-E9CA-684A5C24741A}"/>
              </a:ext>
            </a:extLst>
          </p:cNvPr>
          <p:cNvCxnSpPr/>
          <p:nvPr/>
        </p:nvCxnSpPr>
        <p:spPr>
          <a:xfrm>
            <a:off x="10566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39582CF2-DC24-CD3A-D391-3E57CDA3A5B5}"/>
              </a:ext>
            </a:extLst>
          </p:cNvPr>
          <p:cNvCxnSpPr/>
          <p:nvPr/>
        </p:nvCxnSpPr>
        <p:spPr>
          <a:xfrm>
            <a:off x="11379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C7180EF4-21F5-C912-4A57-5EFFE31EB38D}"/>
              </a:ext>
            </a:extLst>
          </p:cNvPr>
          <p:cNvCxnSpPr/>
          <p:nvPr/>
        </p:nvCxnSpPr>
        <p:spPr>
          <a:xfrm>
            <a:off x="12192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68C12424-77CF-05EA-6936-1FE1F8EAE049}"/>
              </a:ext>
            </a:extLst>
          </p:cNvPr>
          <p:cNvCxnSpPr/>
          <p:nvPr/>
        </p:nvCxnSpPr>
        <p:spPr>
          <a:xfrm>
            <a:off x="13004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7ACA301A-A62D-0738-DC54-1501247B126F}"/>
              </a:ext>
            </a:extLst>
          </p:cNvPr>
          <p:cNvCxnSpPr/>
          <p:nvPr/>
        </p:nvCxnSpPr>
        <p:spPr>
          <a:xfrm>
            <a:off x="13817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68C976E0-06D7-DAEB-2314-CBA6BA6D793E}"/>
              </a:ext>
            </a:extLst>
          </p:cNvPr>
          <p:cNvCxnSpPr/>
          <p:nvPr/>
        </p:nvCxnSpPr>
        <p:spPr>
          <a:xfrm>
            <a:off x="14630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AEF73C9-642A-E24C-44C4-F24F9D105883}"/>
              </a:ext>
            </a:extLst>
          </p:cNvPr>
          <p:cNvCxnSpPr/>
          <p:nvPr/>
        </p:nvCxnSpPr>
        <p:spPr>
          <a:xfrm>
            <a:off x="15443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081EC154-DFA9-0EE4-7CF4-7EA19E43C9F0}"/>
              </a:ext>
            </a:extLst>
          </p:cNvPr>
          <p:cNvCxnSpPr/>
          <p:nvPr/>
        </p:nvCxnSpPr>
        <p:spPr>
          <a:xfrm>
            <a:off x="0" y="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7A03D8D7-3EA6-2E9F-9C33-01802E42E870}"/>
              </a:ext>
            </a:extLst>
          </p:cNvPr>
          <p:cNvCxnSpPr/>
          <p:nvPr/>
        </p:nvCxnSpPr>
        <p:spPr>
          <a:xfrm>
            <a:off x="0" y="812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22E052E4-AFC4-70D3-2ECA-07D26554440D}"/>
              </a:ext>
            </a:extLst>
          </p:cNvPr>
          <p:cNvCxnSpPr/>
          <p:nvPr/>
        </p:nvCxnSpPr>
        <p:spPr>
          <a:xfrm>
            <a:off x="0" y="1625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AEE2688D-38B2-A484-0482-B996ADA28424}"/>
              </a:ext>
            </a:extLst>
          </p:cNvPr>
          <p:cNvCxnSpPr/>
          <p:nvPr/>
        </p:nvCxnSpPr>
        <p:spPr>
          <a:xfrm>
            <a:off x="0" y="2438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112679FB-85A0-46E9-ACE8-DE16CDCD9643}"/>
              </a:ext>
            </a:extLst>
          </p:cNvPr>
          <p:cNvCxnSpPr/>
          <p:nvPr/>
        </p:nvCxnSpPr>
        <p:spPr>
          <a:xfrm>
            <a:off x="0" y="3251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72FE6745-B5BA-F0C7-E7CF-D81B50FA6B97}"/>
              </a:ext>
            </a:extLst>
          </p:cNvPr>
          <p:cNvCxnSpPr/>
          <p:nvPr/>
        </p:nvCxnSpPr>
        <p:spPr>
          <a:xfrm>
            <a:off x="0" y="4064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056E5FB4-F105-A8CA-EE33-72A6F4CCAEF2}"/>
              </a:ext>
            </a:extLst>
          </p:cNvPr>
          <p:cNvCxnSpPr/>
          <p:nvPr/>
        </p:nvCxnSpPr>
        <p:spPr>
          <a:xfrm>
            <a:off x="0" y="4876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ED4BF0FA-F3DF-393E-1D0B-FD2E993DEC2F}"/>
              </a:ext>
            </a:extLst>
          </p:cNvPr>
          <p:cNvCxnSpPr/>
          <p:nvPr/>
        </p:nvCxnSpPr>
        <p:spPr>
          <a:xfrm>
            <a:off x="0" y="5689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6F7D6753-E68D-EB10-4BB0-ABD03FAEFE61}"/>
              </a:ext>
            </a:extLst>
          </p:cNvPr>
          <p:cNvCxnSpPr/>
          <p:nvPr/>
        </p:nvCxnSpPr>
        <p:spPr>
          <a:xfrm>
            <a:off x="0" y="6502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E380D581-9C28-BFF2-910C-8C819115FAC9}"/>
              </a:ext>
            </a:extLst>
          </p:cNvPr>
          <p:cNvCxnSpPr/>
          <p:nvPr/>
        </p:nvCxnSpPr>
        <p:spPr>
          <a:xfrm>
            <a:off x="0" y="7315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A6EC9E85-5189-503F-1E5D-E911E16DD9F9}"/>
              </a:ext>
            </a:extLst>
          </p:cNvPr>
          <p:cNvCxnSpPr/>
          <p:nvPr/>
        </p:nvCxnSpPr>
        <p:spPr>
          <a:xfrm>
            <a:off x="0" y="8128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AD5EAEFA-6222-C36D-8F05-B11312CBBB47}"/>
              </a:ext>
            </a:extLst>
          </p:cNvPr>
          <p:cNvCxnSpPr/>
          <p:nvPr/>
        </p:nvCxnSpPr>
        <p:spPr>
          <a:xfrm>
            <a:off x="0" y="8940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87112552-F751-4E93-88EB-A2ABF2FF770D}"/>
              </a:ext>
            </a:extLst>
          </p:cNvPr>
          <p:cNvSpPr txBox="1"/>
          <p:nvPr/>
        </p:nvSpPr>
        <p:spPr>
          <a:xfrm>
            <a:off x="914400" y="609600"/>
            <a:ext cx="11430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400">
                <a:solidFill>
                  <a:srgbClr val="D6AD61"/>
                </a:solidFill>
                <a:latin typeface="Consolas" panose="020B0609020204030204" pitchFamily="49" charset="0"/>
              </a:rPr>
              <a:t>Taming</a:t>
            </a:r>
            <a:endParaRPr lang="zh-CN" altLang="en-US" sz="1400">
              <a:solidFill>
                <a:srgbClr val="D6AD6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E94A525-C277-4DFA-0FC6-CB11C8389A99}"/>
              </a:ext>
            </a:extLst>
          </p:cNvPr>
          <p:cNvSpPr txBox="1"/>
          <p:nvPr/>
        </p:nvSpPr>
        <p:spPr>
          <a:xfrm>
            <a:off x="914400" y="990600"/>
            <a:ext cx="13208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600" b="1">
                <a:solidFill>
                  <a:srgbClr val="EFECE5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如何驯化自己的专属硅基伙伴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110A675D-E9CE-F0B3-41A1-5E326585AC43}"/>
              </a:ext>
            </a:extLst>
          </p:cNvPr>
          <p:cNvSpPr txBox="1"/>
          <p:nvPr/>
        </p:nvSpPr>
        <p:spPr>
          <a:xfrm>
            <a:off x="914400" y="1905000"/>
            <a:ext cx="1270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从“让 </a:t>
            </a:r>
            <a:r>
              <a:rPr lang="en-US" altLang="zh-CN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AI </a:t>
            </a:r>
            <a:r>
              <a:rPr lang="zh-CN" altLang="en-US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写”升级到“让 </a:t>
            </a:r>
            <a:r>
              <a:rPr lang="en-US" altLang="zh-CN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AI </a:t>
            </a:r>
            <a:r>
              <a:rPr lang="zh-CN" altLang="en-US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追问、质检、沉淀”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5443C92-2524-273A-DE66-CCC433694092}"/>
              </a:ext>
            </a:extLst>
          </p:cNvPr>
          <p:cNvSpPr txBox="1"/>
          <p:nvPr/>
        </p:nvSpPr>
        <p:spPr>
          <a:xfrm>
            <a:off x="914400" y="8686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1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驯化野生硅基伙伴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22CB91C1-3469-0597-2358-18BF12FD2DB3}"/>
              </a:ext>
            </a:extLst>
          </p:cNvPr>
          <p:cNvSpPr txBox="1"/>
          <p:nvPr/>
        </p:nvSpPr>
        <p:spPr>
          <a:xfrm>
            <a:off x="14732000" y="86868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697184"/>
                </a:solidFill>
                <a:latin typeface="Consolas" panose="020B0609020204030204" pitchFamily="49" charset="0"/>
              </a:rPr>
              <a:t>14 / 18</a:t>
            </a:r>
            <a:endParaRPr lang="zh-CN" altLang="en-US" sz="1100">
              <a:solidFill>
                <a:srgbClr val="697184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8B5A52A-E949-82AA-85F8-315C5E659F58}"/>
              </a:ext>
            </a:extLst>
          </p:cNvPr>
          <p:cNvSpPr/>
          <p:nvPr/>
        </p:nvSpPr>
        <p:spPr>
          <a:xfrm>
            <a:off x="0" y="9093200"/>
            <a:ext cx="12643555" cy="50800"/>
          </a:xfrm>
          <a:prstGeom prst="rect">
            <a:avLst/>
          </a:prstGeom>
          <a:solidFill>
            <a:srgbClr val="20C7A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8" name="quote_41">
            <a:extLst>
              <a:ext uri="{FF2B5EF4-FFF2-40B4-BE49-F238E27FC236}">
                <a16:creationId xmlns:a16="http://schemas.microsoft.com/office/drawing/2014/main" id="{CD6896E7-09AC-18A3-ECBA-81B4B14FF550}"/>
              </a:ext>
            </a:extLst>
          </p:cNvPr>
          <p:cNvGrpSpPr/>
          <p:nvPr/>
        </p:nvGrpSpPr>
        <p:grpSpPr>
          <a:xfrm>
            <a:off x="1168400" y="2603500"/>
            <a:ext cx="13919200" cy="1270000"/>
            <a:chOff x="1168400" y="2603500"/>
            <a:chExt cx="13919200" cy="1270000"/>
          </a:xfrm>
        </p:grpSpPr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72D06B4B-94C9-893B-5A0B-968FD5A8FDED}"/>
                </a:ext>
              </a:extLst>
            </p:cNvPr>
            <p:cNvSpPr/>
            <p:nvPr/>
          </p:nvSpPr>
          <p:spPr>
            <a:xfrm>
              <a:off x="1168400" y="2603500"/>
              <a:ext cx="13919200" cy="1270000"/>
            </a:xfrm>
            <a:prstGeom prst="roundRect">
              <a:avLst/>
            </a:prstGeom>
            <a:solidFill>
              <a:srgbClr val="D6AD61">
                <a:alpha val="12000"/>
              </a:srgbClr>
            </a:solidFill>
            <a:ln w="12700" cap="flat" cmpd="sng" algn="ctr">
              <a:solidFill>
                <a:srgbClr val="D6AD61">
                  <a:alpha val="5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1AC2EB36-2A09-D044-08B2-9CECB52FC356}"/>
                </a:ext>
              </a:extLst>
            </p:cNvPr>
            <p:cNvSpPr/>
            <p:nvPr/>
          </p:nvSpPr>
          <p:spPr>
            <a:xfrm>
              <a:off x="1168400" y="2603500"/>
              <a:ext cx="76200" cy="1270000"/>
            </a:xfrm>
            <a:prstGeom prst="rect">
              <a:avLst/>
            </a:prstGeom>
            <a:solidFill>
              <a:srgbClr val="D6AD6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3554A7B4-F1F6-8CFA-47AA-75A102305DAF}"/>
                </a:ext>
              </a:extLst>
            </p:cNvPr>
            <p:cNvSpPr txBox="1"/>
            <p:nvPr/>
          </p:nvSpPr>
          <p:spPr>
            <a:xfrm>
              <a:off x="1524000" y="2806700"/>
              <a:ext cx="13258800" cy="40011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600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不要只让 </a:t>
              </a:r>
              <a:r>
                <a:rPr lang="en-US" altLang="zh-CN" sz="2600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AI </a:t>
              </a:r>
              <a:r>
                <a:rPr lang="zh-CN" altLang="en-US" sz="2600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给答案，要让 </a:t>
              </a:r>
              <a:r>
                <a:rPr lang="en-US" altLang="zh-CN" sz="2600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AI </a:t>
              </a:r>
              <a:r>
                <a:rPr lang="zh-CN" altLang="en-US" sz="2600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帮你暴露盲区。</a:t>
              </a:r>
            </a:p>
          </p:txBody>
        </p:sp>
      </p:grpSp>
      <p:grpSp>
        <p:nvGrpSpPr>
          <p:cNvPr id="53" name="card_42">
            <a:extLst>
              <a:ext uri="{FF2B5EF4-FFF2-40B4-BE49-F238E27FC236}">
                <a16:creationId xmlns:a16="http://schemas.microsoft.com/office/drawing/2014/main" id="{FD1BF19F-307E-2C76-C138-5A05F98D2D6E}"/>
              </a:ext>
            </a:extLst>
          </p:cNvPr>
          <p:cNvGrpSpPr/>
          <p:nvPr/>
        </p:nvGrpSpPr>
        <p:grpSpPr>
          <a:xfrm>
            <a:off x="1168400" y="4229100"/>
            <a:ext cx="4487333" cy="2286000"/>
            <a:chOff x="1168400" y="4229100"/>
            <a:chExt cx="4487333" cy="2286000"/>
          </a:xfrm>
        </p:grpSpPr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02BD237C-80FA-3BDE-37D6-48B56744A9DD}"/>
                </a:ext>
              </a:extLst>
            </p:cNvPr>
            <p:cNvSpPr/>
            <p:nvPr/>
          </p:nvSpPr>
          <p:spPr>
            <a:xfrm>
              <a:off x="1168400" y="4229100"/>
              <a:ext cx="4487333" cy="2286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20369FD1-C743-830B-6CD2-9C4FFCB9A53C}"/>
                </a:ext>
              </a:extLst>
            </p:cNvPr>
            <p:cNvSpPr/>
            <p:nvPr/>
          </p:nvSpPr>
          <p:spPr>
            <a:xfrm>
              <a:off x="1168400" y="4229100"/>
              <a:ext cx="63500" cy="2286000"/>
            </a:xfrm>
            <a:prstGeom prst="rect">
              <a:avLst/>
            </a:prstGeom>
            <a:solidFill>
              <a:srgbClr val="D6AD6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6BDC532E-FBEC-7B71-54FE-B6C863390B9F}"/>
                </a:ext>
              </a:extLst>
            </p:cNvPr>
            <p:cNvSpPr txBox="1"/>
            <p:nvPr/>
          </p:nvSpPr>
          <p:spPr>
            <a:xfrm>
              <a:off x="1498600" y="4508500"/>
              <a:ext cx="3928533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400" b="1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角色</a:t>
              </a: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2D9562B6-C7D7-12B1-FEC6-025E8BCF0E67}"/>
                </a:ext>
              </a:extLst>
            </p:cNvPr>
            <p:cNvSpPr txBox="1"/>
            <p:nvPr/>
          </p:nvSpPr>
          <p:spPr>
            <a:xfrm>
              <a:off x="1498600" y="5054600"/>
              <a:ext cx="3928533" cy="52322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资料整理员、方案挑战者、表达润色员、流程检查员、需求追问员。</a:t>
              </a:r>
            </a:p>
          </p:txBody>
        </p:sp>
      </p:grpSp>
      <p:grpSp>
        <p:nvGrpSpPr>
          <p:cNvPr id="58" name="card_43">
            <a:extLst>
              <a:ext uri="{FF2B5EF4-FFF2-40B4-BE49-F238E27FC236}">
                <a16:creationId xmlns:a16="http://schemas.microsoft.com/office/drawing/2014/main" id="{AA540075-13F6-A8CB-B86C-7746B91F153D}"/>
              </a:ext>
            </a:extLst>
          </p:cNvPr>
          <p:cNvGrpSpPr/>
          <p:nvPr/>
        </p:nvGrpSpPr>
        <p:grpSpPr>
          <a:xfrm>
            <a:off x="5884333" y="4229100"/>
            <a:ext cx="4487334" cy="2286000"/>
            <a:chOff x="5884333" y="4229100"/>
            <a:chExt cx="4487334" cy="2286000"/>
          </a:xfrm>
        </p:grpSpPr>
        <p:sp>
          <p:nvSpPr>
            <p:cNvPr id="54" name="矩形: 圆角 53">
              <a:extLst>
                <a:ext uri="{FF2B5EF4-FFF2-40B4-BE49-F238E27FC236}">
                  <a16:creationId xmlns:a16="http://schemas.microsoft.com/office/drawing/2014/main" id="{F33AD3BA-3E89-0D43-4BAC-28A01C1741B1}"/>
                </a:ext>
              </a:extLst>
            </p:cNvPr>
            <p:cNvSpPr/>
            <p:nvPr/>
          </p:nvSpPr>
          <p:spPr>
            <a:xfrm>
              <a:off x="5884333" y="4229100"/>
              <a:ext cx="4487334" cy="2286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E751F9EA-CFAF-C923-B97F-DD1634CE4AE7}"/>
                </a:ext>
              </a:extLst>
            </p:cNvPr>
            <p:cNvSpPr/>
            <p:nvPr/>
          </p:nvSpPr>
          <p:spPr>
            <a:xfrm>
              <a:off x="5884333" y="4229100"/>
              <a:ext cx="63500" cy="2286000"/>
            </a:xfrm>
            <a:prstGeom prst="rect">
              <a:avLst/>
            </a:prstGeom>
            <a:solidFill>
              <a:srgbClr val="20C7A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61FBE65F-C35F-68B5-7FB5-B4ACAD301668}"/>
                </a:ext>
              </a:extLst>
            </p:cNvPr>
            <p:cNvSpPr txBox="1"/>
            <p:nvPr/>
          </p:nvSpPr>
          <p:spPr>
            <a:xfrm>
              <a:off x="6214533" y="4508500"/>
              <a:ext cx="3928533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400" b="1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记忆</a:t>
              </a: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120C15C1-08A5-80AC-4099-85BA1ED382A6}"/>
                </a:ext>
              </a:extLst>
            </p:cNvPr>
            <p:cNvSpPr txBox="1"/>
            <p:nvPr/>
          </p:nvSpPr>
          <p:spPr>
            <a:xfrm>
              <a:off x="6214533" y="5054600"/>
              <a:ext cx="3928533" cy="52322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把稳定偏好和项目背景沉下来：格式、黑话、标准、禁区。</a:t>
              </a:r>
            </a:p>
          </p:txBody>
        </p:sp>
      </p:grpSp>
      <p:grpSp>
        <p:nvGrpSpPr>
          <p:cNvPr id="63" name="card_44">
            <a:extLst>
              <a:ext uri="{FF2B5EF4-FFF2-40B4-BE49-F238E27FC236}">
                <a16:creationId xmlns:a16="http://schemas.microsoft.com/office/drawing/2014/main" id="{BA399714-0A02-3960-293E-60210D98B45D}"/>
              </a:ext>
            </a:extLst>
          </p:cNvPr>
          <p:cNvGrpSpPr/>
          <p:nvPr/>
        </p:nvGrpSpPr>
        <p:grpSpPr>
          <a:xfrm>
            <a:off x="10600267" y="4229100"/>
            <a:ext cx="4487333" cy="2286000"/>
            <a:chOff x="10600267" y="4229100"/>
            <a:chExt cx="4487333" cy="2286000"/>
          </a:xfrm>
        </p:grpSpPr>
        <p:sp>
          <p:nvSpPr>
            <p:cNvPr id="59" name="矩形: 圆角 58">
              <a:extLst>
                <a:ext uri="{FF2B5EF4-FFF2-40B4-BE49-F238E27FC236}">
                  <a16:creationId xmlns:a16="http://schemas.microsoft.com/office/drawing/2014/main" id="{7E3C6D02-645E-FA89-302A-E0F4755BD2A9}"/>
                </a:ext>
              </a:extLst>
            </p:cNvPr>
            <p:cNvSpPr/>
            <p:nvPr/>
          </p:nvSpPr>
          <p:spPr>
            <a:xfrm>
              <a:off x="10600267" y="4229100"/>
              <a:ext cx="4487333" cy="2286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797ADDEA-86C7-0C04-3CC0-C29333264730}"/>
                </a:ext>
              </a:extLst>
            </p:cNvPr>
            <p:cNvSpPr/>
            <p:nvPr/>
          </p:nvSpPr>
          <p:spPr>
            <a:xfrm>
              <a:off x="10600267" y="4229100"/>
              <a:ext cx="63500" cy="2286000"/>
            </a:xfrm>
            <a:prstGeom prst="rect">
              <a:avLst/>
            </a:prstGeom>
            <a:solidFill>
              <a:srgbClr val="9B75F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736D46C8-B2B5-962C-0B0B-846CF9CEB6B4}"/>
                </a:ext>
              </a:extLst>
            </p:cNvPr>
            <p:cNvSpPr txBox="1"/>
            <p:nvPr/>
          </p:nvSpPr>
          <p:spPr>
            <a:xfrm>
              <a:off x="10930467" y="4508500"/>
              <a:ext cx="3928533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400" b="1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工作流</a:t>
              </a:r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EA2E3F88-8A0B-131C-CF0E-FAD4BECCD3AF}"/>
                </a:ext>
              </a:extLst>
            </p:cNvPr>
            <p:cNvSpPr txBox="1"/>
            <p:nvPr/>
          </p:nvSpPr>
          <p:spPr>
            <a:xfrm>
              <a:off x="10930467" y="5054600"/>
              <a:ext cx="3928533" cy="52322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读材料 → 提炼观点 → 诊断结构 → 生成提纲 → 质检 → 行动项。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13631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15">
            <a:extLst>
              <a:ext uri="{FF2B5EF4-FFF2-40B4-BE49-F238E27FC236}">
                <a16:creationId xmlns:a16="http://schemas.microsoft.com/office/drawing/2014/main" id="{F2FAF15B-2C36-D431-425B-243DC0E4FCB5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70B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EF43481-A389-DE5E-48EE-009FDFA56BC9}"/>
              </a:ext>
            </a:extLst>
          </p:cNvPr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D6AD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CA9D251A-3B3C-C2B7-90D7-D7FC429CE171}"/>
              </a:ext>
            </a:extLst>
          </p:cNvPr>
          <p:cNvSpPr/>
          <p:nvPr/>
        </p:nvSpPr>
        <p:spPr>
          <a:xfrm>
            <a:off x="762000" y="571500"/>
            <a:ext cx="3937000" cy="3937000"/>
          </a:xfrm>
          <a:prstGeom prst="ellipse">
            <a:avLst/>
          </a:prstGeom>
          <a:solidFill>
            <a:srgbClr val="D6AD61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C0ED2FF-54F9-7BFB-7865-12A94F479745}"/>
              </a:ext>
            </a:extLst>
          </p:cNvPr>
          <p:cNvSpPr/>
          <p:nvPr/>
        </p:nvSpPr>
        <p:spPr>
          <a:xfrm>
            <a:off x="11430000" y="889000"/>
            <a:ext cx="3556000" cy="3556000"/>
          </a:xfrm>
          <a:prstGeom prst="ellipse">
            <a:avLst/>
          </a:prstGeom>
          <a:solidFill>
            <a:srgbClr val="20C7AE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925D52E-7193-1D62-0D58-93CE3A171DE5}"/>
              </a:ext>
            </a:extLst>
          </p:cNvPr>
          <p:cNvSpPr/>
          <p:nvPr/>
        </p:nvSpPr>
        <p:spPr>
          <a:xfrm>
            <a:off x="10414000" y="5969000"/>
            <a:ext cx="3302000" cy="3302000"/>
          </a:xfrm>
          <a:prstGeom prst="ellipse">
            <a:avLst/>
          </a:prstGeom>
          <a:solidFill>
            <a:srgbClr val="9B75F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73240B1-9AAE-A297-2AD2-A1DDA7B84339}"/>
              </a:ext>
            </a:extLst>
          </p:cNvPr>
          <p:cNvCxnSpPr/>
          <p:nvPr/>
        </p:nvCxnSpPr>
        <p:spPr>
          <a:xfrm>
            <a:off x="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9B21C69-99F3-DA5B-66B3-C79008C0AC6D}"/>
              </a:ext>
            </a:extLst>
          </p:cNvPr>
          <p:cNvCxnSpPr/>
          <p:nvPr/>
        </p:nvCxnSpPr>
        <p:spPr>
          <a:xfrm>
            <a:off x="812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4CE1DE74-DDA0-BD44-1638-E4949902B88A}"/>
              </a:ext>
            </a:extLst>
          </p:cNvPr>
          <p:cNvCxnSpPr/>
          <p:nvPr/>
        </p:nvCxnSpPr>
        <p:spPr>
          <a:xfrm>
            <a:off x="1625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F320CFF-6776-DE32-91DF-15B3122032AD}"/>
              </a:ext>
            </a:extLst>
          </p:cNvPr>
          <p:cNvCxnSpPr/>
          <p:nvPr/>
        </p:nvCxnSpPr>
        <p:spPr>
          <a:xfrm>
            <a:off x="2438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E0C04EA-2CFB-9E2A-EFBE-27E15AC14D97}"/>
              </a:ext>
            </a:extLst>
          </p:cNvPr>
          <p:cNvCxnSpPr/>
          <p:nvPr/>
        </p:nvCxnSpPr>
        <p:spPr>
          <a:xfrm>
            <a:off x="3251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9414C55C-407B-3984-BBB0-C2579E4DEEA3}"/>
              </a:ext>
            </a:extLst>
          </p:cNvPr>
          <p:cNvCxnSpPr/>
          <p:nvPr/>
        </p:nvCxnSpPr>
        <p:spPr>
          <a:xfrm>
            <a:off x="4064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A3C128DE-4E2E-13D9-BF25-B98EEF9DD7A8}"/>
              </a:ext>
            </a:extLst>
          </p:cNvPr>
          <p:cNvCxnSpPr/>
          <p:nvPr/>
        </p:nvCxnSpPr>
        <p:spPr>
          <a:xfrm>
            <a:off x="4876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53A4FD42-8659-36D5-C747-C786C16685A6}"/>
              </a:ext>
            </a:extLst>
          </p:cNvPr>
          <p:cNvCxnSpPr/>
          <p:nvPr/>
        </p:nvCxnSpPr>
        <p:spPr>
          <a:xfrm>
            <a:off x="5689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A9EC5838-EAF2-B47D-9A84-410200150775}"/>
              </a:ext>
            </a:extLst>
          </p:cNvPr>
          <p:cNvCxnSpPr/>
          <p:nvPr/>
        </p:nvCxnSpPr>
        <p:spPr>
          <a:xfrm>
            <a:off x="6502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95D38C4F-C74B-8BA6-C8A7-69280AFDE17C}"/>
              </a:ext>
            </a:extLst>
          </p:cNvPr>
          <p:cNvCxnSpPr/>
          <p:nvPr/>
        </p:nvCxnSpPr>
        <p:spPr>
          <a:xfrm>
            <a:off x="7315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E07B60E-EBA0-65C4-69F2-22F073343273}"/>
              </a:ext>
            </a:extLst>
          </p:cNvPr>
          <p:cNvCxnSpPr/>
          <p:nvPr/>
        </p:nvCxnSpPr>
        <p:spPr>
          <a:xfrm>
            <a:off x="8128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5FD8A35-F76D-7DB9-FCCC-43AA80747FD2}"/>
              </a:ext>
            </a:extLst>
          </p:cNvPr>
          <p:cNvCxnSpPr/>
          <p:nvPr/>
        </p:nvCxnSpPr>
        <p:spPr>
          <a:xfrm>
            <a:off x="8940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660B4E21-8514-1C5E-2FCA-5F9823B1C24E}"/>
              </a:ext>
            </a:extLst>
          </p:cNvPr>
          <p:cNvCxnSpPr/>
          <p:nvPr/>
        </p:nvCxnSpPr>
        <p:spPr>
          <a:xfrm>
            <a:off x="9753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E206E72D-3990-61EE-FC74-303185CD5183}"/>
              </a:ext>
            </a:extLst>
          </p:cNvPr>
          <p:cNvCxnSpPr/>
          <p:nvPr/>
        </p:nvCxnSpPr>
        <p:spPr>
          <a:xfrm>
            <a:off x="10566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3CD8C003-2D29-55E3-438D-0260D574AFA2}"/>
              </a:ext>
            </a:extLst>
          </p:cNvPr>
          <p:cNvCxnSpPr/>
          <p:nvPr/>
        </p:nvCxnSpPr>
        <p:spPr>
          <a:xfrm>
            <a:off x="11379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5E0940F9-8501-93F0-09C6-298A3E307191}"/>
              </a:ext>
            </a:extLst>
          </p:cNvPr>
          <p:cNvCxnSpPr/>
          <p:nvPr/>
        </p:nvCxnSpPr>
        <p:spPr>
          <a:xfrm>
            <a:off x="12192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B663F65E-05BA-6486-5ACA-A7895C811CD4}"/>
              </a:ext>
            </a:extLst>
          </p:cNvPr>
          <p:cNvCxnSpPr/>
          <p:nvPr/>
        </p:nvCxnSpPr>
        <p:spPr>
          <a:xfrm>
            <a:off x="13004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29CA1D22-A0CF-FB5F-79F8-9496D0386F8B}"/>
              </a:ext>
            </a:extLst>
          </p:cNvPr>
          <p:cNvCxnSpPr/>
          <p:nvPr/>
        </p:nvCxnSpPr>
        <p:spPr>
          <a:xfrm>
            <a:off x="13817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5FEA05E9-E4BA-3F03-6F62-2E87F64D609B}"/>
              </a:ext>
            </a:extLst>
          </p:cNvPr>
          <p:cNvCxnSpPr/>
          <p:nvPr/>
        </p:nvCxnSpPr>
        <p:spPr>
          <a:xfrm>
            <a:off x="14630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785DBF2D-D5DE-825E-E7C7-66B48D7A8B4A}"/>
              </a:ext>
            </a:extLst>
          </p:cNvPr>
          <p:cNvCxnSpPr/>
          <p:nvPr/>
        </p:nvCxnSpPr>
        <p:spPr>
          <a:xfrm>
            <a:off x="15443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F548B3A9-3401-8D5B-6069-E19739BB60CD}"/>
              </a:ext>
            </a:extLst>
          </p:cNvPr>
          <p:cNvCxnSpPr/>
          <p:nvPr/>
        </p:nvCxnSpPr>
        <p:spPr>
          <a:xfrm>
            <a:off x="0" y="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777F6D3-8673-48A0-4BC9-C76C761A9365}"/>
              </a:ext>
            </a:extLst>
          </p:cNvPr>
          <p:cNvCxnSpPr/>
          <p:nvPr/>
        </p:nvCxnSpPr>
        <p:spPr>
          <a:xfrm>
            <a:off x="0" y="812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CE11283F-DA4A-851E-09DF-4A5EF9DF89A9}"/>
              </a:ext>
            </a:extLst>
          </p:cNvPr>
          <p:cNvCxnSpPr/>
          <p:nvPr/>
        </p:nvCxnSpPr>
        <p:spPr>
          <a:xfrm>
            <a:off x="0" y="1625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91F0F5B9-1113-037A-1B54-697D26CDAD95}"/>
              </a:ext>
            </a:extLst>
          </p:cNvPr>
          <p:cNvCxnSpPr/>
          <p:nvPr/>
        </p:nvCxnSpPr>
        <p:spPr>
          <a:xfrm>
            <a:off x="0" y="2438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2DFB0432-DB14-389B-768F-8CE6AA39FDD7}"/>
              </a:ext>
            </a:extLst>
          </p:cNvPr>
          <p:cNvCxnSpPr/>
          <p:nvPr/>
        </p:nvCxnSpPr>
        <p:spPr>
          <a:xfrm>
            <a:off x="0" y="3251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F897A591-65DD-18E8-AECF-92CEEB8C74C2}"/>
              </a:ext>
            </a:extLst>
          </p:cNvPr>
          <p:cNvCxnSpPr/>
          <p:nvPr/>
        </p:nvCxnSpPr>
        <p:spPr>
          <a:xfrm>
            <a:off x="0" y="4064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CE396D82-1B21-A48C-D0F4-2AC3AEAF910C}"/>
              </a:ext>
            </a:extLst>
          </p:cNvPr>
          <p:cNvCxnSpPr/>
          <p:nvPr/>
        </p:nvCxnSpPr>
        <p:spPr>
          <a:xfrm>
            <a:off x="0" y="4876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8692FC0A-890F-5BEA-B79C-0AD4F884F7B7}"/>
              </a:ext>
            </a:extLst>
          </p:cNvPr>
          <p:cNvCxnSpPr/>
          <p:nvPr/>
        </p:nvCxnSpPr>
        <p:spPr>
          <a:xfrm>
            <a:off x="0" y="5689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C75C7DEE-756C-559A-21F2-35A7E67C2710}"/>
              </a:ext>
            </a:extLst>
          </p:cNvPr>
          <p:cNvCxnSpPr/>
          <p:nvPr/>
        </p:nvCxnSpPr>
        <p:spPr>
          <a:xfrm>
            <a:off x="0" y="6502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C8DFB021-6D05-FF5A-234D-663FF3BF5153}"/>
              </a:ext>
            </a:extLst>
          </p:cNvPr>
          <p:cNvCxnSpPr/>
          <p:nvPr/>
        </p:nvCxnSpPr>
        <p:spPr>
          <a:xfrm>
            <a:off x="0" y="7315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992093C9-4F65-AD80-782D-2A13C712414A}"/>
              </a:ext>
            </a:extLst>
          </p:cNvPr>
          <p:cNvCxnSpPr/>
          <p:nvPr/>
        </p:nvCxnSpPr>
        <p:spPr>
          <a:xfrm>
            <a:off x="0" y="8128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5BB5BDAA-EB38-9BFD-1908-647A49B37957}"/>
              </a:ext>
            </a:extLst>
          </p:cNvPr>
          <p:cNvCxnSpPr/>
          <p:nvPr/>
        </p:nvCxnSpPr>
        <p:spPr>
          <a:xfrm>
            <a:off x="0" y="8940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0830303B-9057-63CD-F256-F71A80A9A52C}"/>
              </a:ext>
            </a:extLst>
          </p:cNvPr>
          <p:cNvSpPr txBox="1"/>
          <p:nvPr/>
        </p:nvSpPr>
        <p:spPr>
          <a:xfrm>
            <a:off x="914400" y="609600"/>
            <a:ext cx="11430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400">
                <a:solidFill>
                  <a:srgbClr val="D6AD61"/>
                </a:solidFill>
                <a:latin typeface="Consolas" panose="020B0609020204030204" pitchFamily="49" charset="0"/>
              </a:rPr>
              <a:t>Practical Use</a:t>
            </a:r>
            <a:endParaRPr lang="zh-CN" altLang="en-US" sz="1400">
              <a:solidFill>
                <a:srgbClr val="D6AD6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9DE7EE9-E23D-93D9-CEAE-A6170667071B}"/>
              </a:ext>
            </a:extLst>
          </p:cNvPr>
          <p:cNvSpPr txBox="1"/>
          <p:nvPr/>
        </p:nvSpPr>
        <p:spPr>
          <a:xfrm>
            <a:off x="914400" y="990600"/>
            <a:ext cx="13208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600" b="1">
                <a:solidFill>
                  <a:srgbClr val="EFECE5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结合我们自己的工作：</a:t>
            </a:r>
            <a:r>
              <a:rPr lang="en-US" altLang="zh-CN" sz="3600" b="1">
                <a:solidFill>
                  <a:srgbClr val="EFECE5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AI </a:t>
            </a:r>
            <a:r>
              <a:rPr lang="zh-CN" altLang="en-US" sz="3600" b="1">
                <a:solidFill>
                  <a:srgbClr val="EFECE5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擅长什么？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1E67EE3-C54F-7A00-F97D-994FA258C179}"/>
              </a:ext>
            </a:extLst>
          </p:cNvPr>
          <p:cNvSpPr txBox="1"/>
          <p:nvPr/>
        </p:nvSpPr>
        <p:spPr>
          <a:xfrm>
            <a:off x="914400" y="1905000"/>
            <a:ext cx="1270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不是替人做最终决定，而是把中间产物变得可见、可追问、可复用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7BB6E618-84E7-1575-191C-0EF7BF16A9A0}"/>
              </a:ext>
            </a:extLst>
          </p:cNvPr>
          <p:cNvSpPr txBox="1"/>
          <p:nvPr/>
        </p:nvSpPr>
        <p:spPr>
          <a:xfrm>
            <a:off x="914400" y="8686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1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驯化野生硅基伙伴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6415C87D-218C-CD17-4CD2-780DDD7A780C}"/>
              </a:ext>
            </a:extLst>
          </p:cNvPr>
          <p:cNvSpPr txBox="1"/>
          <p:nvPr/>
        </p:nvSpPr>
        <p:spPr>
          <a:xfrm>
            <a:off x="14732000" y="86868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697184"/>
                </a:solidFill>
                <a:latin typeface="Consolas" panose="020B0609020204030204" pitchFamily="49" charset="0"/>
              </a:rPr>
              <a:t>15 / 18</a:t>
            </a:r>
            <a:endParaRPr lang="zh-CN" altLang="en-US" sz="1100">
              <a:solidFill>
                <a:srgbClr val="697184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D68FF9F-BDD3-E804-1E9E-EC27C041D6BA}"/>
              </a:ext>
            </a:extLst>
          </p:cNvPr>
          <p:cNvSpPr/>
          <p:nvPr/>
        </p:nvSpPr>
        <p:spPr>
          <a:xfrm>
            <a:off x="0" y="9093200"/>
            <a:ext cx="13546666" cy="50800"/>
          </a:xfrm>
          <a:prstGeom prst="rect">
            <a:avLst/>
          </a:prstGeom>
          <a:solidFill>
            <a:srgbClr val="20C7A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9" name="card_45">
            <a:extLst>
              <a:ext uri="{FF2B5EF4-FFF2-40B4-BE49-F238E27FC236}">
                <a16:creationId xmlns:a16="http://schemas.microsoft.com/office/drawing/2014/main" id="{BAA029ED-8415-2A4F-981B-01685641BC8A}"/>
              </a:ext>
            </a:extLst>
          </p:cNvPr>
          <p:cNvGrpSpPr/>
          <p:nvPr/>
        </p:nvGrpSpPr>
        <p:grpSpPr>
          <a:xfrm>
            <a:off x="1168400" y="2857500"/>
            <a:ext cx="3308350" cy="2159000"/>
            <a:chOff x="1168400" y="2857500"/>
            <a:chExt cx="3308350" cy="2159000"/>
          </a:xfrm>
        </p:grpSpPr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3A524175-77DD-44FC-1A60-81D11DF92A03}"/>
                </a:ext>
              </a:extLst>
            </p:cNvPr>
            <p:cNvSpPr/>
            <p:nvPr/>
          </p:nvSpPr>
          <p:spPr>
            <a:xfrm>
              <a:off x="1168400" y="2857500"/>
              <a:ext cx="3308350" cy="2159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05077D79-8901-EA49-931E-181CDA3CF634}"/>
                </a:ext>
              </a:extLst>
            </p:cNvPr>
            <p:cNvSpPr/>
            <p:nvPr/>
          </p:nvSpPr>
          <p:spPr>
            <a:xfrm>
              <a:off x="1168400" y="2857500"/>
              <a:ext cx="63500" cy="2159000"/>
            </a:xfrm>
            <a:prstGeom prst="rect">
              <a:avLst/>
            </a:prstGeom>
            <a:solidFill>
              <a:srgbClr val="D6AD6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B96B5080-BDA3-480E-D5D8-BA0AE5ED23AD}"/>
                </a:ext>
              </a:extLst>
            </p:cNvPr>
            <p:cNvSpPr txBox="1"/>
            <p:nvPr/>
          </p:nvSpPr>
          <p:spPr>
            <a:xfrm>
              <a:off x="1498600" y="3136900"/>
              <a:ext cx="2749550" cy="64633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100" b="1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把散落信息压缩成判断材料</a:t>
              </a: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7324417A-6F4B-97EC-69C6-66122EC898C3}"/>
                </a:ext>
              </a:extLst>
            </p:cNvPr>
            <p:cNvSpPr txBox="1"/>
            <p:nvPr/>
          </p:nvSpPr>
          <p:spPr>
            <a:xfrm>
              <a:off x="1498600" y="3683000"/>
              <a:ext cx="2749550" cy="738664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en-US" altLang="zh-CN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PM </a:t>
              </a:r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系统、钉钉群、会议纪要、需求文档、周报日报、候选人材料。</a:t>
              </a:r>
            </a:p>
          </p:txBody>
        </p:sp>
      </p:grpSp>
      <p:grpSp>
        <p:nvGrpSpPr>
          <p:cNvPr id="54" name="card_46">
            <a:extLst>
              <a:ext uri="{FF2B5EF4-FFF2-40B4-BE49-F238E27FC236}">
                <a16:creationId xmlns:a16="http://schemas.microsoft.com/office/drawing/2014/main" id="{1A5C6CA9-7D33-D1E8-A19D-AB78A9D16698}"/>
              </a:ext>
            </a:extLst>
          </p:cNvPr>
          <p:cNvGrpSpPr/>
          <p:nvPr/>
        </p:nvGrpSpPr>
        <p:grpSpPr>
          <a:xfrm>
            <a:off x="4705350" y="2857500"/>
            <a:ext cx="3308350" cy="2159000"/>
            <a:chOff x="4705350" y="2857500"/>
            <a:chExt cx="3308350" cy="2159000"/>
          </a:xfrm>
        </p:grpSpPr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42B32EE4-59FB-16BD-4FEB-A2C279AFBA11}"/>
                </a:ext>
              </a:extLst>
            </p:cNvPr>
            <p:cNvSpPr/>
            <p:nvPr/>
          </p:nvSpPr>
          <p:spPr>
            <a:xfrm>
              <a:off x="4705350" y="2857500"/>
              <a:ext cx="3308350" cy="2159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EF45621E-0FB5-5B5E-0388-ECDFACAEAA95}"/>
                </a:ext>
              </a:extLst>
            </p:cNvPr>
            <p:cNvSpPr/>
            <p:nvPr/>
          </p:nvSpPr>
          <p:spPr>
            <a:xfrm>
              <a:off x="4705350" y="2857500"/>
              <a:ext cx="63500" cy="2159000"/>
            </a:xfrm>
            <a:prstGeom prst="rect">
              <a:avLst/>
            </a:prstGeom>
            <a:solidFill>
              <a:srgbClr val="20C7A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6AA86999-97B0-2E26-13F0-71406307C295}"/>
                </a:ext>
              </a:extLst>
            </p:cNvPr>
            <p:cNvSpPr txBox="1"/>
            <p:nvPr/>
          </p:nvSpPr>
          <p:spPr>
            <a:xfrm>
              <a:off x="5035550" y="3136900"/>
              <a:ext cx="2749550" cy="64633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100" b="1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把空白页变成 </a:t>
              </a:r>
              <a:r>
                <a:rPr lang="en-US" altLang="zh-CN" sz="2100" b="1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60 </a:t>
              </a:r>
              <a:r>
                <a:rPr lang="zh-CN" altLang="en-US" sz="2100" b="1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分初稿</a:t>
              </a: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421B24A5-9CA4-88C3-CCB5-08C55C42E727}"/>
                </a:ext>
              </a:extLst>
            </p:cNvPr>
            <p:cNvSpPr txBox="1"/>
            <p:nvPr/>
          </p:nvSpPr>
          <p:spPr>
            <a:xfrm>
              <a:off x="5035550" y="3683000"/>
              <a:ext cx="2749550" cy="492443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需求文档、复盘提纲、汇报材料、面试评价、方案评审意见。</a:t>
              </a:r>
            </a:p>
          </p:txBody>
        </p:sp>
      </p:grpSp>
      <p:grpSp>
        <p:nvGrpSpPr>
          <p:cNvPr id="59" name="card_47">
            <a:extLst>
              <a:ext uri="{FF2B5EF4-FFF2-40B4-BE49-F238E27FC236}">
                <a16:creationId xmlns:a16="http://schemas.microsoft.com/office/drawing/2014/main" id="{75545238-7067-FEF0-B8B7-A3776C5EFF9B}"/>
              </a:ext>
            </a:extLst>
          </p:cNvPr>
          <p:cNvGrpSpPr/>
          <p:nvPr/>
        </p:nvGrpSpPr>
        <p:grpSpPr>
          <a:xfrm>
            <a:off x="8242300" y="2857500"/>
            <a:ext cx="3308350" cy="2159000"/>
            <a:chOff x="8242300" y="2857500"/>
            <a:chExt cx="3308350" cy="2159000"/>
          </a:xfrm>
        </p:grpSpPr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EDD40432-E40D-9C60-3C35-77C19CD8C60B}"/>
                </a:ext>
              </a:extLst>
            </p:cNvPr>
            <p:cNvSpPr/>
            <p:nvPr/>
          </p:nvSpPr>
          <p:spPr>
            <a:xfrm>
              <a:off x="8242300" y="2857500"/>
              <a:ext cx="3308350" cy="2159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03034259-1859-8F2C-0ABD-C8E697B05C11}"/>
                </a:ext>
              </a:extLst>
            </p:cNvPr>
            <p:cNvSpPr/>
            <p:nvPr/>
          </p:nvSpPr>
          <p:spPr>
            <a:xfrm>
              <a:off x="8242300" y="2857500"/>
              <a:ext cx="63500" cy="2159000"/>
            </a:xfrm>
            <a:prstGeom prst="rect">
              <a:avLst/>
            </a:prstGeom>
            <a:solidFill>
              <a:srgbClr val="9B75F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7141CF95-C44C-5555-D39D-8F8DF7304189}"/>
                </a:ext>
              </a:extLst>
            </p:cNvPr>
            <p:cNvSpPr txBox="1"/>
            <p:nvPr/>
          </p:nvSpPr>
          <p:spPr>
            <a:xfrm>
              <a:off x="8572500" y="3136900"/>
              <a:ext cx="2749550" cy="32316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100" b="1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穷举、反问、找盲区</a:t>
              </a: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61DB5A21-EF5C-61D3-07B3-1755342106EE}"/>
                </a:ext>
              </a:extLst>
            </p:cNvPr>
            <p:cNvSpPr txBox="1"/>
            <p:nvPr/>
          </p:nvSpPr>
          <p:spPr>
            <a:xfrm>
              <a:off x="8572500" y="3683000"/>
              <a:ext cx="2749550" cy="492443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用户、研发、测试、运营、制作人多视角挑战方案。</a:t>
              </a:r>
            </a:p>
          </p:txBody>
        </p:sp>
      </p:grpSp>
      <p:grpSp>
        <p:nvGrpSpPr>
          <p:cNvPr id="64" name="card_48">
            <a:extLst>
              <a:ext uri="{FF2B5EF4-FFF2-40B4-BE49-F238E27FC236}">
                <a16:creationId xmlns:a16="http://schemas.microsoft.com/office/drawing/2014/main" id="{2186E746-1D76-997E-DAAE-724ED6B82B79}"/>
              </a:ext>
            </a:extLst>
          </p:cNvPr>
          <p:cNvGrpSpPr/>
          <p:nvPr/>
        </p:nvGrpSpPr>
        <p:grpSpPr>
          <a:xfrm>
            <a:off x="11779250" y="2857500"/>
            <a:ext cx="3308350" cy="2159000"/>
            <a:chOff x="11779250" y="2857500"/>
            <a:chExt cx="3308350" cy="2159000"/>
          </a:xfrm>
        </p:grpSpPr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482AA6B7-AD3D-6066-1CA3-FCA282FBDD00}"/>
                </a:ext>
              </a:extLst>
            </p:cNvPr>
            <p:cNvSpPr/>
            <p:nvPr/>
          </p:nvSpPr>
          <p:spPr>
            <a:xfrm>
              <a:off x="11779250" y="2857500"/>
              <a:ext cx="3308350" cy="2159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8F1312ED-DC99-549C-395E-A2270B993C22}"/>
                </a:ext>
              </a:extLst>
            </p:cNvPr>
            <p:cNvSpPr/>
            <p:nvPr/>
          </p:nvSpPr>
          <p:spPr>
            <a:xfrm>
              <a:off x="11779250" y="2857500"/>
              <a:ext cx="63500" cy="2159000"/>
            </a:xfrm>
            <a:prstGeom prst="rect">
              <a:avLst/>
            </a:prstGeom>
            <a:solidFill>
              <a:srgbClr val="4C8DF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7A1A1B2B-7B6A-9B77-DCDD-A76F5842645F}"/>
                </a:ext>
              </a:extLst>
            </p:cNvPr>
            <p:cNvSpPr txBox="1"/>
            <p:nvPr/>
          </p:nvSpPr>
          <p:spPr>
            <a:xfrm>
              <a:off x="12109450" y="3136900"/>
              <a:ext cx="2749550" cy="32316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100" b="1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把一次经验沉淀成流程</a:t>
              </a:r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A754EE83-FFFB-6C3C-B5D6-C34F8AF2AC11}"/>
                </a:ext>
              </a:extLst>
            </p:cNvPr>
            <p:cNvSpPr txBox="1"/>
            <p:nvPr/>
          </p:nvSpPr>
          <p:spPr>
            <a:xfrm>
              <a:off x="12109450" y="3683000"/>
              <a:ext cx="2749550" cy="492443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en-US" altLang="zh-CN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Skill / SOP / </a:t>
              </a:r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模板 </a:t>
              </a:r>
              <a:r>
                <a:rPr lang="en-US" altLang="zh-CN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/ Checklist / </a:t>
              </a:r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工作流，下一次不用重来。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57896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16">
            <a:extLst>
              <a:ext uri="{FF2B5EF4-FFF2-40B4-BE49-F238E27FC236}">
                <a16:creationId xmlns:a16="http://schemas.microsoft.com/office/drawing/2014/main" id="{D4E9D02A-B6CA-CF15-41C4-027AD1A3319A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70B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C76061C-D1DB-2D24-4DB8-DF6228F25DA1}"/>
              </a:ext>
            </a:extLst>
          </p:cNvPr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D6AD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22E4E7B-3402-5BB3-F1FE-10CB3399E33A}"/>
              </a:ext>
            </a:extLst>
          </p:cNvPr>
          <p:cNvSpPr/>
          <p:nvPr/>
        </p:nvSpPr>
        <p:spPr>
          <a:xfrm>
            <a:off x="762000" y="571500"/>
            <a:ext cx="3937000" cy="3937000"/>
          </a:xfrm>
          <a:prstGeom prst="ellipse">
            <a:avLst/>
          </a:prstGeom>
          <a:solidFill>
            <a:srgbClr val="D6AD61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4B14E16-4E15-B469-A6D2-C13BFFE973A8}"/>
              </a:ext>
            </a:extLst>
          </p:cNvPr>
          <p:cNvSpPr/>
          <p:nvPr/>
        </p:nvSpPr>
        <p:spPr>
          <a:xfrm>
            <a:off x="11430000" y="889000"/>
            <a:ext cx="3556000" cy="3556000"/>
          </a:xfrm>
          <a:prstGeom prst="ellipse">
            <a:avLst/>
          </a:prstGeom>
          <a:solidFill>
            <a:srgbClr val="20C7AE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71F8F71-E95A-03D6-E7B7-ACADECDFB491}"/>
              </a:ext>
            </a:extLst>
          </p:cNvPr>
          <p:cNvSpPr/>
          <p:nvPr/>
        </p:nvSpPr>
        <p:spPr>
          <a:xfrm>
            <a:off x="10414000" y="5969000"/>
            <a:ext cx="3302000" cy="3302000"/>
          </a:xfrm>
          <a:prstGeom prst="ellipse">
            <a:avLst/>
          </a:prstGeom>
          <a:solidFill>
            <a:srgbClr val="9B75F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176BD7EE-7D6F-521A-2824-8B559BC2AC05}"/>
              </a:ext>
            </a:extLst>
          </p:cNvPr>
          <p:cNvCxnSpPr/>
          <p:nvPr/>
        </p:nvCxnSpPr>
        <p:spPr>
          <a:xfrm>
            <a:off x="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ED4C32A-84EB-678B-0E2E-4E78C0AA0179}"/>
              </a:ext>
            </a:extLst>
          </p:cNvPr>
          <p:cNvCxnSpPr/>
          <p:nvPr/>
        </p:nvCxnSpPr>
        <p:spPr>
          <a:xfrm>
            <a:off x="812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15F1759-50C6-AFA8-9E95-CF31A1B33A19}"/>
              </a:ext>
            </a:extLst>
          </p:cNvPr>
          <p:cNvCxnSpPr/>
          <p:nvPr/>
        </p:nvCxnSpPr>
        <p:spPr>
          <a:xfrm>
            <a:off x="1625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879225F-D9A8-D219-4855-41140C050F70}"/>
              </a:ext>
            </a:extLst>
          </p:cNvPr>
          <p:cNvCxnSpPr/>
          <p:nvPr/>
        </p:nvCxnSpPr>
        <p:spPr>
          <a:xfrm>
            <a:off x="2438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F5B8084-C4EA-D165-44B8-CF0D12E5C493}"/>
              </a:ext>
            </a:extLst>
          </p:cNvPr>
          <p:cNvCxnSpPr/>
          <p:nvPr/>
        </p:nvCxnSpPr>
        <p:spPr>
          <a:xfrm>
            <a:off x="3251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0C1F390A-E8C2-7B07-0BD7-E2F7573351B7}"/>
              </a:ext>
            </a:extLst>
          </p:cNvPr>
          <p:cNvCxnSpPr/>
          <p:nvPr/>
        </p:nvCxnSpPr>
        <p:spPr>
          <a:xfrm>
            <a:off x="4064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12035F58-D504-2608-38C7-000527DDF381}"/>
              </a:ext>
            </a:extLst>
          </p:cNvPr>
          <p:cNvCxnSpPr/>
          <p:nvPr/>
        </p:nvCxnSpPr>
        <p:spPr>
          <a:xfrm>
            <a:off x="4876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25FE47B7-EA85-8C1B-BE54-289F37597184}"/>
              </a:ext>
            </a:extLst>
          </p:cNvPr>
          <p:cNvCxnSpPr/>
          <p:nvPr/>
        </p:nvCxnSpPr>
        <p:spPr>
          <a:xfrm>
            <a:off x="5689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77A06C0A-5394-2996-CEEF-3067F8425F49}"/>
              </a:ext>
            </a:extLst>
          </p:cNvPr>
          <p:cNvCxnSpPr/>
          <p:nvPr/>
        </p:nvCxnSpPr>
        <p:spPr>
          <a:xfrm>
            <a:off x="6502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CF28DE36-AF53-D11E-936E-B6B4F4D6BF45}"/>
              </a:ext>
            </a:extLst>
          </p:cNvPr>
          <p:cNvCxnSpPr/>
          <p:nvPr/>
        </p:nvCxnSpPr>
        <p:spPr>
          <a:xfrm>
            <a:off x="7315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05662FB-C9C0-045C-30D8-6A6E01B1BBED}"/>
              </a:ext>
            </a:extLst>
          </p:cNvPr>
          <p:cNvCxnSpPr/>
          <p:nvPr/>
        </p:nvCxnSpPr>
        <p:spPr>
          <a:xfrm>
            <a:off x="8128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F94E5BD-E04D-8826-C94C-3F46B0149C17}"/>
              </a:ext>
            </a:extLst>
          </p:cNvPr>
          <p:cNvCxnSpPr/>
          <p:nvPr/>
        </p:nvCxnSpPr>
        <p:spPr>
          <a:xfrm>
            <a:off x="8940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F8D70557-3F68-7032-AD60-5B5105BDFFC1}"/>
              </a:ext>
            </a:extLst>
          </p:cNvPr>
          <p:cNvCxnSpPr/>
          <p:nvPr/>
        </p:nvCxnSpPr>
        <p:spPr>
          <a:xfrm>
            <a:off x="9753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A96DC350-7C34-8387-5C4F-13817C5E7EB4}"/>
              </a:ext>
            </a:extLst>
          </p:cNvPr>
          <p:cNvCxnSpPr/>
          <p:nvPr/>
        </p:nvCxnSpPr>
        <p:spPr>
          <a:xfrm>
            <a:off x="10566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0BA37736-8E51-3C4E-D6AF-C4AB534B41C7}"/>
              </a:ext>
            </a:extLst>
          </p:cNvPr>
          <p:cNvCxnSpPr/>
          <p:nvPr/>
        </p:nvCxnSpPr>
        <p:spPr>
          <a:xfrm>
            <a:off x="11379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E5EEDB2C-502B-B197-680D-96A43BCC29DB}"/>
              </a:ext>
            </a:extLst>
          </p:cNvPr>
          <p:cNvCxnSpPr/>
          <p:nvPr/>
        </p:nvCxnSpPr>
        <p:spPr>
          <a:xfrm>
            <a:off x="12192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C39034D9-D676-C6A4-758D-9AAE88F3D795}"/>
              </a:ext>
            </a:extLst>
          </p:cNvPr>
          <p:cNvCxnSpPr/>
          <p:nvPr/>
        </p:nvCxnSpPr>
        <p:spPr>
          <a:xfrm>
            <a:off x="13004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BB11451A-45CC-89C7-B678-4753AA4DAA07}"/>
              </a:ext>
            </a:extLst>
          </p:cNvPr>
          <p:cNvCxnSpPr/>
          <p:nvPr/>
        </p:nvCxnSpPr>
        <p:spPr>
          <a:xfrm>
            <a:off x="13817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CAE4B8D3-160A-A7AC-6D68-F7B35E4A50C7}"/>
              </a:ext>
            </a:extLst>
          </p:cNvPr>
          <p:cNvCxnSpPr/>
          <p:nvPr/>
        </p:nvCxnSpPr>
        <p:spPr>
          <a:xfrm>
            <a:off x="14630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ABE740E0-980F-D655-662A-91913DB1C72E}"/>
              </a:ext>
            </a:extLst>
          </p:cNvPr>
          <p:cNvCxnSpPr/>
          <p:nvPr/>
        </p:nvCxnSpPr>
        <p:spPr>
          <a:xfrm>
            <a:off x="15443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68E79250-5B96-4107-8BAB-BA62461ACB21}"/>
              </a:ext>
            </a:extLst>
          </p:cNvPr>
          <p:cNvCxnSpPr/>
          <p:nvPr/>
        </p:nvCxnSpPr>
        <p:spPr>
          <a:xfrm>
            <a:off x="0" y="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72A2F206-7F9E-D91A-1163-D2591C7C1BC9}"/>
              </a:ext>
            </a:extLst>
          </p:cNvPr>
          <p:cNvCxnSpPr/>
          <p:nvPr/>
        </p:nvCxnSpPr>
        <p:spPr>
          <a:xfrm>
            <a:off x="0" y="812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DBC8ACC4-9F43-538D-CB8F-BDB9789149CF}"/>
              </a:ext>
            </a:extLst>
          </p:cNvPr>
          <p:cNvCxnSpPr/>
          <p:nvPr/>
        </p:nvCxnSpPr>
        <p:spPr>
          <a:xfrm>
            <a:off x="0" y="1625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9F0EFADB-0764-40B3-A7F7-59287C54CE0E}"/>
              </a:ext>
            </a:extLst>
          </p:cNvPr>
          <p:cNvCxnSpPr/>
          <p:nvPr/>
        </p:nvCxnSpPr>
        <p:spPr>
          <a:xfrm>
            <a:off x="0" y="2438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52D72908-88D5-2990-40EB-2CCD8A548750}"/>
              </a:ext>
            </a:extLst>
          </p:cNvPr>
          <p:cNvCxnSpPr/>
          <p:nvPr/>
        </p:nvCxnSpPr>
        <p:spPr>
          <a:xfrm>
            <a:off x="0" y="3251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C3AF47D3-4F89-2BB0-B079-FE745A55BAB0}"/>
              </a:ext>
            </a:extLst>
          </p:cNvPr>
          <p:cNvCxnSpPr/>
          <p:nvPr/>
        </p:nvCxnSpPr>
        <p:spPr>
          <a:xfrm>
            <a:off x="0" y="4064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EFD44C8C-A864-F844-6A2C-9D0C21E95FB4}"/>
              </a:ext>
            </a:extLst>
          </p:cNvPr>
          <p:cNvCxnSpPr/>
          <p:nvPr/>
        </p:nvCxnSpPr>
        <p:spPr>
          <a:xfrm>
            <a:off x="0" y="4876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30976B31-A613-FC86-2032-641700274F25}"/>
              </a:ext>
            </a:extLst>
          </p:cNvPr>
          <p:cNvCxnSpPr/>
          <p:nvPr/>
        </p:nvCxnSpPr>
        <p:spPr>
          <a:xfrm>
            <a:off x="0" y="5689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00719C50-9A88-F766-9E58-0C549812A64B}"/>
              </a:ext>
            </a:extLst>
          </p:cNvPr>
          <p:cNvCxnSpPr/>
          <p:nvPr/>
        </p:nvCxnSpPr>
        <p:spPr>
          <a:xfrm>
            <a:off x="0" y="6502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13576E8B-EA54-FB8C-6514-1CE1E2F27B51}"/>
              </a:ext>
            </a:extLst>
          </p:cNvPr>
          <p:cNvCxnSpPr/>
          <p:nvPr/>
        </p:nvCxnSpPr>
        <p:spPr>
          <a:xfrm>
            <a:off x="0" y="7315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D8DC0A20-A41D-2564-1A53-533A1EEAE026}"/>
              </a:ext>
            </a:extLst>
          </p:cNvPr>
          <p:cNvCxnSpPr/>
          <p:nvPr/>
        </p:nvCxnSpPr>
        <p:spPr>
          <a:xfrm>
            <a:off x="0" y="8128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8B4D750-B146-83F5-8FC8-2F6EEF82353B}"/>
              </a:ext>
            </a:extLst>
          </p:cNvPr>
          <p:cNvCxnSpPr/>
          <p:nvPr/>
        </p:nvCxnSpPr>
        <p:spPr>
          <a:xfrm>
            <a:off x="0" y="8940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56A8B8B0-27E0-3A24-6181-275BE0CD8374}"/>
              </a:ext>
            </a:extLst>
          </p:cNvPr>
          <p:cNvSpPr txBox="1"/>
          <p:nvPr/>
        </p:nvSpPr>
        <p:spPr>
          <a:xfrm>
            <a:off x="914400" y="609600"/>
            <a:ext cx="11430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400">
                <a:solidFill>
                  <a:srgbClr val="D6AD61"/>
                </a:solidFill>
                <a:latin typeface="Consolas" panose="020B0609020204030204" pitchFamily="49" charset="0"/>
              </a:rPr>
              <a:t>Boundary</a:t>
            </a:r>
            <a:endParaRPr lang="zh-CN" altLang="en-US" sz="1400">
              <a:solidFill>
                <a:srgbClr val="D6AD6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B975E38-3E0F-C400-8CF3-9EFBF79EDE6A}"/>
              </a:ext>
            </a:extLst>
          </p:cNvPr>
          <p:cNvSpPr txBox="1"/>
          <p:nvPr/>
        </p:nvSpPr>
        <p:spPr>
          <a:xfrm>
            <a:off x="914400" y="990600"/>
            <a:ext cx="13208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3600" b="1">
                <a:solidFill>
                  <a:srgbClr val="EFECE5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AI </a:t>
            </a:r>
            <a:r>
              <a:rPr lang="zh-CN" altLang="en-US" sz="3600" b="1">
                <a:solidFill>
                  <a:srgbClr val="EFECE5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不擅长：替人做价值判断和责任判断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1D1D757-0336-668A-8F68-BDFF41C0673A}"/>
              </a:ext>
            </a:extLst>
          </p:cNvPr>
          <p:cNvSpPr txBox="1"/>
          <p:nvPr/>
        </p:nvSpPr>
        <p:spPr>
          <a:xfrm>
            <a:off x="914400" y="1905000"/>
            <a:ext cx="1270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越贴近我们的工作，越不能神化 </a:t>
            </a:r>
            <a:r>
              <a:rPr lang="en-US" altLang="zh-CN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AI</a:t>
            </a:r>
            <a:endParaRPr lang="zh-CN" altLang="en-US">
              <a:solidFill>
                <a:srgbClr val="A7ADB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CAD40CC4-0F69-058E-7FE4-1DD138F57120}"/>
              </a:ext>
            </a:extLst>
          </p:cNvPr>
          <p:cNvSpPr txBox="1"/>
          <p:nvPr/>
        </p:nvSpPr>
        <p:spPr>
          <a:xfrm>
            <a:off x="914400" y="8686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1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驯化野生硅基伙伴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12976CB-2924-8509-9E1E-FA70BBC759CB}"/>
              </a:ext>
            </a:extLst>
          </p:cNvPr>
          <p:cNvSpPr txBox="1"/>
          <p:nvPr/>
        </p:nvSpPr>
        <p:spPr>
          <a:xfrm>
            <a:off x="14732000" y="86868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697184"/>
                </a:solidFill>
                <a:latin typeface="Consolas" panose="020B0609020204030204" pitchFamily="49" charset="0"/>
              </a:rPr>
              <a:t>16 / 18</a:t>
            </a:r>
            <a:endParaRPr lang="zh-CN" altLang="en-US" sz="1100">
              <a:solidFill>
                <a:srgbClr val="697184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D7BEE10-2B60-E737-9A67-A008DDDBBE5C}"/>
              </a:ext>
            </a:extLst>
          </p:cNvPr>
          <p:cNvSpPr/>
          <p:nvPr/>
        </p:nvSpPr>
        <p:spPr>
          <a:xfrm>
            <a:off x="0" y="9093200"/>
            <a:ext cx="14449778" cy="50800"/>
          </a:xfrm>
          <a:prstGeom prst="rect">
            <a:avLst/>
          </a:prstGeom>
          <a:solidFill>
            <a:srgbClr val="20C7A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9" name="list_49">
            <a:extLst>
              <a:ext uri="{FF2B5EF4-FFF2-40B4-BE49-F238E27FC236}">
                <a16:creationId xmlns:a16="http://schemas.microsoft.com/office/drawing/2014/main" id="{86BC014E-95F8-115F-2CAF-58C6968B4ADF}"/>
              </a:ext>
            </a:extLst>
          </p:cNvPr>
          <p:cNvGrpSpPr/>
          <p:nvPr/>
        </p:nvGrpSpPr>
        <p:grpSpPr>
          <a:xfrm>
            <a:off x="1168400" y="2921000"/>
            <a:ext cx="6819900" cy="3937000"/>
            <a:chOff x="1168400" y="2921000"/>
            <a:chExt cx="6819900" cy="3937000"/>
          </a:xfrm>
        </p:grpSpPr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E564BB43-4A16-ABFC-A47A-30ACCE60DE7F}"/>
                </a:ext>
              </a:extLst>
            </p:cNvPr>
            <p:cNvSpPr/>
            <p:nvPr/>
          </p:nvSpPr>
          <p:spPr>
            <a:xfrm>
              <a:off x="1168400" y="2921000"/>
              <a:ext cx="6819900" cy="3937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FF5F7D">
                  <a:alpha val="6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5EFE225C-D5B0-8264-304C-516867DE4104}"/>
                </a:ext>
              </a:extLst>
            </p:cNvPr>
            <p:cNvSpPr/>
            <p:nvPr/>
          </p:nvSpPr>
          <p:spPr>
            <a:xfrm>
              <a:off x="1168400" y="2921000"/>
              <a:ext cx="63500" cy="3937000"/>
            </a:xfrm>
            <a:prstGeom prst="rect">
              <a:avLst/>
            </a:prstGeom>
            <a:solidFill>
              <a:srgbClr val="FF5F7D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FF906E74-1E3C-32BF-E519-162EE03D9562}"/>
                </a:ext>
              </a:extLst>
            </p:cNvPr>
            <p:cNvSpPr txBox="1"/>
            <p:nvPr/>
          </p:nvSpPr>
          <p:spPr>
            <a:xfrm>
              <a:off x="1498600" y="3200400"/>
              <a:ext cx="62611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400" b="1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不能替人负责</a:t>
              </a: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2F8F5359-B5EE-8CF8-7C0E-197BB43B7710}"/>
                </a:ext>
              </a:extLst>
            </p:cNvPr>
            <p:cNvSpPr txBox="1"/>
            <p:nvPr/>
          </p:nvSpPr>
          <p:spPr>
            <a:xfrm>
              <a:off x="1524000" y="3810000"/>
              <a:ext cx="6134100" cy="78483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en-US" altLang="zh-CN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• 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不能替制作人决定版本取舍
</a:t>
              </a:r>
              <a:r>
                <a:rPr lang="en-US" altLang="zh-CN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• 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不能替管理者判断人怎么培养
</a:t>
              </a:r>
              <a:r>
                <a:rPr lang="en-US" altLang="zh-CN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• 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不能替负责人承担上线风险</a:t>
              </a:r>
            </a:p>
          </p:txBody>
        </p:sp>
      </p:grpSp>
      <p:grpSp>
        <p:nvGrpSpPr>
          <p:cNvPr id="54" name="list_50">
            <a:extLst>
              <a:ext uri="{FF2B5EF4-FFF2-40B4-BE49-F238E27FC236}">
                <a16:creationId xmlns:a16="http://schemas.microsoft.com/office/drawing/2014/main" id="{651C463E-2E7D-56BA-7EBB-C0162A691E5E}"/>
              </a:ext>
            </a:extLst>
          </p:cNvPr>
          <p:cNvGrpSpPr/>
          <p:nvPr/>
        </p:nvGrpSpPr>
        <p:grpSpPr>
          <a:xfrm>
            <a:off x="8267700" y="2921000"/>
            <a:ext cx="6819900" cy="3937000"/>
            <a:chOff x="8267700" y="2921000"/>
            <a:chExt cx="6819900" cy="3937000"/>
          </a:xfrm>
        </p:grpSpPr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FBDC56AC-38D1-0A23-9863-E7441F9F8610}"/>
                </a:ext>
              </a:extLst>
            </p:cNvPr>
            <p:cNvSpPr/>
            <p:nvPr/>
          </p:nvSpPr>
          <p:spPr>
            <a:xfrm>
              <a:off x="8267700" y="2921000"/>
              <a:ext cx="6819900" cy="3937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D6AD61">
                  <a:alpha val="6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171EE63C-5C83-E0CB-5200-AE8790AA6279}"/>
                </a:ext>
              </a:extLst>
            </p:cNvPr>
            <p:cNvSpPr/>
            <p:nvPr/>
          </p:nvSpPr>
          <p:spPr>
            <a:xfrm>
              <a:off x="8267700" y="2921000"/>
              <a:ext cx="63500" cy="3937000"/>
            </a:xfrm>
            <a:prstGeom prst="rect">
              <a:avLst/>
            </a:prstGeom>
            <a:solidFill>
              <a:srgbClr val="D6AD6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4A6E68FC-0194-9F61-8ECB-001B5B20DFDD}"/>
                </a:ext>
              </a:extLst>
            </p:cNvPr>
            <p:cNvSpPr txBox="1"/>
            <p:nvPr/>
          </p:nvSpPr>
          <p:spPr>
            <a:xfrm>
              <a:off x="8597900" y="3200400"/>
              <a:ext cx="62611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400" b="1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不能当事实数据源</a:t>
              </a: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9AACC748-A2C5-323F-C5D3-AB655D0E66CD}"/>
                </a:ext>
              </a:extLst>
            </p:cNvPr>
            <p:cNvSpPr txBox="1"/>
            <p:nvPr/>
          </p:nvSpPr>
          <p:spPr>
            <a:xfrm>
              <a:off x="8623300" y="3810000"/>
              <a:ext cx="6134100" cy="104644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en-US" altLang="zh-CN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• 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排期要看 </a:t>
              </a:r>
              <a:r>
                <a:rPr lang="en-US" altLang="zh-CN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PM 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系统
</a:t>
              </a:r>
              <a:r>
                <a:rPr lang="en-US" altLang="zh-CN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• 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日程、待办、文档状态要查系统
</a:t>
              </a:r>
              <a:r>
                <a:rPr lang="en-US" altLang="zh-CN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• 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代码脚本要跑测试
</a:t>
              </a:r>
              <a:r>
                <a:rPr lang="en-US" altLang="zh-CN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• 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人事评价要回到事实证据</a:t>
              </a:r>
            </a:p>
          </p:txBody>
        </p:sp>
      </p:grpSp>
      <p:grpSp>
        <p:nvGrpSpPr>
          <p:cNvPr id="58" name="quote_51">
            <a:extLst>
              <a:ext uri="{FF2B5EF4-FFF2-40B4-BE49-F238E27FC236}">
                <a16:creationId xmlns:a16="http://schemas.microsoft.com/office/drawing/2014/main" id="{3F1C2F14-F431-AD0C-40FB-12F2E69B3BB7}"/>
              </a:ext>
            </a:extLst>
          </p:cNvPr>
          <p:cNvGrpSpPr/>
          <p:nvPr/>
        </p:nvGrpSpPr>
        <p:grpSpPr>
          <a:xfrm>
            <a:off x="914400" y="7670800"/>
            <a:ext cx="14427200" cy="889000"/>
            <a:chOff x="914400" y="7670800"/>
            <a:chExt cx="14427200" cy="889000"/>
          </a:xfrm>
        </p:grpSpPr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4740BEB7-4472-4CAF-1D1A-19333D49D360}"/>
                </a:ext>
              </a:extLst>
            </p:cNvPr>
            <p:cNvSpPr/>
            <p:nvPr/>
          </p:nvSpPr>
          <p:spPr>
            <a:xfrm>
              <a:off x="914400" y="7670800"/>
              <a:ext cx="14427200" cy="889000"/>
            </a:xfrm>
            <a:prstGeom prst="roundRect">
              <a:avLst/>
            </a:prstGeom>
            <a:solidFill>
              <a:srgbClr val="20C7AE">
                <a:alpha val="12000"/>
              </a:srgbClr>
            </a:solidFill>
            <a:ln w="12700" cap="flat" cmpd="sng" algn="ctr">
              <a:solidFill>
                <a:srgbClr val="20C7AE">
                  <a:alpha val="5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FF05D1A2-B1EF-676B-AF08-07C210E18F36}"/>
                </a:ext>
              </a:extLst>
            </p:cNvPr>
            <p:cNvSpPr/>
            <p:nvPr/>
          </p:nvSpPr>
          <p:spPr>
            <a:xfrm>
              <a:off x="914400" y="7670800"/>
              <a:ext cx="76200" cy="889000"/>
            </a:xfrm>
            <a:prstGeom prst="rect">
              <a:avLst/>
            </a:prstGeom>
            <a:solidFill>
              <a:srgbClr val="20C7A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488BAD6D-2DE7-6C40-51EC-863571A31AB7}"/>
                </a:ext>
              </a:extLst>
            </p:cNvPr>
            <p:cNvSpPr txBox="1"/>
            <p:nvPr/>
          </p:nvSpPr>
          <p:spPr>
            <a:xfrm>
              <a:off x="1270000" y="7874000"/>
              <a:ext cx="137668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边界：</a:t>
              </a:r>
              <a:r>
                <a:rPr lang="en-US" altLang="zh-CN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AI </a:t>
              </a:r>
              <a:r>
                <a:rPr lang="zh-CN" altLang="en-US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可以帮你想得更全，但不能替你负责。涉及事实、数字、排期、权限和执行结果，必须回到系统校验。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84228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17">
            <a:extLst>
              <a:ext uri="{FF2B5EF4-FFF2-40B4-BE49-F238E27FC236}">
                <a16:creationId xmlns:a16="http://schemas.microsoft.com/office/drawing/2014/main" id="{283FEC29-7FD0-622E-D71D-55929A88423E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70B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D46F5AE-EBD7-C98D-1FFB-5AA39B1DFE90}"/>
              </a:ext>
            </a:extLst>
          </p:cNvPr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D6AD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744CF49C-2C5F-8C94-AC82-75CD6BCA34FB}"/>
              </a:ext>
            </a:extLst>
          </p:cNvPr>
          <p:cNvSpPr/>
          <p:nvPr/>
        </p:nvSpPr>
        <p:spPr>
          <a:xfrm>
            <a:off x="762000" y="571500"/>
            <a:ext cx="3937000" cy="3937000"/>
          </a:xfrm>
          <a:prstGeom prst="ellipse">
            <a:avLst/>
          </a:prstGeom>
          <a:solidFill>
            <a:srgbClr val="D6AD61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8134037-A1D8-B849-0A6D-676F2DF9848E}"/>
              </a:ext>
            </a:extLst>
          </p:cNvPr>
          <p:cNvSpPr/>
          <p:nvPr/>
        </p:nvSpPr>
        <p:spPr>
          <a:xfrm>
            <a:off x="11430000" y="889000"/>
            <a:ext cx="3556000" cy="3556000"/>
          </a:xfrm>
          <a:prstGeom prst="ellipse">
            <a:avLst/>
          </a:prstGeom>
          <a:solidFill>
            <a:srgbClr val="20C7AE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828716A2-DF4D-8E91-1897-E14F8F7B9315}"/>
              </a:ext>
            </a:extLst>
          </p:cNvPr>
          <p:cNvSpPr/>
          <p:nvPr/>
        </p:nvSpPr>
        <p:spPr>
          <a:xfrm>
            <a:off x="10414000" y="5969000"/>
            <a:ext cx="3302000" cy="3302000"/>
          </a:xfrm>
          <a:prstGeom prst="ellipse">
            <a:avLst/>
          </a:prstGeom>
          <a:solidFill>
            <a:srgbClr val="9B75F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AB166B4-08C7-214A-5A21-8ADD7840508C}"/>
              </a:ext>
            </a:extLst>
          </p:cNvPr>
          <p:cNvCxnSpPr/>
          <p:nvPr/>
        </p:nvCxnSpPr>
        <p:spPr>
          <a:xfrm>
            <a:off x="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2728165-1682-EC78-41D5-5C2D3CEAE6E1}"/>
              </a:ext>
            </a:extLst>
          </p:cNvPr>
          <p:cNvCxnSpPr/>
          <p:nvPr/>
        </p:nvCxnSpPr>
        <p:spPr>
          <a:xfrm>
            <a:off x="812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B7FF5E9-D876-2194-AF2A-3114AF7AE786}"/>
              </a:ext>
            </a:extLst>
          </p:cNvPr>
          <p:cNvCxnSpPr/>
          <p:nvPr/>
        </p:nvCxnSpPr>
        <p:spPr>
          <a:xfrm>
            <a:off x="1625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E9280E0C-3A17-19A4-BCD6-35E189667126}"/>
              </a:ext>
            </a:extLst>
          </p:cNvPr>
          <p:cNvCxnSpPr/>
          <p:nvPr/>
        </p:nvCxnSpPr>
        <p:spPr>
          <a:xfrm>
            <a:off x="2438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E430287F-9AFC-5679-28A1-8EC053C50546}"/>
              </a:ext>
            </a:extLst>
          </p:cNvPr>
          <p:cNvCxnSpPr/>
          <p:nvPr/>
        </p:nvCxnSpPr>
        <p:spPr>
          <a:xfrm>
            <a:off x="3251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55471829-1D18-671C-9A30-CAE484B1B932}"/>
              </a:ext>
            </a:extLst>
          </p:cNvPr>
          <p:cNvCxnSpPr/>
          <p:nvPr/>
        </p:nvCxnSpPr>
        <p:spPr>
          <a:xfrm>
            <a:off x="4064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02819057-F2A0-1E24-27C0-7AEA11429516}"/>
              </a:ext>
            </a:extLst>
          </p:cNvPr>
          <p:cNvCxnSpPr/>
          <p:nvPr/>
        </p:nvCxnSpPr>
        <p:spPr>
          <a:xfrm>
            <a:off x="4876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CBA27396-6A6F-75A9-C208-14A7163AC7D7}"/>
              </a:ext>
            </a:extLst>
          </p:cNvPr>
          <p:cNvCxnSpPr/>
          <p:nvPr/>
        </p:nvCxnSpPr>
        <p:spPr>
          <a:xfrm>
            <a:off x="5689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640D5704-44B8-7E6B-9808-A9B37CE280D7}"/>
              </a:ext>
            </a:extLst>
          </p:cNvPr>
          <p:cNvCxnSpPr/>
          <p:nvPr/>
        </p:nvCxnSpPr>
        <p:spPr>
          <a:xfrm>
            <a:off x="6502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CCF9EBEA-E269-3880-891B-B0CD1804359D}"/>
              </a:ext>
            </a:extLst>
          </p:cNvPr>
          <p:cNvCxnSpPr/>
          <p:nvPr/>
        </p:nvCxnSpPr>
        <p:spPr>
          <a:xfrm>
            <a:off x="7315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2329B5E-3878-FC67-FF5A-770F08E2D8B8}"/>
              </a:ext>
            </a:extLst>
          </p:cNvPr>
          <p:cNvCxnSpPr/>
          <p:nvPr/>
        </p:nvCxnSpPr>
        <p:spPr>
          <a:xfrm>
            <a:off x="8128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1D549B91-FE85-6950-BA1F-551423DD2368}"/>
              </a:ext>
            </a:extLst>
          </p:cNvPr>
          <p:cNvCxnSpPr/>
          <p:nvPr/>
        </p:nvCxnSpPr>
        <p:spPr>
          <a:xfrm>
            <a:off x="8940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1816B938-B0A8-740E-8F90-B2C09B153392}"/>
              </a:ext>
            </a:extLst>
          </p:cNvPr>
          <p:cNvCxnSpPr/>
          <p:nvPr/>
        </p:nvCxnSpPr>
        <p:spPr>
          <a:xfrm>
            <a:off x="9753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F53157B5-688E-7C3A-D656-720E14708DE7}"/>
              </a:ext>
            </a:extLst>
          </p:cNvPr>
          <p:cNvCxnSpPr/>
          <p:nvPr/>
        </p:nvCxnSpPr>
        <p:spPr>
          <a:xfrm>
            <a:off x="10566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FE4A1823-0820-E2F1-C3AA-1BBDEEFCE0C2}"/>
              </a:ext>
            </a:extLst>
          </p:cNvPr>
          <p:cNvCxnSpPr/>
          <p:nvPr/>
        </p:nvCxnSpPr>
        <p:spPr>
          <a:xfrm>
            <a:off x="11379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AB9D7D04-6CC6-AEAD-AF45-CC9863E6831E}"/>
              </a:ext>
            </a:extLst>
          </p:cNvPr>
          <p:cNvCxnSpPr/>
          <p:nvPr/>
        </p:nvCxnSpPr>
        <p:spPr>
          <a:xfrm>
            <a:off x="12192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470547F8-C5C5-AE9B-92C1-D52B9FF7DE68}"/>
              </a:ext>
            </a:extLst>
          </p:cNvPr>
          <p:cNvCxnSpPr/>
          <p:nvPr/>
        </p:nvCxnSpPr>
        <p:spPr>
          <a:xfrm>
            <a:off x="13004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26BEE0CE-F5C7-37D1-4D43-76D69E515EE2}"/>
              </a:ext>
            </a:extLst>
          </p:cNvPr>
          <p:cNvCxnSpPr/>
          <p:nvPr/>
        </p:nvCxnSpPr>
        <p:spPr>
          <a:xfrm>
            <a:off x="13817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F38A81BF-F8F3-738A-9540-963ABDBEC97E}"/>
              </a:ext>
            </a:extLst>
          </p:cNvPr>
          <p:cNvCxnSpPr/>
          <p:nvPr/>
        </p:nvCxnSpPr>
        <p:spPr>
          <a:xfrm>
            <a:off x="14630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E01478DB-F7DF-8F75-72F0-5F02F30EF122}"/>
              </a:ext>
            </a:extLst>
          </p:cNvPr>
          <p:cNvCxnSpPr/>
          <p:nvPr/>
        </p:nvCxnSpPr>
        <p:spPr>
          <a:xfrm>
            <a:off x="15443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6B87F80C-BEA2-FA74-B36B-6A398EC709F8}"/>
              </a:ext>
            </a:extLst>
          </p:cNvPr>
          <p:cNvCxnSpPr/>
          <p:nvPr/>
        </p:nvCxnSpPr>
        <p:spPr>
          <a:xfrm>
            <a:off x="0" y="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F9150EB5-9779-5E71-8135-993DCD3BD16D}"/>
              </a:ext>
            </a:extLst>
          </p:cNvPr>
          <p:cNvCxnSpPr/>
          <p:nvPr/>
        </p:nvCxnSpPr>
        <p:spPr>
          <a:xfrm>
            <a:off x="0" y="812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C83170DB-7EC2-0161-53C0-F4160239B631}"/>
              </a:ext>
            </a:extLst>
          </p:cNvPr>
          <p:cNvCxnSpPr/>
          <p:nvPr/>
        </p:nvCxnSpPr>
        <p:spPr>
          <a:xfrm>
            <a:off x="0" y="1625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76C22F2-7297-6683-3107-4E5DB96AE67B}"/>
              </a:ext>
            </a:extLst>
          </p:cNvPr>
          <p:cNvCxnSpPr/>
          <p:nvPr/>
        </p:nvCxnSpPr>
        <p:spPr>
          <a:xfrm>
            <a:off x="0" y="2438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9E727812-AF76-C043-2C72-41EF2571CE58}"/>
              </a:ext>
            </a:extLst>
          </p:cNvPr>
          <p:cNvCxnSpPr/>
          <p:nvPr/>
        </p:nvCxnSpPr>
        <p:spPr>
          <a:xfrm>
            <a:off x="0" y="3251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3893EBF5-C294-D5D1-3E2E-39E7C99BF8B7}"/>
              </a:ext>
            </a:extLst>
          </p:cNvPr>
          <p:cNvCxnSpPr/>
          <p:nvPr/>
        </p:nvCxnSpPr>
        <p:spPr>
          <a:xfrm>
            <a:off x="0" y="4064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5A0790F8-3CE3-8FB7-BDD8-9C92CDB97CAB}"/>
              </a:ext>
            </a:extLst>
          </p:cNvPr>
          <p:cNvCxnSpPr/>
          <p:nvPr/>
        </p:nvCxnSpPr>
        <p:spPr>
          <a:xfrm>
            <a:off x="0" y="4876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BCC859F1-96F5-01D9-9086-BF04E7BA9196}"/>
              </a:ext>
            </a:extLst>
          </p:cNvPr>
          <p:cNvCxnSpPr/>
          <p:nvPr/>
        </p:nvCxnSpPr>
        <p:spPr>
          <a:xfrm>
            <a:off x="0" y="5689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19AA9AF1-BE99-1B65-C4C1-0B88D1E39DBB}"/>
              </a:ext>
            </a:extLst>
          </p:cNvPr>
          <p:cNvCxnSpPr/>
          <p:nvPr/>
        </p:nvCxnSpPr>
        <p:spPr>
          <a:xfrm>
            <a:off x="0" y="6502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BDE14397-E4E7-EBB4-5DFF-7522FF5B0AD5}"/>
              </a:ext>
            </a:extLst>
          </p:cNvPr>
          <p:cNvCxnSpPr/>
          <p:nvPr/>
        </p:nvCxnSpPr>
        <p:spPr>
          <a:xfrm>
            <a:off x="0" y="7315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78F5DC54-387A-9F19-8334-61833103651A}"/>
              </a:ext>
            </a:extLst>
          </p:cNvPr>
          <p:cNvCxnSpPr/>
          <p:nvPr/>
        </p:nvCxnSpPr>
        <p:spPr>
          <a:xfrm>
            <a:off x="0" y="8128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ECF83BAF-515D-7AA9-D906-D0E52FE4605D}"/>
              </a:ext>
            </a:extLst>
          </p:cNvPr>
          <p:cNvCxnSpPr/>
          <p:nvPr/>
        </p:nvCxnSpPr>
        <p:spPr>
          <a:xfrm>
            <a:off x="0" y="8940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4051FFD2-E6BD-B8BD-59DE-7C3FC8FFC67A}"/>
              </a:ext>
            </a:extLst>
          </p:cNvPr>
          <p:cNvSpPr txBox="1"/>
          <p:nvPr/>
        </p:nvSpPr>
        <p:spPr>
          <a:xfrm>
            <a:off x="914400" y="609600"/>
            <a:ext cx="11430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400">
                <a:solidFill>
                  <a:srgbClr val="D6AD61"/>
                </a:solidFill>
                <a:latin typeface="Consolas" panose="020B0609020204030204" pitchFamily="49" charset="0"/>
              </a:rPr>
              <a:t>Action</a:t>
            </a:r>
            <a:endParaRPr lang="zh-CN" altLang="en-US" sz="1400">
              <a:solidFill>
                <a:srgbClr val="D6AD6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843F661-8A5C-AD6F-EB9C-B2CE01C6BFC0}"/>
              </a:ext>
            </a:extLst>
          </p:cNvPr>
          <p:cNvSpPr txBox="1"/>
          <p:nvPr/>
        </p:nvSpPr>
        <p:spPr>
          <a:xfrm>
            <a:off x="914400" y="990600"/>
            <a:ext cx="13208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600" b="1">
                <a:solidFill>
                  <a:srgbClr val="EFECE5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行动指南：今天下班前完成一轮驯化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010803B-0036-CCE7-2D30-960A64AA6C2D}"/>
              </a:ext>
            </a:extLst>
          </p:cNvPr>
          <p:cNvSpPr txBox="1"/>
          <p:nvPr/>
        </p:nvSpPr>
        <p:spPr>
          <a:xfrm>
            <a:off x="914400" y="1905000"/>
            <a:ext cx="1270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选一个 </a:t>
            </a:r>
            <a:r>
              <a:rPr lang="en-US" altLang="zh-CN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30 </a:t>
            </a:r>
            <a:r>
              <a:rPr lang="zh-CN" altLang="en-US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分钟以上、以后还会重复出现的真实任务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61159ED-8B37-E4E0-8228-623C68499EF1}"/>
              </a:ext>
            </a:extLst>
          </p:cNvPr>
          <p:cNvSpPr txBox="1"/>
          <p:nvPr/>
        </p:nvSpPr>
        <p:spPr>
          <a:xfrm>
            <a:off x="914400" y="8686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1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驯化野生硅基伙伴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F97EEE7-38F6-D587-40FB-9104BD932034}"/>
              </a:ext>
            </a:extLst>
          </p:cNvPr>
          <p:cNvSpPr txBox="1"/>
          <p:nvPr/>
        </p:nvSpPr>
        <p:spPr>
          <a:xfrm>
            <a:off x="14732000" y="86868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697184"/>
                </a:solidFill>
                <a:latin typeface="Consolas" panose="020B0609020204030204" pitchFamily="49" charset="0"/>
              </a:rPr>
              <a:t>17 / 18</a:t>
            </a:r>
            <a:endParaRPr lang="zh-CN" altLang="en-US" sz="1100">
              <a:solidFill>
                <a:srgbClr val="697184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C5323EE-C5FD-2456-B518-A66B2589D196}"/>
              </a:ext>
            </a:extLst>
          </p:cNvPr>
          <p:cNvSpPr/>
          <p:nvPr/>
        </p:nvSpPr>
        <p:spPr>
          <a:xfrm>
            <a:off x="0" y="9093200"/>
            <a:ext cx="15352889" cy="50800"/>
          </a:xfrm>
          <a:prstGeom prst="rect">
            <a:avLst/>
          </a:prstGeom>
          <a:solidFill>
            <a:srgbClr val="20C7A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9" name="list_52">
            <a:extLst>
              <a:ext uri="{FF2B5EF4-FFF2-40B4-BE49-F238E27FC236}">
                <a16:creationId xmlns:a16="http://schemas.microsoft.com/office/drawing/2014/main" id="{18A15A3B-B789-09CE-F3BE-7E6C7A84A815}"/>
              </a:ext>
            </a:extLst>
          </p:cNvPr>
          <p:cNvGrpSpPr/>
          <p:nvPr/>
        </p:nvGrpSpPr>
        <p:grpSpPr>
          <a:xfrm>
            <a:off x="1168400" y="2921000"/>
            <a:ext cx="6819900" cy="4445000"/>
            <a:chOff x="1168400" y="2921000"/>
            <a:chExt cx="6819900" cy="4445000"/>
          </a:xfrm>
        </p:grpSpPr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36F5950F-12F7-70FB-1B92-7D4352512784}"/>
                </a:ext>
              </a:extLst>
            </p:cNvPr>
            <p:cNvSpPr/>
            <p:nvPr/>
          </p:nvSpPr>
          <p:spPr>
            <a:xfrm>
              <a:off x="1168400" y="2921000"/>
              <a:ext cx="6819900" cy="4445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0C7AE">
                  <a:alpha val="6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CF5ABF99-3A4E-3643-5A1D-D18FCCA26E80}"/>
                </a:ext>
              </a:extLst>
            </p:cNvPr>
            <p:cNvSpPr/>
            <p:nvPr/>
          </p:nvSpPr>
          <p:spPr>
            <a:xfrm>
              <a:off x="1168400" y="2921000"/>
              <a:ext cx="63500" cy="4445000"/>
            </a:xfrm>
            <a:prstGeom prst="rect">
              <a:avLst/>
            </a:prstGeom>
            <a:solidFill>
              <a:srgbClr val="20C7A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4A43C055-00A0-6265-46F8-912654F90F3C}"/>
                </a:ext>
              </a:extLst>
            </p:cNvPr>
            <p:cNvSpPr txBox="1"/>
            <p:nvPr/>
          </p:nvSpPr>
          <p:spPr>
            <a:xfrm>
              <a:off x="1498600" y="3200400"/>
              <a:ext cx="62611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400" b="1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最小行动</a:t>
              </a: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06B0B499-5B04-B566-45B9-B6BAA4217D95}"/>
                </a:ext>
              </a:extLst>
            </p:cNvPr>
            <p:cNvSpPr txBox="1"/>
            <p:nvPr/>
          </p:nvSpPr>
          <p:spPr>
            <a:xfrm>
              <a:off x="1524000" y="3810000"/>
              <a:ext cx="6134100" cy="123110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en-US" altLang="zh-CN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• </a:t>
              </a:r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写下它痛在哪里
</a:t>
              </a:r>
              <a:r>
                <a:rPr lang="en-US" altLang="zh-CN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• </a:t>
              </a:r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让 </a:t>
              </a:r>
              <a:r>
                <a:rPr lang="en-US" altLang="zh-CN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AI </a:t>
              </a:r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先问 </a:t>
              </a:r>
              <a:r>
                <a:rPr lang="en-US" altLang="zh-CN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3-5 </a:t>
              </a:r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个关键问题
</a:t>
              </a:r>
              <a:r>
                <a:rPr lang="en-US" altLang="zh-CN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• </a:t>
              </a:r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判断适合模板、</a:t>
              </a:r>
              <a:r>
                <a:rPr lang="en-US" altLang="zh-CN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Checklist</a:t>
              </a:r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、小工具还是系统
</a:t>
              </a:r>
              <a:r>
                <a:rPr lang="en-US" altLang="zh-CN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• </a:t>
              </a:r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出第一版产物，至少反馈两轮
</a:t>
              </a:r>
              <a:r>
                <a:rPr lang="en-US" altLang="zh-CN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• </a:t>
              </a:r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把有效提示词或工具雏形存下来，明天复用一次</a:t>
              </a:r>
            </a:p>
          </p:txBody>
        </p:sp>
      </p:grpSp>
      <p:grpSp>
        <p:nvGrpSpPr>
          <p:cNvPr id="54" name="list_53">
            <a:extLst>
              <a:ext uri="{FF2B5EF4-FFF2-40B4-BE49-F238E27FC236}">
                <a16:creationId xmlns:a16="http://schemas.microsoft.com/office/drawing/2014/main" id="{0A3AC1F9-024E-1639-2AC1-C4D2CE32E0DF}"/>
              </a:ext>
            </a:extLst>
          </p:cNvPr>
          <p:cNvGrpSpPr/>
          <p:nvPr/>
        </p:nvGrpSpPr>
        <p:grpSpPr>
          <a:xfrm>
            <a:off x="8267700" y="2921000"/>
            <a:ext cx="6819900" cy="4445000"/>
            <a:chOff x="8267700" y="2921000"/>
            <a:chExt cx="6819900" cy="4445000"/>
          </a:xfrm>
        </p:grpSpPr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0F828C2A-20DC-BE3A-DCA1-9B8B89BA3286}"/>
                </a:ext>
              </a:extLst>
            </p:cNvPr>
            <p:cNvSpPr/>
            <p:nvPr/>
          </p:nvSpPr>
          <p:spPr>
            <a:xfrm>
              <a:off x="8267700" y="2921000"/>
              <a:ext cx="6819900" cy="4445000"/>
            </a:xfrm>
            <a:prstGeom prst="roundRect">
              <a:avLst/>
            </a:prstGeom>
            <a:solidFill>
              <a:srgbClr val="050812"/>
            </a:solidFill>
            <a:ln w="12700" cap="flat" cmpd="sng" algn="ctr">
              <a:solidFill>
                <a:srgbClr val="4C8DFF">
                  <a:alpha val="6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D7431EC8-6FB3-B8FD-40D5-D52399EBC86C}"/>
                </a:ext>
              </a:extLst>
            </p:cNvPr>
            <p:cNvSpPr/>
            <p:nvPr/>
          </p:nvSpPr>
          <p:spPr>
            <a:xfrm>
              <a:off x="8267700" y="2921000"/>
              <a:ext cx="63500" cy="4445000"/>
            </a:xfrm>
            <a:prstGeom prst="rect">
              <a:avLst/>
            </a:prstGeom>
            <a:solidFill>
              <a:srgbClr val="4C8DF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3187658A-C1A6-7C3E-3ECE-F5683D931643}"/>
                </a:ext>
              </a:extLst>
            </p:cNvPr>
            <p:cNvSpPr txBox="1"/>
            <p:nvPr/>
          </p:nvSpPr>
          <p:spPr>
            <a:xfrm>
              <a:off x="8597900" y="3200400"/>
              <a:ext cx="62611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400" b="1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提示词模板</a:t>
              </a: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E1D2AEA3-82C1-687E-767D-C9C3533F1ED6}"/>
                </a:ext>
              </a:extLst>
            </p:cNvPr>
            <p:cNvSpPr txBox="1"/>
            <p:nvPr/>
          </p:nvSpPr>
          <p:spPr>
            <a:xfrm>
              <a:off x="8623300" y="3810000"/>
              <a:ext cx="6134100" cy="156966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en-US" altLang="zh-CN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• 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我有一个反复出现的工作痛点：
</a:t>
              </a:r>
              <a:r>
                <a:rPr lang="en-US" altLang="zh-CN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【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描述场景</a:t>
              </a:r>
              <a:r>
                <a:rPr lang="en-US" altLang="zh-CN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】
• 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现在的做法是：
</a:t>
              </a:r>
              <a:r>
                <a:rPr lang="en-US" altLang="zh-CN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【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谁在什么时候，用什么方式处理</a:t>
              </a:r>
              <a:r>
                <a:rPr lang="en-US" altLang="zh-CN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】
• 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请先不要直接给方案。先问我 </a:t>
              </a:r>
              <a:r>
                <a:rPr lang="en-US" altLang="zh-CN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5 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个关键问题，帮我判断真正的钉子是什么、哪些可规则化、第一版最小可用方案是什么。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40890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18">
            <a:extLst>
              <a:ext uri="{FF2B5EF4-FFF2-40B4-BE49-F238E27FC236}">
                <a16:creationId xmlns:a16="http://schemas.microsoft.com/office/drawing/2014/main" id="{694F6B1C-6C7F-4525-969A-3453C57F7E8F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70B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69DA9B5-B0A0-5525-E03C-7753FCEAB3F5}"/>
              </a:ext>
            </a:extLst>
          </p:cNvPr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D6AD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3F274EC3-161B-7C91-F0C7-618AFFBBFCC2}"/>
              </a:ext>
            </a:extLst>
          </p:cNvPr>
          <p:cNvSpPr/>
          <p:nvPr/>
        </p:nvSpPr>
        <p:spPr>
          <a:xfrm>
            <a:off x="762000" y="571500"/>
            <a:ext cx="3937000" cy="3937000"/>
          </a:xfrm>
          <a:prstGeom prst="ellipse">
            <a:avLst/>
          </a:prstGeom>
          <a:solidFill>
            <a:srgbClr val="D6AD61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E918D85-5B58-8A19-9321-97399291C97C}"/>
              </a:ext>
            </a:extLst>
          </p:cNvPr>
          <p:cNvSpPr/>
          <p:nvPr/>
        </p:nvSpPr>
        <p:spPr>
          <a:xfrm>
            <a:off x="11430000" y="889000"/>
            <a:ext cx="3556000" cy="3556000"/>
          </a:xfrm>
          <a:prstGeom prst="ellipse">
            <a:avLst/>
          </a:prstGeom>
          <a:solidFill>
            <a:srgbClr val="20C7AE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144229C-3332-18BA-5828-ACE3277E1E67}"/>
              </a:ext>
            </a:extLst>
          </p:cNvPr>
          <p:cNvSpPr/>
          <p:nvPr/>
        </p:nvSpPr>
        <p:spPr>
          <a:xfrm>
            <a:off x="10414000" y="5969000"/>
            <a:ext cx="3302000" cy="3302000"/>
          </a:xfrm>
          <a:prstGeom prst="ellipse">
            <a:avLst/>
          </a:prstGeom>
          <a:solidFill>
            <a:srgbClr val="9B75F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26F37CE-AF26-7DEC-FCD7-D3A113C7BA1E}"/>
              </a:ext>
            </a:extLst>
          </p:cNvPr>
          <p:cNvCxnSpPr/>
          <p:nvPr/>
        </p:nvCxnSpPr>
        <p:spPr>
          <a:xfrm>
            <a:off x="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EF3ABD8-53DD-8F89-8A70-1B1F1930D75C}"/>
              </a:ext>
            </a:extLst>
          </p:cNvPr>
          <p:cNvCxnSpPr/>
          <p:nvPr/>
        </p:nvCxnSpPr>
        <p:spPr>
          <a:xfrm>
            <a:off x="812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344D19F8-20E0-31A4-9EA5-DDF9F7C390DB}"/>
              </a:ext>
            </a:extLst>
          </p:cNvPr>
          <p:cNvCxnSpPr/>
          <p:nvPr/>
        </p:nvCxnSpPr>
        <p:spPr>
          <a:xfrm>
            <a:off x="1625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5181F988-C812-8EA8-3668-2EE194CE5C55}"/>
              </a:ext>
            </a:extLst>
          </p:cNvPr>
          <p:cNvCxnSpPr/>
          <p:nvPr/>
        </p:nvCxnSpPr>
        <p:spPr>
          <a:xfrm>
            <a:off x="2438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927D367-CCFF-6DE6-622B-A75853E35880}"/>
              </a:ext>
            </a:extLst>
          </p:cNvPr>
          <p:cNvCxnSpPr/>
          <p:nvPr/>
        </p:nvCxnSpPr>
        <p:spPr>
          <a:xfrm>
            <a:off x="3251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4225F2E-69E6-97AA-BCA1-DE51C0BDC8FE}"/>
              </a:ext>
            </a:extLst>
          </p:cNvPr>
          <p:cNvCxnSpPr/>
          <p:nvPr/>
        </p:nvCxnSpPr>
        <p:spPr>
          <a:xfrm>
            <a:off x="4064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A6E224C7-FBCC-D6DB-615D-C59CE459DE01}"/>
              </a:ext>
            </a:extLst>
          </p:cNvPr>
          <p:cNvCxnSpPr/>
          <p:nvPr/>
        </p:nvCxnSpPr>
        <p:spPr>
          <a:xfrm>
            <a:off x="4876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5002A448-6A0D-FCB4-5FE1-C0860616AA90}"/>
              </a:ext>
            </a:extLst>
          </p:cNvPr>
          <p:cNvCxnSpPr/>
          <p:nvPr/>
        </p:nvCxnSpPr>
        <p:spPr>
          <a:xfrm>
            <a:off x="5689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9420CD18-880B-2FCF-83EF-D2FBF5C5076E}"/>
              </a:ext>
            </a:extLst>
          </p:cNvPr>
          <p:cNvCxnSpPr/>
          <p:nvPr/>
        </p:nvCxnSpPr>
        <p:spPr>
          <a:xfrm>
            <a:off x="6502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FC890CD1-A58D-62B7-F151-48B44F847106}"/>
              </a:ext>
            </a:extLst>
          </p:cNvPr>
          <p:cNvCxnSpPr/>
          <p:nvPr/>
        </p:nvCxnSpPr>
        <p:spPr>
          <a:xfrm>
            <a:off x="7315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EFA2987-3DD0-3DE5-E200-D61E9CB73B75}"/>
              </a:ext>
            </a:extLst>
          </p:cNvPr>
          <p:cNvCxnSpPr/>
          <p:nvPr/>
        </p:nvCxnSpPr>
        <p:spPr>
          <a:xfrm>
            <a:off x="8128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7EC50CC0-0CC7-65EC-1811-726A4070C02F}"/>
              </a:ext>
            </a:extLst>
          </p:cNvPr>
          <p:cNvCxnSpPr/>
          <p:nvPr/>
        </p:nvCxnSpPr>
        <p:spPr>
          <a:xfrm>
            <a:off x="8940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56160D1-2053-EA7C-FB8C-DE43A6D3E7F8}"/>
              </a:ext>
            </a:extLst>
          </p:cNvPr>
          <p:cNvCxnSpPr/>
          <p:nvPr/>
        </p:nvCxnSpPr>
        <p:spPr>
          <a:xfrm>
            <a:off x="9753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B9550C81-8519-02FF-7748-85D7C87D17DA}"/>
              </a:ext>
            </a:extLst>
          </p:cNvPr>
          <p:cNvCxnSpPr/>
          <p:nvPr/>
        </p:nvCxnSpPr>
        <p:spPr>
          <a:xfrm>
            <a:off x="10566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E8379DFC-BCCC-882E-D3BE-59ABAE7BC7AA}"/>
              </a:ext>
            </a:extLst>
          </p:cNvPr>
          <p:cNvCxnSpPr/>
          <p:nvPr/>
        </p:nvCxnSpPr>
        <p:spPr>
          <a:xfrm>
            <a:off x="11379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2E00CC21-1EFD-DD3B-0271-E54F8152A754}"/>
              </a:ext>
            </a:extLst>
          </p:cNvPr>
          <p:cNvCxnSpPr/>
          <p:nvPr/>
        </p:nvCxnSpPr>
        <p:spPr>
          <a:xfrm>
            <a:off x="12192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E266F534-8515-88A3-1DC7-9EE597A386ED}"/>
              </a:ext>
            </a:extLst>
          </p:cNvPr>
          <p:cNvCxnSpPr/>
          <p:nvPr/>
        </p:nvCxnSpPr>
        <p:spPr>
          <a:xfrm>
            <a:off x="13004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3CBE3B8E-50CD-E1E8-EC8B-714184E648A9}"/>
              </a:ext>
            </a:extLst>
          </p:cNvPr>
          <p:cNvCxnSpPr/>
          <p:nvPr/>
        </p:nvCxnSpPr>
        <p:spPr>
          <a:xfrm>
            <a:off x="13817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49758050-3B1A-0E81-BE45-234DD28EEEE1}"/>
              </a:ext>
            </a:extLst>
          </p:cNvPr>
          <p:cNvCxnSpPr/>
          <p:nvPr/>
        </p:nvCxnSpPr>
        <p:spPr>
          <a:xfrm>
            <a:off x="14630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3F46A5D5-ADA7-4E43-F4FE-651EED0F5E5D}"/>
              </a:ext>
            </a:extLst>
          </p:cNvPr>
          <p:cNvCxnSpPr/>
          <p:nvPr/>
        </p:nvCxnSpPr>
        <p:spPr>
          <a:xfrm>
            <a:off x="15443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0F4D2584-6EE4-37B1-2EA5-7E3FC153D57B}"/>
              </a:ext>
            </a:extLst>
          </p:cNvPr>
          <p:cNvCxnSpPr/>
          <p:nvPr/>
        </p:nvCxnSpPr>
        <p:spPr>
          <a:xfrm>
            <a:off x="0" y="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28E10C4E-C8C7-F3CC-5CAC-024E5D231D8A}"/>
              </a:ext>
            </a:extLst>
          </p:cNvPr>
          <p:cNvCxnSpPr/>
          <p:nvPr/>
        </p:nvCxnSpPr>
        <p:spPr>
          <a:xfrm>
            <a:off x="0" y="812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C3FBAD77-7EEB-357D-7DE5-4081A2A25343}"/>
              </a:ext>
            </a:extLst>
          </p:cNvPr>
          <p:cNvCxnSpPr/>
          <p:nvPr/>
        </p:nvCxnSpPr>
        <p:spPr>
          <a:xfrm>
            <a:off x="0" y="1625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7BCCF355-D92F-4DBB-232F-AA9156351AF8}"/>
              </a:ext>
            </a:extLst>
          </p:cNvPr>
          <p:cNvCxnSpPr/>
          <p:nvPr/>
        </p:nvCxnSpPr>
        <p:spPr>
          <a:xfrm>
            <a:off x="0" y="2438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7A9E0018-9868-89AF-11A2-0D3AD67E5FE0}"/>
              </a:ext>
            </a:extLst>
          </p:cNvPr>
          <p:cNvCxnSpPr/>
          <p:nvPr/>
        </p:nvCxnSpPr>
        <p:spPr>
          <a:xfrm>
            <a:off x="0" y="3251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68214213-DB57-4A43-7DAD-56EA084202D5}"/>
              </a:ext>
            </a:extLst>
          </p:cNvPr>
          <p:cNvCxnSpPr/>
          <p:nvPr/>
        </p:nvCxnSpPr>
        <p:spPr>
          <a:xfrm>
            <a:off x="0" y="4064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025D3737-3D7F-D117-329A-38E2D3077EBF}"/>
              </a:ext>
            </a:extLst>
          </p:cNvPr>
          <p:cNvCxnSpPr/>
          <p:nvPr/>
        </p:nvCxnSpPr>
        <p:spPr>
          <a:xfrm>
            <a:off x="0" y="4876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C8DC977F-D445-47D3-1A21-F0D458D75D49}"/>
              </a:ext>
            </a:extLst>
          </p:cNvPr>
          <p:cNvCxnSpPr/>
          <p:nvPr/>
        </p:nvCxnSpPr>
        <p:spPr>
          <a:xfrm>
            <a:off x="0" y="5689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0CEC911B-7A04-46C3-FCC6-2F8AF39D7517}"/>
              </a:ext>
            </a:extLst>
          </p:cNvPr>
          <p:cNvCxnSpPr/>
          <p:nvPr/>
        </p:nvCxnSpPr>
        <p:spPr>
          <a:xfrm>
            <a:off x="0" y="6502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F03BD99C-3D59-1749-EA28-8C8A4556E223}"/>
              </a:ext>
            </a:extLst>
          </p:cNvPr>
          <p:cNvCxnSpPr/>
          <p:nvPr/>
        </p:nvCxnSpPr>
        <p:spPr>
          <a:xfrm>
            <a:off x="0" y="7315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32A90CA7-1303-8D55-5F5D-ECFCE45D6033}"/>
              </a:ext>
            </a:extLst>
          </p:cNvPr>
          <p:cNvCxnSpPr/>
          <p:nvPr/>
        </p:nvCxnSpPr>
        <p:spPr>
          <a:xfrm>
            <a:off x="0" y="8128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C0F851D0-5071-E261-ED41-25A509095AF2}"/>
              </a:ext>
            </a:extLst>
          </p:cNvPr>
          <p:cNvCxnSpPr/>
          <p:nvPr/>
        </p:nvCxnSpPr>
        <p:spPr>
          <a:xfrm>
            <a:off x="0" y="8940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0A2A2F3B-54E0-9342-2A3B-9C04E853EA4D}"/>
              </a:ext>
            </a:extLst>
          </p:cNvPr>
          <p:cNvSpPr txBox="1"/>
          <p:nvPr/>
        </p:nvSpPr>
        <p:spPr>
          <a:xfrm>
            <a:off x="914400" y="609600"/>
            <a:ext cx="11430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400">
                <a:solidFill>
                  <a:srgbClr val="D6AD61"/>
                </a:solidFill>
                <a:latin typeface="Consolas" panose="020B0609020204030204" pitchFamily="49" charset="0"/>
              </a:rPr>
              <a:t>Closing</a:t>
            </a:r>
            <a:endParaRPr lang="zh-CN" altLang="en-US" sz="1400">
              <a:solidFill>
                <a:srgbClr val="D6AD6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F055410-CD14-6468-CC0D-448800C675D3}"/>
              </a:ext>
            </a:extLst>
          </p:cNvPr>
          <p:cNvSpPr txBox="1"/>
          <p:nvPr/>
        </p:nvSpPr>
        <p:spPr>
          <a:xfrm>
            <a:off x="914400" y="990600"/>
            <a:ext cx="13208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600" b="1">
                <a:solidFill>
                  <a:srgbClr val="EFECE5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别从“学 </a:t>
            </a:r>
            <a:r>
              <a:rPr lang="en-US" altLang="zh-CN" sz="3600" b="1">
                <a:solidFill>
                  <a:srgbClr val="EFECE5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AI </a:t>
            </a:r>
            <a:r>
              <a:rPr lang="zh-CN" altLang="en-US" sz="3600" b="1">
                <a:solidFill>
                  <a:srgbClr val="EFECE5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工具”开始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F75820BC-4C5C-5500-C744-3986EA91CD0C}"/>
              </a:ext>
            </a:extLst>
          </p:cNvPr>
          <p:cNvSpPr txBox="1"/>
          <p:nvPr/>
        </p:nvSpPr>
        <p:spPr>
          <a:xfrm>
            <a:off x="914400" y="8686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1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驯化野生硅基伙伴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E8544EF-A055-BB26-E870-338BB26D41E3}"/>
              </a:ext>
            </a:extLst>
          </p:cNvPr>
          <p:cNvSpPr txBox="1"/>
          <p:nvPr/>
        </p:nvSpPr>
        <p:spPr>
          <a:xfrm>
            <a:off x="14732000" y="86868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697184"/>
                </a:solidFill>
                <a:latin typeface="Consolas" panose="020B0609020204030204" pitchFamily="49" charset="0"/>
              </a:rPr>
              <a:t>18 / 18</a:t>
            </a:r>
            <a:endParaRPr lang="zh-CN" altLang="en-US" sz="1100">
              <a:solidFill>
                <a:srgbClr val="697184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779071F-52DB-D80A-66F3-15EAD8887D30}"/>
              </a:ext>
            </a:extLst>
          </p:cNvPr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20C7A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7" name="quote_54">
            <a:extLst>
              <a:ext uri="{FF2B5EF4-FFF2-40B4-BE49-F238E27FC236}">
                <a16:creationId xmlns:a16="http://schemas.microsoft.com/office/drawing/2014/main" id="{DABF63DF-BF0C-A402-B19D-47CFC3957BBD}"/>
              </a:ext>
            </a:extLst>
          </p:cNvPr>
          <p:cNvGrpSpPr/>
          <p:nvPr/>
        </p:nvGrpSpPr>
        <p:grpSpPr>
          <a:xfrm>
            <a:off x="1168400" y="2603500"/>
            <a:ext cx="13919200" cy="1270000"/>
            <a:chOff x="1168400" y="2603500"/>
            <a:chExt cx="13919200" cy="1270000"/>
          </a:xfrm>
        </p:grpSpPr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B7F496BF-8680-6296-D321-2B2B3167A264}"/>
                </a:ext>
              </a:extLst>
            </p:cNvPr>
            <p:cNvSpPr/>
            <p:nvPr/>
          </p:nvSpPr>
          <p:spPr>
            <a:xfrm>
              <a:off x="1168400" y="2603500"/>
              <a:ext cx="13919200" cy="1270000"/>
            </a:xfrm>
            <a:prstGeom prst="roundRect">
              <a:avLst/>
            </a:prstGeom>
            <a:solidFill>
              <a:srgbClr val="D6AD61">
                <a:alpha val="12000"/>
              </a:srgbClr>
            </a:solidFill>
            <a:ln w="12700" cap="flat" cmpd="sng" algn="ctr">
              <a:solidFill>
                <a:srgbClr val="D6AD61">
                  <a:alpha val="5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6A8192F9-1A7E-5774-9532-24C446927735}"/>
                </a:ext>
              </a:extLst>
            </p:cNvPr>
            <p:cNvSpPr/>
            <p:nvPr/>
          </p:nvSpPr>
          <p:spPr>
            <a:xfrm>
              <a:off x="1168400" y="2603500"/>
              <a:ext cx="76200" cy="1270000"/>
            </a:xfrm>
            <a:prstGeom prst="rect">
              <a:avLst/>
            </a:prstGeom>
            <a:solidFill>
              <a:srgbClr val="D6AD6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8D278AD9-BD26-E5F7-82D3-C519CBFBD0C8}"/>
                </a:ext>
              </a:extLst>
            </p:cNvPr>
            <p:cNvSpPr txBox="1"/>
            <p:nvPr/>
          </p:nvSpPr>
          <p:spPr>
            <a:xfrm>
              <a:off x="1524000" y="2806700"/>
              <a:ext cx="13258800" cy="40011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600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从找一颗真实钉子，训练一个能帮你解决它的硅基伙伴开始。</a:t>
              </a:r>
            </a:p>
          </p:txBody>
        </p:sp>
      </p:grpSp>
      <p:grpSp>
        <p:nvGrpSpPr>
          <p:cNvPr id="52" name="card_55">
            <a:extLst>
              <a:ext uri="{FF2B5EF4-FFF2-40B4-BE49-F238E27FC236}">
                <a16:creationId xmlns:a16="http://schemas.microsoft.com/office/drawing/2014/main" id="{DA63EF7F-34C3-F857-5619-4A1CA49B94B0}"/>
              </a:ext>
            </a:extLst>
          </p:cNvPr>
          <p:cNvGrpSpPr/>
          <p:nvPr/>
        </p:nvGrpSpPr>
        <p:grpSpPr>
          <a:xfrm>
            <a:off x="1168400" y="4229100"/>
            <a:ext cx="6845300" cy="1905000"/>
            <a:chOff x="1168400" y="4229100"/>
            <a:chExt cx="6845300" cy="1905000"/>
          </a:xfrm>
        </p:grpSpPr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EEDEFAC6-E0B0-94EE-91D8-603E2E16EFFA}"/>
                </a:ext>
              </a:extLst>
            </p:cNvPr>
            <p:cNvSpPr/>
            <p:nvPr/>
          </p:nvSpPr>
          <p:spPr>
            <a:xfrm>
              <a:off x="1168400" y="4229100"/>
              <a:ext cx="6845300" cy="1905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70278CEA-B293-A143-5CE9-AB5D875E2C92}"/>
                </a:ext>
              </a:extLst>
            </p:cNvPr>
            <p:cNvSpPr/>
            <p:nvPr/>
          </p:nvSpPr>
          <p:spPr>
            <a:xfrm>
              <a:off x="1168400" y="4229100"/>
              <a:ext cx="63500" cy="1905000"/>
            </a:xfrm>
            <a:prstGeom prst="rect">
              <a:avLst/>
            </a:prstGeom>
            <a:solidFill>
              <a:srgbClr val="D6AD6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27E55759-04ED-DADB-D74E-0C86ADB308EB}"/>
                </a:ext>
              </a:extLst>
            </p:cNvPr>
            <p:cNvSpPr txBox="1"/>
            <p:nvPr/>
          </p:nvSpPr>
          <p:spPr>
            <a:xfrm>
              <a:off x="1498600" y="4508500"/>
              <a:ext cx="62865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en-US" altLang="zh-CN" sz="2400" b="1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AI </a:t>
              </a:r>
              <a:r>
                <a:rPr lang="zh-CN" altLang="en-US" sz="2400" b="1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是放大器，不是灵魂</a:t>
              </a: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08120C94-978B-8306-DB34-1C66F7C3B7AA}"/>
                </a:ext>
              </a:extLst>
            </p:cNvPr>
            <p:cNvSpPr txBox="1"/>
            <p:nvPr/>
          </p:nvSpPr>
          <p:spPr>
            <a:xfrm>
              <a:off x="1498600" y="5054600"/>
              <a:ext cx="6286500" cy="52322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不要把思考外包给 </a:t>
              </a:r>
              <a:r>
                <a:rPr lang="en-US" altLang="zh-CN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AI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。我们训练硅基伙伴，不是为了让它替我们思考，而是为了把人从重复劳动里解放出来。</a:t>
              </a:r>
            </a:p>
          </p:txBody>
        </p:sp>
      </p:grpSp>
      <p:grpSp>
        <p:nvGrpSpPr>
          <p:cNvPr id="57" name="card_56">
            <a:extLst>
              <a:ext uri="{FF2B5EF4-FFF2-40B4-BE49-F238E27FC236}">
                <a16:creationId xmlns:a16="http://schemas.microsoft.com/office/drawing/2014/main" id="{667AAD05-5877-A9E7-A5C1-267C80E4A91B}"/>
              </a:ext>
            </a:extLst>
          </p:cNvPr>
          <p:cNvGrpSpPr/>
          <p:nvPr/>
        </p:nvGrpSpPr>
        <p:grpSpPr>
          <a:xfrm>
            <a:off x="8242300" y="4229100"/>
            <a:ext cx="6845300" cy="1905000"/>
            <a:chOff x="8242300" y="4229100"/>
            <a:chExt cx="6845300" cy="1905000"/>
          </a:xfrm>
        </p:grpSpPr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B781285B-451E-6EC1-99F3-4A41E17CC657}"/>
                </a:ext>
              </a:extLst>
            </p:cNvPr>
            <p:cNvSpPr/>
            <p:nvPr/>
          </p:nvSpPr>
          <p:spPr>
            <a:xfrm>
              <a:off x="8242300" y="4229100"/>
              <a:ext cx="6845300" cy="1905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AD68706D-0B14-1A6A-C83B-0287B3053F65}"/>
                </a:ext>
              </a:extLst>
            </p:cNvPr>
            <p:cNvSpPr/>
            <p:nvPr/>
          </p:nvSpPr>
          <p:spPr>
            <a:xfrm>
              <a:off x="8242300" y="4229100"/>
              <a:ext cx="63500" cy="1905000"/>
            </a:xfrm>
            <a:prstGeom prst="rect">
              <a:avLst/>
            </a:prstGeom>
            <a:solidFill>
              <a:srgbClr val="20C7A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9D4BEB20-102B-47BA-59AF-66BF6C73DE60}"/>
                </a:ext>
              </a:extLst>
            </p:cNvPr>
            <p:cNvSpPr txBox="1"/>
            <p:nvPr/>
          </p:nvSpPr>
          <p:spPr>
            <a:xfrm>
              <a:off x="8572500" y="4508500"/>
              <a:ext cx="62865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400" b="1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人的价值</a:t>
              </a: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67591306-35EB-35E3-4CC5-5C6E9E1D64E7}"/>
                </a:ext>
              </a:extLst>
            </p:cNvPr>
            <p:cNvSpPr txBox="1"/>
            <p:nvPr/>
          </p:nvSpPr>
          <p:spPr>
            <a:xfrm>
              <a:off x="8572500" y="5054600"/>
              <a:ext cx="6286500" cy="52322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找到真问题，定义好标准，做出取舍，并把一次解决变成可复用生产力。</a:t>
              </a:r>
            </a:p>
          </p:txBody>
        </p:sp>
      </p:grpSp>
      <p:grpSp>
        <p:nvGrpSpPr>
          <p:cNvPr id="61" name="quote_57">
            <a:extLst>
              <a:ext uri="{FF2B5EF4-FFF2-40B4-BE49-F238E27FC236}">
                <a16:creationId xmlns:a16="http://schemas.microsoft.com/office/drawing/2014/main" id="{AE37D93F-7339-78D6-2228-77A78B18B079}"/>
              </a:ext>
            </a:extLst>
          </p:cNvPr>
          <p:cNvGrpSpPr/>
          <p:nvPr/>
        </p:nvGrpSpPr>
        <p:grpSpPr>
          <a:xfrm>
            <a:off x="914400" y="7797800"/>
            <a:ext cx="14427200" cy="889000"/>
            <a:chOff x="914400" y="7797800"/>
            <a:chExt cx="14427200" cy="889000"/>
          </a:xfrm>
        </p:grpSpPr>
        <p:sp>
          <p:nvSpPr>
            <p:cNvPr id="58" name="矩形: 圆角 57">
              <a:extLst>
                <a:ext uri="{FF2B5EF4-FFF2-40B4-BE49-F238E27FC236}">
                  <a16:creationId xmlns:a16="http://schemas.microsoft.com/office/drawing/2014/main" id="{61A862E0-4F10-D9C7-E5EC-BAA502692CDA}"/>
                </a:ext>
              </a:extLst>
            </p:cNvPr>
            <p:cNvSpPr/>
            <p:nvPr/>
          </p:nvSpPr>
          <p:spPr>
            <a:xfrm>
              <a:off x="914400" y="7797800"/>
              <a:ext cx="14427200" cy="889000"/>
            </a:xfrm>
            <a:prstGeom prst="roundRect">
              <a:avLst/>
            </a:prstGeom>
            <a:solidFill>
              <a:srgbClr val="20C7AE">
                <a:alpha val="12000"/>
              </a:srgbClr>
            </a:solidFill>
            <a:ln w="12700" cap="flat" cmpd="sng" algn="ctr">
              <a:solidFill>
                <a:srgbClr val="20C7AE">
                  <a:alpha val="5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C818A47D-3B18-7BAF-DD83-A6A1A79750B0}"/>
                </a:ext>
              </a:extLst>
            </p:cNvPr>
            <p:cNvSpPr/>
            <p:nvPr/>
          </p:nvSpPr>
          <p:spPr>
            <a:xfrm>
              <a:off x="914400" y="7797800"/>
              <a:ext cx="76200" cy="889000"/>
            </a:xfrm>
            <a:prstGeom prst="rect">
              <a:avLst/>
            </a:prstGeom>
            <a:solidFill>
              <a:srgbClr val="20C7A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B3BB2955-725D-52C4-C33D-62BB20F6D1C6}"/>
                </a:ext>
              </a:extLst>
            </p:cNvPr>
            <p:cNvSpPr txBox="1"/>
            <p:nvPr/>
          </p:nvSpPr>
          <p:spPr>
            <a:xfrm>
              <a:off x="1270000" y="8001000"/>
              <a:ext cx="13766800" cy="55399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>
                  <a:solidFill>
                    <a:srgbClr val="EFECE5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最终收束：概率性硅基负责理解、生成、追问和辅助判断；确定性硅基负责稳定执行、自动流转和降低损耗。判断、选择和创造，仍然是人的责任。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4987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1898</Words>
  <Application>Microsoft Office PowerPoint</Application>
  <PresentationFormat>自定义</PresentationFormat>
  <Paragraphs>194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Microsoft YaHei UI</vt:lpstr>
      <vt:lpstr>等线</vt:lpstr>
      <vt:lpstr>等线 Light</vt:lpstr>
      <vt:lpstr>SimSun</vt:lpstr>
      <vt:lpstr>Arial</vt:lpstr>
      <vt:lpstr>Consolas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grissy sun</dc:creator>
  <cp:lastModifiedBy>grissy sun</cp:lastModifiedBy>
  <cp:revision>1</cp:revision>
  <dcterms:created xsi:type="dcterms:W3CDTF">2026-05-03T13:53:25Z</dcterms:created>
  <dcterms:modified xsi:type="dcterms:W3CDTF">2026-05-03T13:53:25Z</dcterms:modified>
</cp:coreProperties>
</file>