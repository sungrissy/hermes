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74" r:id="rId5"/>
    <p:sldId id="275" r:id="rId6"/>
    <p:sldId id="277" r:id="rId7"/>
    <p:sldId id="259" r:id="rId8"/>
    <p:sldId id="276" r:id="rId9"/>
    <p:sldId id="286" r:id="rId10"/>
    <p:sldId id="289" r:id="rId11"/>
    <p:sldId id="287" r:id="rId12"/>
    <p:sldId id="279" r:id="rId13"/>
    <p:sldId id="280" r:id="rId14"/>
    <p:sldId id="281" r:id="rId15"/>
    <p:sldId id="282" r:id="rId16"/>
    <p:sldId id="288" r:id="rId17"/>
    <p:sldId id="265" r:id="rId18"/>
    <p:sldId id="283" r:id="rId19"/>
    <p:sldId id="261" r:id="rId20"/>
    <p:sldId id="284" r:id="rId21"/>
    <p:sldId id="258" r:id="rId22"/>
    <p:sldId id="262" r:id="rId23"/>
    <p:sldId id="268" r:id="rId24"/>
    <p:sldId id="263" r:id="rId25"/>
    <p:sldId id="290" r:id="rId26"/>
    <p:sldId id="267" r:id="rId27"/>
    <p:sldId id="292" r:id="rId28"/>
    <p:sldId id="293" r:id="rId29"/>
    <p:sldId id="294" r:id="rId30"/>
    <p:sldId id="270" r:id="rId31"/>
    <p:sldId id="271" r:id="rId32"/>
    <p:sldId id="285" r:id="rId33"/>
    <p:sldId id="296" r:id="rId34"/>
    <p:sldId id="272" r:id="rId35"/>
    <p:sldId id="273" r:id="rId36"/>
  </p:sldIdLst>
  <p:sldSz cx="16256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8D26"/>
    <a:srgbClr val="4C8DFF"/>
    <a:srgbClr val="9B75FF"/>
    <a:srgbClr val="1C2433"/>
    <a:srgbClr val="20C7AE"/>
    <a:srgbClr val="070B13"/>
    <a:srgbClr val="0B29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5AE73-10C3-464D-81D5-DF4618A85C4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B59864-4B30-4F6A-B84D-FD429C1F1CF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1168400" y="1333500"/>
            <a:ext cx="11430000" cy="2308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500">
                <a:solidFill>
                  <a:srgbClr val="20C7AE"/>
                </a:solidFill>
                <a:latin typeface="Consolas" panose="020B0609020204030204" pitchFamily="49" charset="0"/>
              </a:rPr>
              <a:t>AI Practical Sharing / Product Team</a:t>
            </a:r>
            <a:endParaRPr lang="zh-CN" altLang="en-US" sz="1500">
              <a:solidFill>
                <a:srgbClr val="20C7AE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168400" y="1905000"/>
            <a:ext cx="9652000" cy="196977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6400" b="1">
                <a:solidFill>
                  <a:srgbClr val="EFECE5"/>
                </a:solidFill>
                <a:latin typeface="宋体" pitchFamily="2" charset="-122"/>
                <a:ea typeface="宋体" pitchFamily="2" charset="-122"/>
                <a:sym typeface="+mn-ea"/>
              </a:rPr>
              <a:t>驯化</a:t>
            </a:r>
            <a:r>
              <a:rPr lang="zh-CN" altLang="en-US" sz="64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野生硅基伙伴</a:t>
            </a:r>
            <a:endParaRPr lang="zh-CN" altLang="en-US" sz="6400" b="1">
              <a:solidFill>
                <a:srgbClr val="EFECE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64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新手</a:t>
            </a:r>
            <a:r>
              <a:rPr lang="zh-CN" altLang="en-US" sz="64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训练营</a:t>
            </a:r>
            <a:endParaRPr lang="zh-CN" altLang="en-US" sz="6400" b="1">
              <a:solidFill>
                <a:srgbClr val="EFECE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1168400" y="4445000"/>
            <a:ext cx="10541000" cy="38417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25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如何拥有自己的专属</a:t>
            </a:r>
            <a:r>
              <a:rPr lang="en-US" altLang="zh-CN" sz="25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</a:t>
            </a:r>
            <a:r>
              <a:rPr lang="zh-CN" altLang="en-US" sz="25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伙伴</a:t>
            </a:r>
            <a:endParaRPr lang="zh-CN" altLang="en-US" sz="2500">
              <a:solidFill>
                <a:srgbClr val="A7ADB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168400" y="7670800"/>
            <a:ext cx="8636000" cy="46164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endParaRPr lang="en-US" altLang="zh-CN" sz="15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zh-CN" altLang="en-US" sz="15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分享人：孙懿（猫姐）｜</a:t>
            </a:r>
            <a:r>
              <a:rPr lang="en-US" altLang="zh-CN" sz="15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sz="15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文稿整理：助理满满</a:t>
            </a:r>
            <a:endParaRPr lang="zh-CN" altLang="en-US" sz="15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12090400" y="5461000"/>
            <a:ext cx="2794000" cy="2794000"/>
          </a:xfrm>
          <a:prstGeom prst="ellipse">
            <a:avLst/>
          </a:prstGeom>
          <a:solidFill>
            <a:srgbClr val="20C7AE">
              <a:alpha val="70000"/>
            </a:srgbClr>
          </a:solidFill>
          <a:ln w="12700" cap="flat" cmpd="sng" algn="ctr">
            <a:solidFill>
              <a:srgbClr val="D6AD61">
                <a:alpha val="70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14351000" y="8534400"/>
            <a:ext cx="1016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01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0" y="9093200"/>
            <a:ext cx="903111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PART 1</a:t>
            </a:r>
            <a:endParaRPr lang="en-US" altLang="zh-CN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未来已来，但好像也没那么美好？</a:t>
            </a:r>
            <a:endParaRPr lang="zh-CN" altLang="en-US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1905000"/>
            <a:ext cx="12700000" cy="2768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今天的</a:t>
            </a:r>
            <a:r>
              <a:rPr lang="en-US" altLang="zh-CN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r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个核心</a:t>
            </a:r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问题</a:t>
            </a:r>
            <a:endParaRPr lang="zh-CN" altLang="en-US">
              <a:solidFill>
                <a:srgbClr val="A7ADB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02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1806222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4" name="card_2"/>
          <p:cNvGrpSpPr/>
          <p:nvPr/>
        </p:nvGrpSpPr>
        <p:grpSpPr>
          <a:xfrm>
            <a:off x="1625600" y="2821940"/>
            <a:ext cx="13500735" cy="920115"/>
            <a:chOff x="1168400" y="4229100"/>
            <a:chExt cx="3793139" cy="2286000"/>
          </a:xfrm>
        </p:grpSpPr>
        <p:sp>
          <p:nvSpPr>
            <p:cNvPr id="49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Question 01</a:t>
              </a:r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为什么很多人觉得 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 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不好用？</a:t>
              </a:r>
              <a:endParaRPr lang="zh-CN" altLang="en-US" sz="20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45" name="card_2"/>
          <p:cNvGrpSpPr/>
          <p:nvPr/>
        </p:nvGrpSpPr>
        <p:grpSpPr>
          <a:xfrm>
            <a:off x="1625600" y="4048125"/>
            <a:ext cx="13500735" cy="920115"/>
            <a:chOff x="1168400" y="4229100"/>
            <a:chExt cx="3793139" cy="2286000"/>
          </a:xfrm>
        </p:grpSpPr>
        <p:sp>
          <p:nvSpPr>
            <p:cNvPr id="46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Question 02</a:t>
              </a:r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都做了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、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我做啥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？</a:t>
              </a:r>
              <a:endParaRPr lang="en-US" altLang="zh-CN" sz="20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74" name="card_2"/>
          <p:cNvGrpSpPr/>
          <p:nvPr/>
        </p:nvGrpSpPr>
        <p:grpSpPr>
          <a:xfrm>
            <a:off x="1625600" y="5325110"/>
            <a:ext cx="13500735" cy="920115"/>
            <a:chOff x="1168400" y="4229100"/>
            <a:chExt cx="3793139" cy="2286000"/>
          </a:xfrm>
        </p:grpSpPr>
        <p:sp>
          <p:nvSpPr>
            <p:cNvPr id="75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9B75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Question 03</a:t>
              </a:r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发展太快了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，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根本跟不上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，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不如等个终极版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？</a:t>
              </a:r>
              <a:endParaRPr lang="en-US" altLang="zh-CN" sz="20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79" name="card_2"/>
          <p:cNvGrpSpPr/>
          <p:nvPr/>
        </p:nvGrpSpPr>
        <p:grpSpPr>
          <a:xfrm>
            <a:off x="1625600" y="6568440"/>
            <a:ext cx="13500735" cy="920115"/>
            <a:chOff x="1168400" y="4229100"/>
            <a:chExt cx="3793139" cy="2286000"/>
          </a:xfrm>
        </p:grpSpPr>
        <p:sp>
          <p:nvSpPr>
            <p:cNvPr id="80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4C8D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Question 04</a:t>
              </a:r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用上了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，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但也完全没觉得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变轻松</a:t>
              </a:r>
              <a:endParaRPr lang="zh-CN" altLang="en-US" sz="20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31545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Question 01</a:t>
            </a:r>
            <a:endParaRPr lang="en-US" altLang="zh-CN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我的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AI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怎么不好用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？</a:t>
            </a:r>
            <a:endParaRPr lang="en-US" altLang="zh-CN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1905000"/>
            <a:ext cx="12700000" cy="2768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你的</a:t>
            </a:r>
            <a:r>
              <a:rPr lang="en-US" altLang="zh-CN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</a:t>
            </a:r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、我的</a:t>
            </a:r>
            <a:r>
              <a:rPr lang="en-US" altLang="zh-CN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</a:t>
            </a:r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，好像不一样</a:t>
            </a:r>
            <a:r>
              <a:rPr lang="en-US" altLang="zh-CN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……</a:t>
            </a:r>
            <a:endParaRPr lang="en-US" altLang="zh-CN">
              <a:solidFill>
                <a:srgbClr val="A7ADB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02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1806222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1" name="card_2"/>
          <p:cNvGrpSpPr/>
          <p:nvPr/>
        </p:nvGrpSpPr>
        <p:grpSpPr>
          <a:xfrm>
            <a:off x="1168400" y="4229100"/>
            <a:ext cx="3308350" cy="2286000"/>
            <a:chOff x="1168400" y="4229100"/>
            <a:chExt cx="3308350" cy="2286000"/>
          </a:xfrm>
        </p:grpSpPr>
        <p:sp>
          <p:nvSpPr>
            <p:cNvPr id="57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3" name="矩形 62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498600" y="4800600"/>
              <a:ext cx="2749550" cy="32258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zh-CN" altLang="en-US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说的没错</a:t>
              </a:r>
              <a:r>
                <a:rPr lang="en-US" altLang="zh-CN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，</a:t>
              </a:r>
              <a:r>
                <a:rPr lang="zh-CN" altLang="en-US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但</a:t>
              </a:r>
              <a:r>
                <a:rPr lang="zh-CN" altLang="en-US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也没用</a:t>
              </a:r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73" name="card_3"/>
          <p:cNvGrpSpPr/>
          <p:nvPr/>
        </p:nvGrpSpPr>
        <p:grpSpPr>
          <a:xfrm>
            <a:off x="4705350" y="4229100"/>
            <a:ext cx="3308350" cy="2286000"/>
            <a:chOff x="4705350" y="4229100"/>
            <a:chExt cx="3308350" cy="2286000"/>
          </a:xfrm>
        </p:grpSpPr>
        <p:sp>
          <p:nvSpPr>
            <p:cNvPr id="74" name="矩形: 圆角 54"/>
            <p:cNvSpPr/>
            <p:nvPr/>
          </p:nvSpPr>
          <p:spPr>
            <a:xfrm>
              <a:off x="470535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>
            <a:xfrm>
              <a:off x="4705350" y="4229100"/>
              <a:ext cx="63500" cy="2286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5035550" y="4800600"/>
              <a:ext cx="2749550" cy="32258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zh-CN" altLang="en-US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  <a:sym typeface="+mn-ea"/>
                </a:rPr>
                <a:t>产出的文档没法看</a:t>
              </a:r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78" name="card_5"/>
          <p:cNvGrpSpPr/>
          <p:nvPr/>
        </p:nvGrpSpPr>
        <p:grpSpPr>
          <a:xfrm>
            <a:off x="8191500" y="4229100"/>
            <a:ext cx="3308350" cy="2286000"/>
            <a:chOff x="11779250" y="4229100"/>
            <a:chExt cx="3308350" cy="2286000"/>
          </a:xfrm>
        </p:grpSpPr>
        <p:sp>
          <p:nvSpPr>
            <p:cNvPr id="79" name="矩形: 圆角 66"/>
            <p:cNvSpPr/>
            <p:nvPr/>
          </p:nvSpPr>
          <p:spPr>
            <a:xfrm>
              <a:off x="1177925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11779250" y="4229100"/>
              <a:ext cx="63500" cy="2286000"/>
            </a:xfrm>
            <a:prstGeom prst="rect">
              <a:avLst/>
            </a:prstGeom>
            <a:solidFill>
              <a:srgbClr val="9B75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12109450" y="4800600"/>
              <a:ext cx="2749550" cy="32258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zh-CN" altLang="en-US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根本不懂业务不懂</a:t>
              </a:r>
              <a:r>
                <a:rPr lang="zh-CN" altLang="en-US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用户</a:t>
              </a:r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84" name="card_5"/>
          <p:cNvGrpSpPr/>
          <p:nvPr/>
        </p:nvGrpSpPr>
        <p:grpSpPr>
          <a:xfrm>
            <a:off x="11677650" y="4229100"/>
            <a:ext cx="3308350" cy="2286000"/>
            <a:chOff x="11779250" y="4229100"/>
            <a:chExt cx="3308350" cy="2286000"/>
          </a:xfrm>
        </p:grpSpPr>
        <p:sp>
          <p:nvSpPr>
            <p:cNvPr id="85" name="矩形: 圆角 66"/>
            <p:cNvSpPr/>
            <p:nvPr/>
          </p:nvSpPr>
          <p:spPr>
            <a:xfrm>
              <a:off x="1177925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11779250" y="4229100"/>
              <a:ext cx="63500" cy="2286000"/>
            </a:xfrm>
            <a:prstGeom prst="rect">
              <a:avLst/>
            </a:prstGeom>
            <a:solidFill>
              <a:srgbClr val="4C8D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12109450" y="4800600"/>
              <a:ext cx="2749550" cy="64579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zh-CN" altLang="en-US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  <a:sym typeface="+mn-ea"/>
                </a:rPr>
                <a:t>还不如我自己做得快</a:t>
              </a:r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  <a:p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1320800" y="4244975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ctr"/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像不像刚入职的实习生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？</a:t>
            </a:r>
            <a:endParaRPr lang="en-US" altLang="zh-CN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02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1806222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4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问题出在哪</a:t>
            </a:r>
            <a:r>
              <a:rPr lang="en-US" altLang="zh-CN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lang="en-US" altLang="zh-CN" sz="3600" b="1">
              <a:solidFill>
                <a:srgbClr val="EFECE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04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3612445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card_9"/>
          <p:cNvGrpSpPr/>
          <p:nvPr/>
        </p:nvGrpSpPr>
        <p:grpSpPr>
          <a:xfrm>
            <a:off x="1168400" y="2857500"/>
            <a:ext cx="4487333" cy="2667000"/>
            <a:chOff x="1168400" y="2857500"/>
            <a:chExt cx="4487333" cy="2667000"/>
          </a:xfrm>
        </p:grpSpPr>
        <p:sp>
          <p:nvSpPr>
            <p:cNvPr id="45" name="矩形: 圆角 44"/>
            <p:cNvSpPr/>
            <p:nvPr/>
          </p:nvSpPr>
          <p:spPr>
            <a:xfrm>
              <a:off x="1168400" y="2857500"/>
              <a:ext cx="4487333" cy="266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1168400" y="2857500"/>
              <a:ext cx="63500" cy="2667000"/>
            </a:xfrm>
            <a:prstGeom prst="rect">
              <a:avLst/>
            </a:prstGeom>
            <a:solidFill>
              <a:srgbClr val="FF5F7D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498600" y="3136900"/>
              <a:ext cx="3928533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期望错位</a:t>
              </a:r>
              <a:endParaRPr lang="zh-CN" altLang="en-US" sz="24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498600" y="3683000"/>
              <a:ext cx="3928533" cy="52260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把通用 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当万能答案机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期待一句话直接交付成品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4" name="card_10"/>
          <p:cNvGrpSpPr/>
          <p:nvPr/>
        </p:nvGrpSpPr>
        <p:grpSpPr>
          <a:xfrm>
            <a:off x="5884333" y="2857500"/>
            <a:ext cx="4487334" cy="2667000"/>
            <a:chOff x="5884333" y="2857500"/>
            <a:chExt cx="4487334" cy="2667000"/>
          </a:xfrm>
        </p:grpSpPr>
        <p:sp>
          <p:nvSpPr>
            <p:cNvPr id="50" name="矩形: 圆角 49"/>
            <p:cNvSpPr/>
            <p:nvPr/>
          </p:nvSpPr>
          <p:spPr>
            <a:xfrm>
              <a:off x="5884333" y="2857500"/>
              <a:ext cx="4487334" cy="266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5884333" y="2857500"/>
              <a:ext cx="63500" cy="2667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214533" y="3136900"/>
              <a:ext cx="3928533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磨合不足</a:t>
              </a:r>
              <a:endParaRPr lang="zh-CN" altLang="en-US" sz="24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214533" y="3683000"/>
              <a:ext cx="3928533" cy="52260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抛一句话，不满意就淘汰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没有跑通完整迭代</a:t>
              </a:r>
              <a:endParaRPr lang="en-US" altLang="zh-CN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9" name="card_11"/>
          <p:cNvGrpSpPr/>
          <p:nvPr/>
        </p:nvGrpSpPr>
        <p:grpSpPr>
          <a:xfrm>
            <a:off x="10600267" y="2857500"/>
            <a:ext cx="4487333" cy="2667000"/>
            <a:chOff x="10600267" y="2857500"/>
            <a:chExt cx="4487333" cy="2667000"/>
          </a:xfrm>
        </p:grpSpPr>
        <p:sp>
          <p:nvSpPr>
            <p:cNvPr id="55" name="矩形: 圆角 54"/>
            <p:cNvSpPr/>
            <p:nvPr/>
          </p:nvSpPr>
          <p:spPr>
            <a:xfrm>
              <a:off x="10600267" y="2857500"/>
              <a:ext cx="4487333" cy="266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10600267" y="2857500"/>
              <a:ext cx="63500" cy="2667000"/>
            </a:xfrm>
            <a:prstGeom prst="rect">
              <a:avLst/>
            </a:prstGeom>
            <a:solidFill>
              <a:srgbClr val="9B75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0930467" y="3136900"/>
              <a:ext cx="3928533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场景错配</a:t>
              </a:r>
              <a:endParaRPr lang="zh-CN" altLang="en-US" sz="24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0930467" y="3683000"/>
              <a:ext cx="3928533" cy="26098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拿着锤子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找钉子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64" name="文本框 63"/>
          <p:cNvSpPr txBox="1"/>
          <p:nvPr/>
        </p:nvSpPr>
        <p:spPr>
          <a:xfrm>
            <a:off x="931545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Question 01</a:t>
            </a:r>
            <a:endParaRPr lang="en-US" altLang="zh-CN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grpSp>
        <p:nvGrpSpPr>
          <p:cNvPr id="65" name="quote_12"/>
          <p:cNvGrpSpPr/>
          <p:nvPr/>
        </p:nvGrpSpPr>
        <p:grpSpPr>
          <a:xfrm>
            <a:off x="931545" y="7146290"/>
            <a:ext cx="14427200" cy="824865"/>
            <a:chOff x="914400" y="7670800"/>
            <a:chExt cx="14427200" cy="889000"/>
          </a:xfrm>
        </p:grpSpPr>
        <p:sp>
          <p:nvSpPr>
            <p:cNvPr id="66" name="矩形: 圆角 59"/>
            <p:cNvSpPr/>
            <p:nvPr/>
          </p:nvSpPr>
          <p:spPr>
            <a:xfrm>
              <a:off x="914400" y="7670800"/>
              <a:ext cx="14427200" cy="889000"/>
            </a:xfrm>
            <a:prstGeom prst="roundRect">
              <a:avLst/>
            </a:prstGeom>
            <a:solidFill>
              <a:srgbClr val="20C7AE">
                <a:alpha val="12000"/>
              </a:srgbClr>
            </a:solidFill>
            <a:ln w="12700" cap="flat" cmpd="sng" algn="ctr">
              <a:solidFill>
                <a:srgbClr val="20C7AE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7" name="矩形 66"/>
            <p:cNvSpPr/>
            <p:nvPr/>
          </p:nvSpPr>
          <p:spPr>
            <a:xfrm>
              <a:off x="914400" y="7670800"/>
              <a:ext cx="76200" cy="889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270000" y="7874000"/>
              <a:ext cx="13766800" cy="3976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好用的新同事是传帮带磨合出来的</a:t>
              </a:r>
              <a:r>
                <a:rPr lang="en-US" altLang="zh-CN" sz="24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；</a:t>
              </a:r>
              <a:r>
                <a:rPr lang="zh-CN" altLang="en-US" sz="24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好用的 </a:t>
              </a:r>
              <a:r>
                <a:rPr lang="en-US" altLang="zh-CN" sz="24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AI </a:t>
              </a:r>
              <a:r>
                <a:rPr lang="zh-CN" altLang="en-US" sz="24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是驯化出来的</a:t>
              </a:r>
              <a:endParaRPr lang="zh-CN" altLang="en-US" sz="2400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AI 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好不好用，差别不只在工具</a:t>
            </a:r>
            <a:endParaRPr lang="zh-CN" altLang="en-US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03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0" y="9093200"/>
            <a:ext cx="2709333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quote_6"/>
          <p:cNvGrpSpPr/>
          <p:nvPr/>
        </p:nvGrpSpPr>
        <p:grpSpPr>
          <a:xfrm>
            <a:off x="1244600" y="3606800"/>
            <a:ext cx="13919200" cy="1270000"/>
            <a:chOff x="1168400" y="2603500"/>
            <a:chExt cx="13919200" cy="1270000"/>
          </a:xfrm>
        </p:grpSpPr>
        <p:sp>
          <p:nvSpPr>
            <p:cNvPr id="44" name="矩形: 圆角 43"/>
            <p:cNvSpPr/>
            <p:nvPr/>
          </p:nvSpPr>
          <p:spPr>
            <a:xfrm>
              <a:off x="1168400" y="2603500"/>
              <a:ext cx="13919200" cy="1270000"/>
            </a:xfrm>
            <a:prstGeom prst="roundRect">
              <a:avLst/>
            </a:prstGeom>
            <a:solidFill>
              <a:srgbClr val="D6AD61">
                <a:alpha val="12000"/>
              </a:srgbClr>
            </a:solidFill>
            <a:ln w="12700" cap="flat" cmpd="sng" algn="ctr">
              <a:solidFill>
                <a:srgbClr val="D6AD61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1168400" y="2603500"/>
              <a:ext cx="76200" cy="1270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524000" y="2806700"/>
              <a:ext cx="13258800" cy="40005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6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而是在于：你有没有给它成为伙伴的条件。</a:t>
              </a:r>
              <a:endParaRPr lang="zh-CN" altLang="en-US" sz="2600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31545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Question 01</a:t>
            </a:r>
            <a:endParaRPr lang="en-US" altLang="zh-CN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重新认识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硅基伙伴</a:t>
            </a:r>
            <a:endParaRPr lang="zh-CN" altLang="en-US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03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0" y="9093200"/>
            <a:ext cx="2709333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quote_6"/>
          <p:cNvGrpSpPr/>
          <p:nvPr/>
        </p:nvGrpSpPr>
        <p:grpSpPr>
          <a:xfrm>
            <a:off x="1244600" y="3606800"/>
            <a:ext cx="13919200" cy="1270000"/>
            <a:chOff x="1168400" y="2603500"/>
            <a:chExt cx="13919200" cy="1270000"/>
          </a:xfrm>
        </p:grpSpPr>
        <p:sp>
          <p:nvSpPr>
            <p:cNvPr id="44" name="矩形: 圆角 43"/>
            <p:cNvSpPr/>
            <p:nvPr/>
          </p:nvSpPr>
          <p:spPr>
            <a:xfrm>
              <a:off x="1168400" y="2603500"/>
              <a:ext cx="13919200" cy="1270000"/>
            </a:xfrm>
            <a:prstGeom prst="roundRect">
              <a:avLst/>
            </a:prstGeom>
            <a:solidFill>
              <a:srgbClr val="D6AD61">
                <a:alpha val="12000"/>
              </a:srgbClr>
            </a:solidFill>
            <a:ln w="12700" cap="flat" cmpd="sng" algn="ctr">
              <a:solidFill>
                <a:srgbClr val="D6AD61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1168400" y="2603500"/>
              <a:ext cx="76200" cy="1270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524000" y="2806700"/>
              <a:ext cx="13258800" cy="40005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6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一页图</a:t>
              </a:r>
              <a:r>
                <a:rPr lang="en-US" altLang="zh-CN" sz="26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，</a:t>
              </a:r>
              <a:r>
                <a:rPr lang="zh-CN" altLang="en-US" sz="26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解释</a:t>
              </a:r>
              <a:r>
                <a:rPr lang="en-US" altLang="zh-CN" sz="26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LLM、Memory、SKILL、AGENT</a:t>
              </a:r>
              <a:r>
                <a:rPr lang="zh-CN" altLang="en-US" sz="26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这些</a:t>
              </a:r>
              <a:r>
                <a:rPr lang="zh-CN" altLang="en-US" sz="26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概念</a:t>
              </a:r>
              <a:endParaRPr lang="zh-CN" altLang="en-US" sz="2600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31545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Question 01</a:t>
            </a:r>
            <a:endParaRPr lang="en-US" altLang="zh-CN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4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Taming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如何驯化自己的专属硅基伙伴</a:t>
            </a:r>
            <a:endParaRPr lang="zh-CN" altLang="en-US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从“让 </a:t>
            </a:r>
            <a:r>
              <a:rPr lang="en-US" altLang="zh-CN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 </a:t>
            </a:r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写”升级到“让 </a:t>
            </a:r>
            <a:r>
              <a:rPr lang="en-US" altLang="zh-CN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 </a:t>
            </a:r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追问、质检、沉淀”</a:t>
            </a:r>
            <a:endParaRPr lang="zh-CN" altLang="en-US">
              <a:solidFill>
                <a:srgbClr val="A7ADB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14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12643555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quote_41"/>
          <p:cNvGrpSpPr/>
          <p:nvPr/>
        </p:nvGrpSpPr>
        <p:grpSpPr>
          <a:xfrm>
            <a:off x="1168400" y="2603500"/>
            <a:ext cx="13919200" cy="1270000"/>
            <a:chOff x="1168400" y="2603500"/>
            <a:chExt cx="13919200" cy="1270000"/>
          </a:xfrm>
        </p:grpSpPr>
        <p:sp>
          <p:nvSpPr>
            <p:cNvPr id="45" name="矩形: 圆角 44"/>
            <p:cNvSpPr/>
            <p:nvPr/>
          </p:nvSpPr>
          <p:spPr>
            <a:xfrm>
              <a:off x="1168400" y="2603500"/>
              <a:ext cx="13919200" cy="1270000"/>
            </a:xfrm>
            <a:prstGeom prst="roundRect">
              <a:avLst/>
            </a:prstGeom>
            <a:solidFill>
              <a:srgbClr val="D6AD61">
                <a:alpha val="12000"/>
              </a:srgbClr>
            </a:solidFill>
            <a:ln w="12700" cap="flat" cmpd="sng" algn="ctr">
              <a:solidFill>
                <a:srgbClr val="D6AD61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1168400" y="2603500"/>
              <a:ext cx="76200" cy="1270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524000" y="2806700"/>
              <a:ext cx="13258800" cy="4001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6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不要只让 </a:t>
              </a:r>
              <a:r>
                <a:rPr lang="en-US" altLang="zh-CN" sz="26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AI </a:t>
              </a:r>
              <a:r>
                <a:rPr lang="zh-CN" altLang="en-US" sz="26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给答案，要让 </a:t>
              </a:r>
              <a:r>
                <a:rPr lang="en-US" altLang="zh-CN" sz="26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AI </a:t>
              </a:r>
              <a:r>
                <a:rPr lang="zh-CN" altLang="en-US" sz="26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帮你暴露盲区。</a:t>
              </a:r>
              <a:endParaRPr lang="zh-CN" altLang="en-US" sz="2600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  <p:grpSp>
        <p:nvGrpSpPr>
          <p:cNvPr id="53" name="card_42"/>
          <p:cNvGrpSpPr/>
          <p:nvPr/>
        </p:nvGrpSpPr>
        <p:grpSpPr>
          <a:xfrm>
            <a:off x="1168400" y="4229100"/>
            <a:ext cx="4487333" cy="2286000"/>
            <a:chOff x="1168400" y="4229100"/>
            <a:chExt cx="4487333" cy="2286000"/>
          </a:xfrm>
        </p:grpSpPr>
        <p:sp>
          <p:nvSpPr>
            <p:cNvPr id="49" name="矩形: 圆角 48"/>
            <p:cNvSpPr/>
            <p:nvPr/>
          </p:nvSpPr>
          <p:spPr>
            <a:xfrm>
              <a:off x="1168400" y="4229100"/>
              <a:ext cx="4487333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498600" y="4508500"/>
              <a:ext cx="3928533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角色</a:t>
              </a:r>
              <a:endParaRPr lang="zh-CN" altLang="en-US" sz="24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498600" y="5054600"/>
              <a:ext cx="3928533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资料整理员、方案挑战者、表达润色员、流程检查员、需求追问员。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8" name="card_43"/>
          <p:cNvGrpSpPr/>
          <p:nvPr/>
        </p:nvGrpSpPr>
        <p:grpSpPr>
          <a:xfrm>
            <a:off x="5884333" y="4229100"/>
            <a:ext cx="4487334" cy="2286000"/>
            <a:chOff x="5884333" y="4229100"/>
            <a:chExt cx="4487334" cy="2286000"/>
          </a:xfrm>
        </p:grpSpPr>
        <p:sp>
          <p:nvSpPr>
            <p:cNvPr id="54" name="矩形: 圆角 53"/>
            <p:cNvSpPr/>
            <p:nvPr/>
          </p:nvSpPr>
          <p:spPr>
            <a:xfrm>
              <a:off x="5884333" y="4229100"/>
              <a:ext cx="4487334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5884333" y="4229100"/>
              <a:ext cx="63500" cy="2286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6214533" y="4508500"/>
              <a:ext cx="3928533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记忆</a:t>
              </a:r>
              <a:endParaRPr lang="zh-CN" altLang="en-US" sz="24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6214533" y="5054600"/>
              <a:ext cx="3928533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把稳定偏好和项目背景沉下来：格式、黑话、标准、禁区。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63" name="card_44"/>
          <p:cNvGrpSpPr/>
          <p:nvPr/>
        </p:nvGrpSpPr>
        <p:grpSpPr>
          <a:xfrm>
            <a:off x="10600267" y="4229100"/>
            <a:ext cx="4487333" cy="2286000"/>
            <a:chOff x="10600267" y="4229100"/>
            <a:chExt cx="4487333" cy="2286000"/>
          </a:xfrm>
        </p:grpSpPr>
        <p:sp>
          <p:nvSpPr>
            <p:cNvPr id="59" name="矩形: 圆角 58"/>
            <p:cNvSpPr/>
            <p:nvPr/>
          </p:nvSpPr>
          <p:spPr>
            <a:xfrm>
              <a:off x="10600267" y="4229100"/>
              <a:ext cx="4487333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10600267" y="4229100"/>
              <a:ext cx="63500" cy="2286000"/>
            </a:xfrm>
            <a:prstGeom prst="rect">
              <a:avLst/>
            </a:prstGeom>
            <a:solidFill>
              <a:srgbClr val="9B75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0930467" y="4508500"/>
              <a:ext cx="3928533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工作流</a:t>
              </a:r>
              <a:endParaRPr lang="zh-CN" altLang="en-US" sz="24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0930467" y="5054600"/>
              <a:ext cx="3928533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读材料 → 提炼观点 → 诊断结构 → 生成提纲 → 质检 → 行动项。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一场驯化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之旅</a:t>
            </a:r>
            <a:endParaRPr lang="zh-CN" altLang="en-US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03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0" y="9093200"/>
            <a:ext cx="2709333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quote_6"/>
          <p:cNvGrpSpPr/>
          <p:nvPr/>
        </p:nvGrpSpPr>
        <p:grpSpPr>
          <a:xfrm>
            <a:off x="1244600" y="3606800"/>
            <a:ext cx="13919200" cy="1270000"/>
            <a:chOff x="1168400" y="2603500"/>
            <a:chExt cx="13919200" cy="1270000"/>
          </a:xfrm>
        </p:grpSpPr>
        <p:sp>
          <p:nvSpPr>
            <p:cNvPr id="44" name="矩形: 圆角 43"/>
            <p:cNvSpPr/>
            <p:nvPr/>
          </p:nvSpPr>
          <p:spPr>
            <a:xfrm>
              <a:off x="1168400" y="2603500"/>
              <a:ext cx="13919200" cy="1270000"/>
            </a:xfrm>
            <a:prstGeom prst="roundRect">
              <a:avLst/>
            </a:prstGeom>
            <a:solidFill>
              <a:srgbClr val="D6AD61">
                <a:alpha val="12000"/>
              </a:srgbClr>
            </a:solidFill>
            <a:ln w="12700" cap="flat" cmpd="sng" algn="ctr">
              <a:solidFill>
                <a:srgbClr val="D6AD61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1168400" y="2603500"/>
              <a:ext cx="76200" cy="1270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524000" y="2806700"/>
              <a:ext cx="13258800" cy="40005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6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从</a:t>
              </a:r>
              <a:r>
                <a:rPr lang="en-US" altLang="zh-CN" sz="26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SOUL、MEMORY、RULES</a:t>
              </a:r>
              <a:r>
                <a:rPr lang="zh-CN" altLang="en-US" sz="26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开始的驯化与驾驭的</a:t>
              </a:r>
              <a:r>
                <a:rPr lang="zh-CN" altLang="en-US" sz="26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案例</a:t>
              </a:r>
              <a:endParaRPr lang="zh-CN" altLang="en-US" sz="2600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31545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Question 01</a:t>
            </a:r>
            <a:endParaRPr lang="en-US" altLang="zh-CN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PART 2</a:t>
            </a:r>
            <a:endParaRPr lang="en-US" altLang="zh-CN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AI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都做了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我做啥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？</a:t>
            </a:r>
            <a:endParaRPr lang="en-US" altLang="zh-CN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02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1806222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4" name="card_2"/>
          <p:cNvGrpSpPr/>
          <p:nvPr/>
        </p:nvGrpSpPr>
        <p:grpSpPr>
          <a:xfrm>
            <a:off x="1625600" y="2821940"/>
            <a:ext cx="13500735" cy="920115"/>
            <a:chOff x="1168400" y="4229100"/>
            <a:chExt cx="3793139" cy="2286000"/>
          </a:xfrm>
        </p:grpSpPr>
        <p:sp>
          <p:nvSpPr>
            <p:cNvPr id="49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chemeClr val="bg2">
                <a:lumMod val="10000"/>
                <a:alpha val="93000"/>
              </a:scheme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100" b="1">
                  <a:solidFill>
                    <a:schemeClr val="bg2">
                      <a:lumMod val="25000"/>
                    </a:schemeClr>
                  </a:solidFill>
                  <a:latin typeface="宋体" pitchFamily="2" charset="-122"/>
                  <a:ea typeface="宋体" pitchFamily="2" charset="-122"/>
                </a:rPr>
                <a:t>Question 01</a:t>
              </a:r>
              <a:endParaRPr lang="en-US" altLang="zh-CN" sz="2100" b="1">
                <a:solidFill>
                  <a:schemeClr val="bg2">
                    <a:lumMod val="25000"/>
                  </a:schemeClr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为什么很多人觉得 </a:t>
              </a:r>
              <a:r>
                <a:rPr lang="en-US" altLang="zh-CN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 </a:t>
              </a:r>
              <a:r>
                <a:rPr lang="zh-CN" altLang="en-US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不好用？</a:t>
              </a:r>
              <a:endParaRPr lang="zh-CN" altLang="en-US" sz="2000">
                <a:solidFill>
                  <a:schemeClr val="bg2">
                    <a:lumMod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45" name="card_2"/>
          <p:cNvGrpSpPr/>
          <p:nvPr/>
        </p:nvGrpSpPr>
        <p:grpSpPr>
          <a:xfrm>
            <a:off x="1625600" y="4048125"/>
            <a:ext cx="13500735" cy="920115"/>
            <a:chOff x="1168400" y="4229100"/>
            <a:chExt cx="3793139" cy="2286000"/>
          </a:xfrm>
        </p:grpSpPr>
        <p:sp>
          <p:nvSpPr>
            <p:cNvPr id="46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Question 02</a:t>
              </a:r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都做了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、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我做啥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？</a:t>
              </a:r>
              <a:endParaRPr lang="en-US" altLang="zh-CN" sz="20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74" name="card_2"/>
          <p:cNvGrpSpPr/>
          <p:nvPr/>
        </p:nvGrpSpPr>
        <p:grpSpPr>
          <a:xfrm>
            <a:off x="1625600" y="5325110"/>
            <a:ext cx="13500735" cy="920115"/>
            <a:chOff x="1168400" y="4229100"/>
            <a:chExt cx="3793139" cy="2286000"/>
          </a:xfrm>
        </p:grpSpPr>
        <p:sp>
          <p:nvSpPr>
            <p:cNvPr id="75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9B75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Question 03</a:t>
              </a:r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发展太快了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，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根本跟不上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，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不如等个终极版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？</a:t>
              </a:r>
              <a:endParaRPr lang="en-US" altLang="zh-CN" sz="20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79" name="card_2"/>
          <p:cNvGrpSpPr/>
          <p:nvPr/>
        </p:nvGrpSpPr>
        <p:grpSpPr>
          <a:xfrm>
            <a:off x="1625600" y="6568440"/>
            <a:ext cx="13500735" cy="920115"/>
            <a:chOff x="1168400" y="4229100"/>
            <a:chExt cx="3793139" cy="2286000"/>
          </a:xfrm>
        </p:grpSpPr>
        <p:sp>
          <p:nvSpPr>
            <p:cNvPr id="80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4C8D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Question 04</a:t>
              </a:r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用上了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，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但也完全没觉得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变轻松</a:t>
              </a:r>
              <a:endParaRPr lang="zh-CN" altLang="en-US" sz="20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02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1806222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914400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PART 2</a:t>
            </a:r>
            <a:endParaRPr lang="en-US" altLang="zh-CN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p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AI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都做了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、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我做啥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？</a:t>
            </a:r>
            <a:endParaRPr lang="en-US" altLang="zh-CN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65" name="quote_12"/>
          <p:cNvGrpSpPr/>
          <p:nvPr/>
        </p:nvGrpSpPr>
        <p:grpSpPr>
          <a:xfrm>
            <a:off x="812800" y="4003675"/>
            <a:ext cx="14427200" cy="1223010"/>
            <a:chOff x="914400" y="7670800"/>
            <a:chExt cx="14427200" cy="889000"/>
          </a:xfrm>
        </p:grpSpPr>
        <p:sp>
          <p:nvSpPr>
            <p:cNvPr id="66" name="矩形: 圆角 59"/>
            <p:cNvSpPr/>
            <p:nvPr/>
          </p:nvSpPr>
          <p:spPr>
            <a:xfrm>
              <a:off x="914400" y="7670800"/>
              <a:ext cx="14427200" cy="889000"/>
            </a:xfrm>
            <a:prstGeom prst="roundRect">
              <a:avLst/>
            </a:prstGeom>
            <a:solidFill>
              <a:srgbClr val="20C7AE">
                <a:alpha val="12000"/>
              </a:srgbClr>
            </a:solidFill>
            <a:ln w="12700" cap="flat" cmpd="sng" algn="ctr">
              <a:solidFill>
                <a:srgbClr val="20C7AE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/>
            </a:p>
          </p:txBody>
        </p:sp>
        <p:sp>
          <p:nvSpPr>
            <p:cNvPr id="67" name="矩形 66"/>
            <p:cNvSpPr/>
            <p:nvPr/>
          </p:nvSpPr>
          <p:spPr>
            <a:xfrm>
              <a:off x="914400" y="7670800"/>
              <a:ext cx="76200" cy="889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/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270000" y="7874000"/>
              <a:ext cx="13766800" cy="40249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pPr algn="ctr"/>
              <a:r>
                <a:rPr lang="zh-CN" altLang="en-US" sz="36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未来的团队是什么样</a:t>
              </a:r>
              <a:r>
                <a:rPr lang="en-US" altLang="zh-CN" sz="36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？</a:t>
              </a:r>
              <a:endParaRPr lang="en-US" altLang="zh-CN" sz="3600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4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人和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AI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的价值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，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分别是什么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？</a:t>
            </a:r>
            <a:endParaRPr lang="en-US" altLang="zh-CN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04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3612445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card_9"/>
          <p:cNvGrpSpPr/>
          <p:nvPr/>
        </p:nvGrpSpPr>
        <p:grpSpPr>
          <a:xfrm>
            <a:off x="1168400" y="2857500"/>
            <a:ext cx="6146800" cy="2667000"/>
            <a:chOff x="1168400" y="2857500"/>
            <a:chExt cx="4487333" cy="2667000"/>
          </a:xfrm>
        </p:grpSpPr>
        <p:sp>
          <p:nvSpPr>
            <p:cNvPr id="45" name="矩形: 圆角 44"/>
            <p:cNvSpPr/>
            <p:nvPr/>
          </p:nvSpPr>
          <p:spPr>
            <a:xfrm>
              <a:off x="1168400" y="2857500"/>
              <a:ext cx="4487333" cy="266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1168400" y="2857500"/>
              <a:ext cx="63500" cy="2667000"/>
            </a:xfrm>
            <a:prstGeom prst="rect">
              <a:avLst/>
            </a:prstGeom>
            <a:solidFill>
              <a:srgbClr val="00B05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498600" y="3136900"/>
              <a:ext cx="3928533" cy="36893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人擅长什么</a:t>
              </a:r>
              <a:r>
                <a:rPr lang="en-US" altLang="zh-CN" sz="24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？</a:t>
              </a:r>
              <a:endParaRPr lang="en-US" altLang="zh-CN" sz="24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498600" y="3683000"/>
              <a:ext cx="3928533" cy="26098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情感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、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创造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、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直觉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4" name="card_10"/>
          <p:cNvGrpSpPr/>
          <p:nvPr/>
        </p:nvGrpSpPr>
        <p:grpSpPr>
          <a:xfrm>
            <a:off x="8127365" y="2857500"/>
            <a:ext cx="6503035" cy="2667000"/>
            <a:chOff x="5884333" y="2857500"/>
            <a:chExt cx="4487334" cy="2667000"/>
          </a:xfrm>
        </p:grpSpPr>
        <p:sp>
          <p:nvSpPr>
            <p:cNvPr id="50" name="矩形: 圆角 49"/>
            <p:cNvSpPr/>
            <p:nvPr/>
          </p:nvSpPr>
          <p:spPr>
            <a:xfrm>
              <a:off x="5884333" y="2857500"/>
              <a:ext cx="4487334" cy="266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5884333" y="2857500"/>
              <a:ext cx="63500" cy="2667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214533" y="3136900"/>
              <a:ext cx="3928533" cy="36893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人不擅长什么</a:t>
              </a:r>
              <a:r>
                <a:rPr lang="en-US" altLang="zh-CN" sz="24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？</a:t>
              </a:r>
              <a:endParaRPr lang="en-US" altLang="zh-CN" sz="24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214533" y="3683000"/>
              <a:ext cx="3928533" cy="26098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繁琐的细节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、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复杂的依赖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、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信息的机械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传递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64" name="文本框 63"/>
          <p:cNvSpPr txBox="1"/>
          <p:nvPr/>
        </p:nvSpPr>
        <p:spPr>
          <a:xfrm>
            <a:off x="931545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PART 2</a:t>
            </a:r>
            <a:endParaRPr lang="en-US" altLang="zh-CN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4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人和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AI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的价值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，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分别是什么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？</a:t>
            </a:r>
            <a:endParaRPr lang="en-US" altLang="zh-CN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04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3612445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card_9"/>
          <p:cNvGrpSpPr/>
          <p:nvPr/>
        </p:nvGrpSpPr>
        <p:grpSpPr>
          <a:xfrm>
            <a:off x="1168400" y="2857500"/>
            <a:ext cx="6146800" cy="2667000"/>
            <a:chOff x="1168400" y="2857500"/>
            <a:chExt cx="4487333" cy="2667000"/>
          </a:xfrm>
        </p:grpSpPr>
        <p:sp>
          <p:nvSpPr>
            <p:cNvPr id="45" name="矩形: 圆角 44"/>
            <p:cNvSpPr/>
            <p:nvPr/>
          </p:nvSpPr>
          <p:spPr>
            <a:xfrm>
              <a:off x="1168400" y="2857500"/>
              <a:ext cx="4487333" cy="266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1168400" y="2857500"/>
              <a:ext cx="63500" cy="2667000"/>
            </a:xfrm>
            <a:prstGeom prst="rect">
              <a:avLst/>
            </a:prstGeom>
            <a:solidFill>
              <a:srgbClr val="7030A0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498600" y="3136900"/>
              <a:ext cx="3928533" cy="36893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4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24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擅长什么</a:t>
              </a:r>
              <a:r>
                <a:rPr lang="en-US" altLang="zh-CN" sz="24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？</a:t>
              </a:r>
              <a:endParaRPr lang="en-US" altLang="zh-CN" sz="24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498600" y="3683000"/>
              <a:ext cx="3928533" cy="26098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待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补充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4" name="card_10"/>
          <p:cNvGrpSpPr/>
          <p:nvPr/>
        </p:nvGrpSpPr>
        <p:grpSpPr>
          <a:xfrm>
            <a:off x="8127365" y="2857500"/>
            <a:ext cx="6503035" cy="2667000"/>
            <a:chOff x="5884333" y="2857500"/>
            <a:chExt cx="4487334" cy="2667000"/>
          </a:xfrm>
        </p:grpSpPr>
        <p:sp>
          <p:nvSpPr>
            <p:cNvPr id="50" name="矩形: 圆角 49"/>
            <p:cNvSpPr/>
            <p:nvPr/>
          </p:nvSpPr>
          <p:spPr>
            <a:xfrm>
              <a:off x="5884333" y="2857500"/>
              <a:ext cx="4487334" cy="266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5884333" y="2857500"/>
              <a:ext cx="63500" cy="2667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214533" y="3136900"/>
              <a:ext cx="3928533" cy="36893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4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24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不擅长什么</a:t>
              </a:r>
              <a:r>
                <a:rPr lang="en-US" altLang="zh-CN" sz="24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？</a:t>
              </a:r>
              <a:endParaRPr lang="en-US" altLang="zh-CN" sz="24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214533" y="3683000"/>
              <a:ext cx="3928533" cy="26098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待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补充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64" name="文本框 63"/>
          <p:cNvSpPr txBox="1"/>
          <p:nvPr/>
        </p:nvSpPr>
        <p:spPr>
          <a:xfrm>
            <a:off x="931545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PART 2</a:t>
            </a:r>
            <a:endParaRPr lang="en-US" altLang="zh-CN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4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人和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AI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都不擅长的东西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，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怎么办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？</a:t>
            </a:r>
            <a:endParaRPr lang="en-US" altLang="zh-CN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04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3612445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931545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PART 2</a:t>
            </a:r>
            <a:endParaRPr lang="en-US" altLang="zh-CN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grpSp>
        <p:nvGrpSpPr>
          <p:cNvPr id="84" name="card_5"/>
          <p:cNvGrpSpPr/>
          <p:nvPr/>
        </p:nvGrpSpPr>
        <p:grpSpPr>
          <a:xfrm>
            <a:off x="1568450" y="2921000"/>
            <a:ext cx="8844915" cy="2286000"/>
            <a:chOff x="11779250" y="4229100"/>
            <a:chExt cx="3308350" cy="2286000"/>
          </a:xfrm>
        </p:grpSpPr>
        <p:sp>
          <p:nvSpPr>
            <p:cNvPr id="85" name="矩形: 圆角 66"/>
            <p:cNvSpPr/>
            <p:nvPr/>
          </p:nvSpPr>
          <p:spPr>
            <a:xfrm>
              <a:off x="1177925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11779250" y="4229100"/>
              <a:ext cx="63500" cy="2286000"/>
            </a:xfrm>
            <a:prstGeom prst="rect">
              <a:avLst/>
            </a:prstGeom>
            <a:solidFill>
              <a:srgbClr val="4C8D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12109450" y="4800600"/>
              <a:ext cx="2749550" cy="32258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zh-CN" altLang="en-US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  <a:sym typeface="+mn-ea"/>
                </a:rPr>
                <a:t>还有确定性</a:t>
              </a:r>
              <a:r>
                <a:rPr lang="zh-CN" altLang="en-US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  <a:sym typeface="+mn-ea"/>
                </a:rPr>
                <a:t>硅基</a:t>
              </a:r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Division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确定性硅基压低损耗，概率性硅基扩大半径</a:t>
            </a:r>
            <a:endParaRPr lang="zh-CN" altLang="en-US" sz="3600" b="1">
              <a:solidFill>
                <a:srgbClr val="EFECE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10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0" y="9093200"/>
            <a:ext cx="9031111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table_row_0"/>
          <p:cNvGrpSpPr/>
          <p:nvPr/>
        </p:nvGrpSpPr>
        <p:grpSpPr>
          <a:xfrm>
            <a:off x="1168400" y="2857500"/>
            <a:ext cx="13919200" cy="787400"/>
            <a:chOff x="1168400" y="2857500"/>
            <a:chExt cx="13919200" cy="787400"/>
          </a:xfrm>
        </p:grpSpPr>
        <p:sp>
          <p:nvSpPr>
            <p:cNvPr id="44" name="矩形 43"/>
            <p:cNvSpPr/>
            <p:nvPr/>
          </p:nvSpPr>
          <p:spPr>
            <a:xfrm>
              <a:off x="1168400" y="2857500"/>
              <a:ext cx="2286000" cy="787400"/>
            </a:xfrm>
            <a:prstGeom prst="rect">
              <a:avLst/>
            </a:prstGeom>
            <a:solidFill>
              <a:srgbClr val="151F32"/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346200" y="3022600"/>
              <a:ext cx="1981200" cy="21544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400" b="1">
                  <a:solidFill>
                    <a:srgbClr val="D6AD6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角色</a:t>
              </a:r>
              <a:endParaRPr lang="zh-CN" altLang="en-US" sz="1400" b="1">
                <a:solidFill>
                  <a:srgbClr val="D6AD6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3454400" y="2857500"/>
              <a:ext cx="5969000" cy="787400"/>
            </a:xfrm>
            <a:prstGeom prst="rect">
              <a:avLst/>
            </a:prstGeom>
            <a:solidFill>
              <a:srgbClr val="151F32"/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3632200" y="3022600"/>
              <a:ext cx="5664200" cy="21544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400" b="1">
                  <a:solidFill>
                    <a:srgbClr val="D6AD6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负责什么</a:t>
              </a:r>
              <a:endParaRPr lang="zh-CN" altLang="en-US" sz="1400" b="1">
                <a:solidFill>
                  <a:srgbClr val="D6AD6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9423400" y="2857500"/>
              <a:ext cx="5664200" cy="787400"/>
            </a:xfrm>
            <a:prstGeom prst="rect">
              <a:avLst/>
            </a:prstGeom>
            <a:solidFill>
              <a:srgbClr val="151F32"/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9601200" y="3022600"/>
              <a:ext cx="5359400" cy="21544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400" b="1">
                  <a:solidFill>
                    <a:srgbClr val="D6AD61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不负责什么</a:t>
              </a:r>
              <a:endParaRPr lang="zh-CN" altLang="en-US" sz="1400" b="1">
                <a:solidFill>
                  <a:srgbClr val="D6AD6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7" name="table_row_1"/>
          <p:cNvGrpSpPr/>
          <p:nvPr/>
        </p:nvGrpSpPr>
        <p:grpSpPr>
          <a:xfrm>
            <a:off x="1168400" y="3644900"/>
            <a:ext cx="13919200" cy="787400"/>
            <a:chOff x="1168400" y="3644900"/>
            <a:chExt cx="13919200" cy="787400"/>
          </a:xfrm>
        </p:grpSpPr>
        <p:sp>
          <p:nvSpPr>
            <p:cNvPr id="51" name="矩形 50"/>
            <p:cNvSpPr/>
            <p:nvPr/>
          </p:nvSpPr>
          <p:spPr>
            <a:xfrm>
              <a:off x="1168400" y="3644900"/>
              <a:ext cx="2286000" cy="787400"/>
            </a:xfrm>
            <a:prstGeom prst="rect">
              <a:avLst/>
            </a:prstGeom>
            <a:solidFill>
              <a:srgbClr val="111A2B">
                <a:alpha val="90000"/>
              </a:srgbClr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346200" y="3810000"/>
              <a:ext cx="19812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 b="1">
                  <a:solidFill>
                    <a:srgbClr val="EFECE5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人</a:t>
              </a:r>
              <a:endParaRPr lang="zh-CN" altLang="en-US" sz="1600" b="1">
                <a:solidFill>
                  <a:srgbClr val="EFECE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3454400" y="3644900"/>
              <a:ext cx="5969000" cy="787400"/>
            </a:xfrm>
            <a:prstGeom prst="rect">
              <a:avLst/>
            </a:prstGeom>
            <a:solidFill>
              <a:srgbClr val="111A2B">
                <a:alpha val="90000"/>
              </a:srgbClr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3632200" y="3810000"/>
              <a:ext cx="56642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目标、价值、标准、取舍、验收、责任</a:t>
              </a:r>
              <a:endParaRPr lang="zh-CN" altLang="en-US" sz="16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9423400" y="3644900"/>
              <a:ext cx="5664200" cy="787400"/>
            </a:xfrm>
            <a:prstGeom prst="rect">
              <a:avLst/>
            </a:prstGeom>
            <a:solidFill>
              <a:srgbClr val="111A2B">
                <a:alpha val="90000"/>
              </a:srgbClr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9601200" y="3810000"/>
              <a:ext cx="53594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不该长期做人肉中继和重复搬运</a:t>
              </a:r>
              <a:endParaRPr lang="zh-CN" altLang="en-US" sz="16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64" name="table_row_2"/>
          <p:cNvGrpSpPr/>
          <p:nvPr/>
        </p:nvGrpSpPr>
        <p:grpSpPr>
          <a:xfrm>
            <a:off x="1168400" y="4432300"/>
            <a:ext cx="13919200" cy="787400"/>
            <a:chOff x="1168400" y="4432300"/>
            <a:chExt cx="13919200" cy="787400"/>
          </a:xfrm>
        </p:grpSpPr>
        <p:sp>
          <p:nvSpPr>
            <p:cNvPr id="58" name="矩形 57"/>
            <p:cNvSpPr/>
            <p:nvPr/>
          </p:nvSpPr>
          <p:spPr>
            <a:xfrm>
              <a:off x="1168400" y="4432300"/>
              <a:ext cx="2286000" cy="787400"/>
            </a:xfrm>
            <a:prstGeom prst="rect">
              <a:avLst/>
            </a:prstGeom>
            <a:solidFill>
              <a:srgbClr val="111A2B">
                <a:alpha val="90000"/>
              </a:srgbClr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346200" y="4597400"/>
              <a:ext cx="19812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 b="1">
                  <a:solidFill>
                    <a:srgbClr val="EFECE5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概率性硅基</a:t>
              </a:r>
              <a:endParaRPr lang="zh-CN" altLang="en-US" sz="1600" b="1">
                <a:solidFill>
                  <a:srgbClr val="EFECE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3454400" y="4432300"/>
              <a:ext cx="5969000" cy="787400"/>
            </a:xfrm>
            <a:prstGeom prst="rect">
              <a:avLst/>
            </a:prstGeom>
            <a:solidFill>
              <a:srgbClr val="111A2B">
                <a:alpha val="90000"/>
              </a:srgbClr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3632200" y="4597400"/>
              <a:ext cx="56642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理解、追问、生成、整理、挑战、扩展视角</a:t>
              </a:r>
              <a:endParaRPr lang="zh-CN" altLang="en-US" sz="16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9423400" y="4432300"/>
              <a:ext cx="5664200" cy="787400"/>
            </a:xfrm>
            <a:prstGeom prst="rect">
              <a:avLst/>
            </a:prstGeom>
            <a:solidFill>
              <a:srgbClr val="111A2B">
                <a:alpha val="90000"/>
              </a:srgbClr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9601200" y="4597400"/>
              <a:ext cx="53594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不替人做最终判断</a:t>
              </a:r>
              <a:endParaRPr lang="zh-CN" altLang="en-US" sz="16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71" name="table_row_3"/>
          <p:cNvGrpSpPr/>
          <p:nvPr/>
        </p:nvGrpSpPr>
        <p:grpSpPr>
          <a:xfrm>
            <a:off x="1168400" y="5219700"/>
            <a:ext cx="13919200" cy="787400"/>
            <a:chOff x="1168400" y="5219700"/>
            <a:chExt cx="13919200" cy="787400"/>
          </a:xfrm>
        </p:grpSpPr>
        <p:sp>
          <p:nvSpPr>
            <p:cNvPr id="65" name="矩形 64"/>
            <p:cNvSpPr/>
            <p:nvPr/>
          </p:nvSpPr>
          <p:spPr>
            <a:xfrm>
              <a:off x="1168400" y="5219700"/>
              <a:ext cx="2286000" cy="787400"/>
            </a:xfrm>
            <a:prstGeom prst="rect">
              <a:avLst/>
            </a:prstGeom>
            <a:solidFill>
              <a:srgbClr val="111A2B">
                <a:alpha val="90000"/>
              </a:srgbClr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1346200" y="5384800"/>
              <a:ext cx="19812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 b="1">
                  <a:solidFill>
                    <a:srgbClr val="EFECE5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确定性硅基</a:t>
              </a:r>
              <a:endParaRPr lang="zh-CN" altLang="en-US" sz="1600" b="1">
                <a:solidFill>
                  <a:srgbClr val="EFECE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7" name="矩形 66"/>
            <p:cNvSpPr/>
            <p:nvPr/>
          </p:nvSpPr>
          <p:spPr>
            <a:xfrm>
              <a:off x="3454400" y="5219700"/>
              <a:ext cx="5969000" cy="787400"/>
            </a:xfrm>
            <a:prstGeom prst="rect">
              <a:avLst/>
            </a:prstGeom>
            <a:solidFill>
              <a:srgbClr val="111A2B">
                <a:alpha val="90000"/>
              </a:srgbClr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3632200" y="5384800"/>
              <a:ext cx="56642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稳定执行、自动流转、提醒、校验、沉淀</a:t>
              </a:r>
              <a:endParaRPr lang="zh-CN" altLang="en-US" sz="16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9423400" y="5219700"/>
              <a:ext cx="5664200" cy="787400"/>
            </a:xfrm>
            <a:prstGeom prst="rect">
              <a:avLst/>
            </a:prstGeom>
            <a:solidFill>
              <a:srgbClr val="111A2B">
                <a:alpha val="90000"/>
              </a:srgbClr>
            </a:solidFill>
            <a:ln w="9525"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9601200" y="5384800"/>
              <a:ext cx="5359400" cy="2462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不处理模糊取舍和价值判断</a:t>
              </a:r>
              <a:endParaRPr lang="zh-CN" altLang="en-US" sz="16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75" name="quote_29"/>
          <p:cNvGrpSpPr/>
          <p:nvPr/>
        </p:nvGrpSpPr>
        <p:grpSpPr>
          <a:xfrm>
            <a:off x="914400" y="6959600"/>
            <a:ext cx="14427200" cy="889000"/>
            <a:chOff x="914400" y="6959600"/>
            <a:chExt cx="14427200" cy="889000"/>
          </a:xfrm>
        </p:grpSpPr>
        <p:sp>
          <p:nvSpPr>
            <p:cNvPr id="72" name="矩形: 圆角 71"/>
            <p:cNvSpPr/>
            <p:nvPr/>
          </p:nvSpPr>
          <p:spPr>
            <a:xfrm>
              <a:off x="914400" y="6959600"/>
              <a:ext cx="14427200" cy="889000"/>
            </a:xfrm>
            <a:prstGeom prst="roundRect">
              <a:avLst/>
            </a:prstGeom>
            <a:solidFill>
              <a:srgbClr val="20C7AE">
                <a:alpha val="12000"/>
              </a:srgbClr>
            </a:solidFill>
            <a:ln w="12700" cap="flat" cmpd="sng" algn="ctr">
              <a:solidFill>
                <a:srgbClr val="20C7AE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914400" y="6959600"/>
              <a:ext cx="76200" cy="889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270000" y="7162800"/>
              <a:ext cx="137668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一句话：模糊探索交给概率性硅基，稳定事实和执行交给确定性工具，人守住目标、标准和责任。</a:t>
              </a:r>
              <a:endParaRPr lang="zh-CN" altLang="en-US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4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新的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AI Native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团队什么样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？</a:t>
            </a:r>
            <a:endParaRPr lang="en-US" altLang="zh-CN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04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3612445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931545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PART 2</a:t>
            </a:r>
            <a:endParaRPr lang="en-US" altLang="zh-CN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grpSp>
        <p:nvGrpSpPr>
          <p:cNvPr id="39" name="card_2"/>
          <p:cNvGrpSpPr/>
          <p:nvPr/>
        </p:nvGrpSpPr>
        <p:grpSpPr>
          <a:xfrm>
            <a:off x="1625600" y="2821940"/>
            <a:ext cx="13500735" cy="920115"/>
            <a:chOff x="1168400" y="4229100"/>
            <a:chExt cx="3793139" cy="2286000"/>
          </a:xfrm>
        </p:grpSpPr>
        <p:sp>
          <p:nvSpPr>
            <p:cNvPr id="41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0</a:t>
              </a:r>
              <a:r>
                <a:rPr lang="zh-CN" altLang="en-US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损耗</a:t>
              </a:r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信息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自动流转</a:t>
              </a:r>
              <a:endParaRPr lang="zh-CN" altLang="en-US" sz="20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8" name="card_2"/>
          <p:cNvGrpSpPr/>
          <p:nvPr/>
        </p:nvGrpSpPr>
        <p:grpSpPr>
          <a:xfrm>
            <a:off x="1625600" y="4048125"/>
            <a:ext cx="13500735" cy="920115"/>
            <a:chOff x="1168400" y="4229100"/>
            <a:chExt cx="3793139" cy="2286000"/>
          </a:xfrm>
        </p:grpSpPr>
        <p:sp>
          <p:nvSpPr>
            <p:cNvPr id="59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zh-CN" altLang="en-US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边际成本趋近于</a:t>
              </a:r>
              <a:r>
                <a:rPr lang="en-US" altLang="zh-CN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0</a:t>
              </a:r>
              <a:endParaRPr lang="en-US" altLang="zh-CN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成功跑通一次的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，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就可以低成本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复刻</a:t>
              </a:r>
              <a:endParaRPr lang="zh-CN" altLang="en-US" sz="20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74" name="card_2"/>
          <p:cNvGrpSpPr/>
          <p:nvPr/>
        </p:nvGrpSpPr>
        <p:grpSpPr>
          <a:xfrm>
            <a:off x="1625600" y="5325110"/>
            <a:ext cx="13500735" cy="920115"/>
            <a:chOff x="1168400" y="4229100"/>
            <a:chExt cx="3793139" cy="2286000"/>
          </a:xfrm>
        </p:grpSpPr>
        <p:sp>
          <p:nvSpPr>
            <p:cNvPr id="75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9B75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zh-CN" altLang="en-US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碳硅</a:t>
              </a:r>
              <a:r>
                <a:rPr lang="zh-CN" altLang="en-US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分流</a:t>
              </a:r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确定的事务性工作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，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交给确定性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硅基</a:t>
              </a:r>
              <a:endParaRPr lang="zh-CN" altLang="en-US" sz="20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79" name="card_2"/>
          <p:cNvGrpSpPr/>
          <p:nvPr/>
        </p:nvGrpSpPr>
        <p:grpSpPr>
          <a:xfrm>
            <a:off x="1625600" y="6568440"/>
            <a:ext cx="13500735" cy="920115"/>
            <a:chOff x="1168400" y="4229100"/>
            <a:chExt cx="3793139" cy="2286000"/>
          </a:xfrm>
        </p:grpSpPr>
        <p:sp>
          <p:nvSpPr>
            <p:cNvPr id="80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4C8D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zh-CN" altLang="en-US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体验至上</a:t>
              </a:r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有限的脑力投入到无限的“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创造”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上去</a:t>
              </a:r>
              <a:endParaRPr lang="zh-CN" altLang="en-US" sz="20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6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PART 2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06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0" y="9093200"/>
            <a:ext cx="5418667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card_14"/>
          <p:cNvGrpSpPr/>
          <p:nvPr/>
        </p:nvGrpSpPr>
        <p:grpSpPr>
          <a:xfrm>
            <a:off x="1168400" y="3111500"/>
            <a:ext cx="4487333" cy="2413000"/>
            <a:chOff x="1168400" y="3111500"/>
            <a:chExt cx="4487333" cy="2413000"/>
          </a:xfrm>
        </p:grpSpPr>
        <p:sp>
          <p:nvSpPr>
            <p:cNvPr id="44" name="矩形: 圆角 43"/>
            <p:cNvSpPr/>
            <p:nvPr/>
          </p:nvSpPr>
          <p:spPr>
            <a:xfrm>
              <a:off x="1168400" y="3111500"/>
              <a:ext cx="4487333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1168400" y="3111500"/>
              <a:ext cx="63500" cy="2413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498600" y="3390900"/>
              <a:ext cx="3928533" cy="584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38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提供目</a:t>
              </a:r>
              <a:r>
                <a:rPr lang="zh-CN" altLang="en-US" sz="38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标</a:t>
              </a:r>
              <a:endParaRPr lang="zh-CN" altLang="en-US" sz="38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498600" y="3937000"/>
              <a:ext cx="3928533" cy="26098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要解决什么问题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？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要实现什么体验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？</a:t>
              </a:r>
              <a:endParaRPr lang="en-US" altLang="zh-CN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3" name="card_15"/>
          <p:cNvGrpSpPr/>
          <p:nvPr/>
        </p:nvGrpSpPr>
        <p:grpSpPr>
          <a:xfrm>
            <a:off x="5884333" y="3111500"/>
            <a:ext cx="4487334" cy="2413000"/>
            <a:chOff x="5884333" y="3111500"/>
            <a:chExt cx="4487334" cy="2413000"/>
          </a:xfrm>
        </p:grpSpPr>
        <p:sp>
          <p:nvSpPr>
            <p:cNvPr id="49" name="矩形: 圆角 48"/>
            <p:cNvSpPr/>
            <p:nvPr/>
          </p:nvSpPr>
          <p:spPr>
            <a:xfrm>
              <a:off x="5884333" y="3111500"/>
              <a:ext cx="4487334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5884333" y="3111500"/>
              <a:ext cx="63500" cy="2413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6214533" y="3390900"/>
              <a:ext cx="3928533" cy="584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38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提供</a:t>
              </a:r>
              <a:r>
                <a:rPr lang="zh-CN" altLang="en-US" sz="38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标准</a:t>
              </a:r>
              <a:endParaRPr lang="zh-CN" altLang="en-US" sz="38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214533" y="3937000"/>
              <a:ext cx="3928533" cy="26098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怎么算做对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、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怎么算做好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？</a:t>
              </a:r>
              <a:endParaRPr lang="en-US" altLang="zh-CN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8" name="card_16"/>
          <p:cNvGrpSpPr/>
          <p:nvPr/>
        </p:nvGrpSpPr>
        <p:grpSpPr>
          <a:xfrm>
            <a:off x="10600267" y="3111500"/>
            <a:ext cx="4487333" cy="2413000"/>
            <a:chOff x="10600267" y="3111500"/>
            <a:chExt cx="4487333" cy="2413000"/>
          </a:xfrm>
        </p:grpSpPr>
        <p:sp>
          <p:nvSpPr>
            <p:cNvPr id="54" name="矩形: 圆角 53"/>
            <p:cNvSpPr/>
            <p:nvPr/>
          </p:nvSpPr>
          <p:spPr>
            <a:xfrm>
              <a:off x="10600267" y="3111500"/>
              <a:ext cx="4487333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10600267" y="3111500"/>
              <a:ext cx="63500" cy="2413000"/>
            </a:xfrm>
            <a:prstGeom prst="rect">
              <a:avLst/>
            </a:prstGeom>
            <a:solidFill>
              <a:srgbClr val="9B75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0930467" y="3390900"/>
              <a:ext cx="3928533" cy="58420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38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做</a:t>
              </a:r>
              <a:r>
                <a:rPr lang="zh-CN" altLang="en-US" sz="38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决策</a:t>
              </a:r>
              <a:endParaRPr lang="zh-CN" altLang="en-US" sz="38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0930467" y="3937000"/>
              <a:ext cx="3928533" cy="26098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什么值得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？</a:t>
              </a:r>
              <a:endParaRPr lang="en-US" altLang="zh-CN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62" name="quote_17"/>
          <p:cNvGrpSpPr/>
          <p:nvPr/>
        </p:nvGrpSpPr>
        <p:grpSpPr>
          <a:xfrm>
            <a:off x="914400" y="6959600"/>
            <a:ext cx="14427200" cy="889000"/>
            <a:chOff x="914400" y="6959600"/>
            <a:chExt cx="14427200" cy="889000"/>
          </a:xfrm>
        </p:grpSpPr>
        <p:sp>
          <p:nvSpPr>
            <p:cNvPr id="59" name="矩形: 圆角 58"/>
            <p:cNvSpPr/>
            <p:nvPr/>
          </p:nvSpPr>
          <p:spPr>
            <a:xfrm>
              <a:off x="914400" y="6959600"/>
              <a:ext cx="14427200" cy="889000"/>
            </a:xfrm>
            <a:prstGeom prst="roundRect">
              <a:avLst/>
            </a:prstGeom>
            <a:solidFill>
              <a:srgbClr val="20C7AE">
                <a:alpha val="12000"/>
              </a:srgbClr>
            </a:solidFill>
            <a:ln w="12700" cap="flat" cmpd="sng" algn="ctr">
              <a:solidFill>
                <a:srgbClr val="20C7AE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矩形 59"/>
            <p:cNvSpPr/>
            <p:nvPr/>
          </p:nvSpPr>
          <p:spPr>
            <a:xfrm>
              <a:off x="914400" y="6959600"/>
              <a:ext cx="76200" cy="889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1270000" y="7162800"/>
              <a:ext cx="13766800" cy="2768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人的价值</a:t>
              </a:r>
              <a:r>
                <a:rPr lang="en-US" altLang="zh-CN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r>
                <a:rPr lang="zh-CN" altLang="en-US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不是写出文档这个动作</a:t>
              </a:r>
              <a:r>
                <a:rPr lang="en-US" altLang="zh-CN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r>
                <a:rPr lang="zh-CN" altLang="en-US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而是“能把诉求讲清楚”这背后的</a:t>
              </a:r>
              <a:r>
                <a:rPr lang="zh-CN" altLang="en-US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思考</a:t>
              </a:r>
              <a:endParaRPr lang="zh-CN" altLang="en-US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63" name="文本框 62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p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新的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AI Native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团队里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，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“我”要到哪去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？</a:t>
            </a:r>
            <a:endParaRPr lang="en-US" altLang="zh-CN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6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PART 2</a:t>
            </a:r>
            <a:endParaRPr lang="en-US" altLang="zh-CN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06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0" y="9093200"/>
            <a:ext cx="5418667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card_14"/>
          <p:cNvGrpSpPr/>
          <p:nvPr/>
        </p:nvGrpSpPr>
        <p:grpSpPr>
          <a:xfrm>
            <a:off x="1168400" y="3111500"/>
            <a:ext cx="4487333" cy="2413000"/>
            <a:chOff x="1168400" y="3111500"/>
            <a:chExt cx="4487333" cy="2413000"/>
          </a:xfrm>
        </p:grpSpPr>
        <p:sp>
          <p:nvSpPr>
            <p:cNvPr id="44" name="矩形: 圆角 43"/>
            <p:cNvSpPr/>
            <p:nvPr/>
          </p:nvSpPr>
          <p:spPr>
            <a:xfrm>
              <a:off x="1168400" y="3111500"/>
              <a:ext cx="4487333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1168400" y="3111500"/>
              <a:ext cx="63500" cy="2413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498600" y="3390900"/>
              <a:ext cx="3928533" cy="58477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38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信息差</a:t>
              </a:r>
              <a:endParaRPr lang="zh-CN" altLang="en-US" sz="38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498600" y="3937000"/>
              <a:ext cx="3928533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不知道信息在哪、事实散在群聊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/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文档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/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私聊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/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系统里。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3" name="card_15"/>
          <p:cNvGrpSpPr/>
          <p:nvPr/>
        </p:nvGrpSpPr>
        <p:grpSpPr>
          <a:xfrm>
            <a:off x="5884333" y="3111500"/>
            <a:ext cx="4487334" cy="2413000"/>
            <a:chOff x="5884333" y="3111500"/>
            <a:chExt cx="4487334" cy="2413000"/>
          </a:xfrm>
        </p:grpSpPr>
        <p:sp>
          <p:nvSpPr>
            <p:cNvPr id="49" name="矩形: 圆角 48"/>
            <p:cNvSpPr/>
            <p:nvPr/>
          </p:nvSpPr>
          <p:spPr>
            <a:xfrm>
              <a:off x="5884333" y="3111500"/>
              <a:ext cx="4487334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5884333" y="3111500"/>
              <a:ext cx="63500" cy="2413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6214533" y="3390900"/>
              <a:ext cx="3928533" cy="58477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38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时间差</a:t>
              </a:r>
              <a:endParaRPr lang="zh-CN" altLang="en-US" sz="38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214533" y="3937000"/>
              <a:ext cx="3928533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等待确认、等待同步、等待转发，流程被人肉中继卡住。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8" name="card_16"/>
          <p:cNvGrpSpPr/>
          <p:nvPr/>
        </p:nvGrpSpPr>
        <p:grpSpPr>
          <a:xfrm>
            <a:off x="10600267" y="3111500"/>
            <a:ext cx="4487333" cy="2413000"/>
            <a:chOff x="10600267" y="3111500"/>
            <a:chExt cx="4487333" cy="2413000"/>
          </a:xfrm>
        </p:grpSpPr>
        <p:sp>
          <p:nvSpPr>
            <p:cNvPr id="54" name="矩形: 圆角 53"/>
            <p:cNvSpPr/>
            <p:nvPr/>
          </p:nvSpPr>
          <p:spPr>
            <a:xfrm>
              <a:off x="10600267" y="3111500"/>
              <a:ext cx="4487333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矩形 54"/>
            <p:cNvSpPr/>
            <p:nvPr/>
          </p:nvSpPr>
          <p:spPr>
            <a:xfrm>
              <a:off x="10600267" y="3111500"/>
              <a:ext cx="63500" cy="2413000"/>
            </a:xfrm>
            <a:prstGeom prst="rect">
              <a:avLst/>
            </a:prstGeom>
            <a:solidFill>
              <a:srgbClr val="9B75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0930467" y="3390900"/>
              <a:ext cx="3928533" cy="58477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38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流程摩擦</a:t>
              </a:r>
              <a:endParaRPr lang="zh-CN" altLang="en-US" sz="38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0930467" y="3937000"/>
              <a:ext cx="3928533" cy="2616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重复整理、格式不统一、同类风险反复漏。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sp>
        <p:nvSpPr>
          <p:cNvPr id="64" name="文本框 63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为啥现在我们做不到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？</a:t>
            </a:r>
            <a:endParaRPr lang="en-US" altLang="zh-CN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grpSp>
        <p:nvGrpSpPr>
          <p:cNvPr id="65" name="quote_17"/>
          <p:cNvGrpSpPr/>
          <p:nvPr/>
        </p:nvGrpSpPr>
        <p:grpSpPr>
          <a:xfrm>
            <a:off x="914400" y="6959600"/>
            <a:ext cx="14427200" cy="889000"/>
            <a:chOff x="914400" y="6959600"/>
            <a:chExt cx="14427200" cy="889000"/>
          </a:xfrm>
        </p:grpSpPr>
        <p:sp>
          <p:nvSpPr>
            <p:cNvPr id="66" name="矩形: 圆角 58"/>
            <p:cNvSpPr/>
            <p:nvPr/>
          </p:nvSpPr>
          <p:spPr>
            <a:xfrm>
              <a:off x="914400" y="6959600"/>
              <a:ext cx="14427200" cy="889000"/>
            </a:xfrm>
            <a:prstGeom prst="roundRect">
              <a:avLst/>
            </a:prstGeom>
            <a:solidFill>
              <a:srgbClr val="20C7AE">
                <a:alpha val="12000"/>
              </a:srgbClr>
            </a:solidFill>
            <a:ln w="12700" cap="flat" cmpd="sng" algn="ctr">
              <a:solidFill>
                <a:srgbClr val="20C7AE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67" name="矩形 66"/>
            <p:cNvSpPr/>
            <p:nvPr/>
          </p:nvSpPr>
          <p:spPr>
            <a:xfrm>
              <a:off x="914400" y="6959600"/>
              <a:ext cx="76200" cy="889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000"/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270000" y="7162800"/>
              <a:ext cx="13766800" cy="30734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zh-CN" altLang="en-US" sz="20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如果你觉得</a:t>
              </a:r>
              <a:r>
                <a:rPr lang="en-US" altLang="zh-CN" sz="20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AI</a:t>
              </a:r>
              <a:r>
                <a:rPr lang="zh-CN" altLang="en-US" sz="20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没有应用场景</a:t>
              </a:r>
              <a:r>
                <a:rPr lang="en-US" altLang="zh-CN" sz="20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，</a:t>
              </a:r>
              <a:r>
                <a:rPr lang="zh-CN" altLang="en-US" sz="20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多半是还没意识到你现在拥有了万能锤子</a:t>
              </a:r>
              <a:r>
                <a:rPr lang="en-US" altLang="zh-CN" sz="20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、</a:t>
              </a:r>
              <a:r>
                <a:rPr lang="zh-CN" altLang="en-US" sz="20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可以自己动手解决那些长期扎着你的钉子</a:t>
              </a:r>
              <a:r>
                <a:rPr lang="en-US" altLang="zh-CN" sz="20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。</a:t>
              </a:r>
              <a:endParaRPr lang="en-US" altLang="zh-CN" sz="2000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UE4</a:t>
            </a:r>
            <a:r>
              <a:rPr lang="zh-CN" altLang="en-US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的集卡卡面生产工艺的进化</a:t>
            </a:r>
            <a:r>
              <a:rPr lang="zh-CN" altLang="en-US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之路</a:t>
            </a:r>
            <a:endParaRPr lang="zh-CN" altLang="en-US" sz="3600" b="1">
              <a:solidFill>
                <a:srgbClr val="EFECE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03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0" y="9093200"/>
            <a:ext cx="2709333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931545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p>
            <a:r>
              <a:rPr lang="zh-CN" altLang="en-US" sz="1400">
                <a:solidFill>
                  <a:srgbClr val="D6AD61"/>
                </a:solidFill>
                <a:latin typeface="Consolas" panose="020B0609020204030204" pitchFamily="49" charset="0"/>
              </a:rPr>
              <a:t>案例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914400" y="1905000"/>
            <a:ext cx="12700000" cy="27686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“钉子”一直在</a:t>
            </a:r>
            <a:r>
              <a:rPr lang="en-US" altLang="zh-CN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每当有新锤子出现</a:t>
            </a:r>
            <a:r>
              <a:rPr lang="en-US" altLang="zh-CN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都忍不住拿来</a:t>
            </a:r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敲一敲</a:t>
            </a:r>
            <a:endParaRPr lang="zh-CN" altLang="en-US">
              <a:solidFill>
                <a:srgbClr val="A7ADB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7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Change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AI </a:t>
            </a:r>
            <a:r>
              <a:rPr lang="zh-CN" altLang="en-US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给当下带来的</a:t>
            </a:r>
            <a:r>
              <a:rPr lang="zh-CN" altLang="en-US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最大变化：降低“造工具”的门槛</a:t>
            </a:r>
            <a:endParaRPr lang="zh-CN" altLang="en-US" sz="3600" b="1">
              <a:solidFill>
                <a:srgbClr val="EFECE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07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6321778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quote_18"/>
          <p:cNvGrpSpPr/>
          <p:nvPr/>
        </p:nvGrpSpPr>
        <p:grpSpPr>
          <a:xfrm>
            <a:off x="1422400" y="3733800"/>
            <a:ext cx="13411200" cy="1143000"/>
            <a:chOff x="1422400" y="2870200"/>
            <a:chExt cx="13411200" cy="1143000"/>
          </a:xfrm>
        </p:grpSpPr>
        <p:sp>
          <p:nvSpPr>
            <p:cNvPr id="45" name="矩形: 圆角 44"/>
            <p:cNvSpPr/>
            <p:nvPr/>
          </p:nvSpPr>
          <p:spPr>
            <a:xfrm>
              <a:off x="1422400" y="2870200"/>
              <a:ext cx="13411200" cy="1143000"/>
            </a:xfrm>
            <a:prstGeom prst="roundRect">
              <a:avLst/>
            </a:prstGeom>
            <a:solidFill>
              <a:srgbClr val="D6AD61">
                <a:alpha val="12000"/>
              </a:srgbClr>
            </a:solidFill>
            <a:ln w="12700" cap="flat" cmpd="sng" algn="ctr">
              <a:solidFill>
                <a:srgbClr val="D6AD61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1422400" y="2870200"/>
              <a:ext cx="76200" cy="1143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778000" y="3073400"/>
              <a:ext cx="12750800" cy="38417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500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很多过去只能忍着的小痛点</a:t>
              </a:r>
              <a:r>
                <a:rPr lang="en-US" altLang="zh-CN" sz="2500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，</a:t>
              </a:r>
              <a:r>
                <a:rPr lang="zh-CN" altLang="en-US" sz="2500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是时候重新看待</a:t>
              </a:r>
              <a:r>
                <a:rPr lang="zh-CN" altLang="en-US" sz="2500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了</a:t>
              </a:r>
              <a:endParaRPr lang="zh-CN" altLang="en-US" sz="2500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49" name="文本框 48"/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它真正的意义是：让懂业务痛点的人，第一次可以直接参与制造工具</a:t>
            </a:r>
            <a:endParaRPr lang="zh-CN" altLang="en-US">
              <a:solidFill>
                <a:srgbClr val="A7ADB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3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Demo Options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现场可以演示的三个小案例</a:t>
            </a:r>
            <a:endParaRPr lang="zh-CN" altLang="en-US" sz="3600" b="1">
              <a:solidFill>
                <a:srgbClr val="EFECE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选一个真实案例跑，不要只讲概念</a:t>
            </a:r>
            <a:endParaRPr lang="zh-CN" altLang="en-US">
              <a:solidFill>
                <a:srgbClr val="A7ADB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13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11740445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card_37"/>
          <p:cNvGrpSpPr/>
          <p:nvPr/>
        </p:nvGrpSpPr>
        <p:grpSpPr>
          <a:xfrm>
            <a:off x="1168400" y="2857500"/>
            <a:ext cx="4487333" cy="2667000"/>
            <a:chOff x="1168400" y="2857500"/>
            <a:chExt cx="4487333" cy="2667000"/>
          </a:xfrm>
        </p:grpSpPr>
        <p:sp>
          <p:nvSpPr>
            <p:cNvPr id="45" name="矩形: 圆角 44"/>
            <p:cNvSpPr/>
            <p:nvPr/>
          </p:nvSpPr>
          <p:spPr>
            <a:xfrm>
              <a:off x="1168400" y="2857500"/>
              <a:ext cx="4487333" cy="266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1168400" y="2857500"/>
              <a:ext cx="63500" cy="2667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498600" y="3136900"/>
              <a:ext cx="3928533" cy="36893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4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TaskReminder</a:t>
              </a:r>
              <a:endParaRPr lang="en-US" altLang="zh-CN" sz="24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498600" y="3683000"/>
              <a:ext cx="3928533" cy="26098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一句话做出来的任务提醒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网页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4" name="card_38"/>
          <p:cNvGrpSpPr/>
          <p:nvPr/>
        </p:nvGrpSpPr>
        <p:grpSpPr>
          <a:xfrm>
            <a:off x="5884333" y="2857500"/>
            <a:ext cx="4487334" cy="2667000"/>
            <a:chOff x="5884333" y="2857500"/>
            <a:chExt cx="4487334" cy="2667000"/>
          </a:xfrm>
        </p:grpSpPr>
        <p:sp>
          <p:nvSpPr>
            <p:cNvPr id="50" name="矩形: 圆角 49"/>
            <p:cNvSpPr/>
            <p:nvPr/>
          </p:nvSpPr>
          <p:spPr>
            <a:xfrm>
              <a:off x="5884333" y="2857500"/>
              <a:ext cx="4487334" cy="266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5884333" y="2857500"/>
              <a:ext cx="63500" cy="2667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214533" y="3136900"/>
              <a:ext cx="3928533" cy="36893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4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PM-System</a:t>
              </a:r>
              <a:endParaRPr lang="en-US" altLang="zh-CN" sz="24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6214533" y="3683000"/>
              <a:ext cx="3928533" cy="26098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帮我设计的管线管理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系统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9" name="card_39"/>
          <p:cNvGrpSpPr/>
          <p:nvPr/>
        </p:nvGrpSpPr>
        <p:grpSpPr>
          <a:xfrm>
            <a:off x="10600267" y="2857500"/>
            <a:ext cx="4487333" cy="2667000"/>
            <a:chOff x="10600267" y="2857500"/>
            <a:chExt cx="4487333" cy="2667000"/>
          </a:xfrm>
        </p:grpSpPr>
        <p:sp>
          <p:nvSpPr>
            <p:cNvPr id="55" name="矩形: 圆角 54"/>
            <p:cNvSpPr/>
            <p:nvPr/>
          </p:nvSpPr>
          <p:spPr>
            <a:xfrm>
              <a:off x="10600267" y="2857500"/>
              <a:ext cx="4487333" cy="266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10600267" y="2857500"/>
              <a:ext cx="63500" cy="2667000"/>
            </a:xfrm>
            <a:prstGeom prst="rect">
              <a:avLst/>
            </a:prstGeom>
            <a:solidFill>
              <a:srgbClr val="9B75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0930467" y="3136900"/>
              <a:ext cx="3928533" cy="36893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制作人</a:t>
              </a:r>
              <a:r>
                <a:rPr lang="zh-CN" altLang="en-US" sz="24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中控台</a:t>
              </a:r>
              <a:endParaRPr lang="zh-CN" altLang="en-US" sz="24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0930467" y="3683000"/>
              <a:ext cx="3928533" cy="26098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多系统整合的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信息汇总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63" name="quote_40"/>
          <p:cNvGrpSpPr/>
          <p:nvPr/>
        </p:nvGrpSpPr>
        <p:grpSpPr>
          <a:xfrm>
            <a:off x="914400" y="7670800"/>
            <a:ext cx="14427200" cy="889000"/>
            <a:chOff x="914400" y="7670800"/>
            <a:chExt cx="14427200" cy="889000"/>
          </a:xfrm>
        </p:grpSpPr>
        <p:sp>
          <p:nvSpPr>
            <p:cNvPr id="60" name="矩形: 圆角 59"/>
            <p:cNvSpPr/>
            <p:nvPr/>
          </p:nvSpPr>
          <p:spPr>
            <a:xfrm>
              <a:off x="914400" y="7670800"/>
              <a:ext cx="14427200" cy="889000"/>
            </a:xfrm>
            <a:prstGeom prst="roundRect">
              <a:avLst/>
            </a:prstGeom>
            <a:solidFill>
              <a:srgbClr val="20C7AE">
                <a:alpha val="12000"/>
              </a:srgbClr>
            </a:solidFill>
            <a:ln w="12700" cap="flat" cmpd="sng" algn="ctr">
              <a:solidFill>
                <a:srgbClr val="20C7AE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914400" y="7670800"/>
              <a:ext cx="76200" cy="889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270000" y="7874000"/>
              <a:ext cx="137668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演示重点：展示“痛点 → </a:t>
              </a:r>
              <a:r>
                <a:rPr lang="en-US" altLang="zh-CN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AI </a:t>
              </a:r>
              <a:r>
                <a:rPr lang="zh-CN" altLang="en-US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追问 → 流程化 → 可复用产物”，而不是展示某个工具多神。</a:t>
              </a:r>
              <a:endParaRPr lang="zh-CN" altLang="en-US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8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Checklist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产品岗最常见的低效痛点</a:t>
            </a:r>
            <a:endParaRPr lang="zh-CN" altLang="en-US" sz="3600" b="1">
              <a:solidFill>
                <a:srgbClr val="EFECE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现场可以让听众对照：哪颗钉子正在扎着我？</a:t>
            </a:r>
            <a:endParaRPr lang="zh-CN" altLang="en-US">
              <a:solidFill>
                <a:srgbClr val="A7ADB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08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7224889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list_19"/>
          <p:cNvGrpSpPr/>
          <p:nvPr/>
        </p:nvGrpSpPr>
        <p:grpSpPr>
          <a:xfrm>
            <a:off x="1168400" y="2921000"/>
            <a:ext cx="6819900" cy="3937000"/>
            <a:chOff x="1168400" y="2921000"/>
            <a:chExt cx="6819900" cy="3937000"/>
          </a:xfrm>
        </p:grpSpPr>
        <p:sp>
          <p:nvSpPr>
            <p:cNvPr id="45" name="矩形: 圆角 44"/>
            <p:cNvSpPr/>
            <p:nvPr/>
          </p:nvSpPr>
          <p:spPr>
            <a:xfrm>
              <a:off x="1168400" y="2921000"/>
              <a:ext cx="6819900" cy="393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D6AD61">
                  <a:alpha val="6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1168400" y="2921000"/>
              <a:ext cx="63500" cy="3937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524000" y="3200400"/>
              <a:ext cx="6134100" cy="123110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每周重复整理数据、周报、日报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会议纪要没人转成行动项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需求文档格式总是不统一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评审问题反复漏同类风险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用户反馈散在群聊、表格、文档里</a:t>
              </a:r>
              <a:endParaRPr lang="zh-CN" altLang="en-US" sz="16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2" name="list_20"/>
          <p:cNvGrpSpPr/>
          <p:nvPr/>
        </p:nvGrpSpPr>
        <p:grpSpPr>
          <a:xfrm>
            <a:off x="8267700" y="2921000"/>
            <a:ext cx="6819900" cy="3937000"/>
            <a:chOff x="8267700" y="2921000"/>
            <a:chExt cx="6819900" cy="3937000"/>
          </a:xfrm>
        </p:grpSpPr>
        <p:sp>
          <p:nvSpPr>
            <p:cNvPr id="49" name="矩形: 圆角 48"/>
            <p:cNvSpPr/>
            <p:nvPr/>
          </p:nvSpPr>
          <p:spPr>
            <a:xfrm>
              <a:off x="8267700" y="2921000"/>
              <a:ext cx="6819900" cy="393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0C7AE">
                  <a:alpha val="6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8267700" y="2921000"/>
              <a:ext cx="63500" cy="3937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8623300" y="3200400"/>
              <a:ext cx="6134100" cy="123110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竞品资料难沉淀成可复用结构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流程靠人提醒，没人提醒就断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信息靠私聊传递，换个人就断档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新人不知道去哪找标准、模板、案例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每次从零问、从零写、从零整理</a:t>
              </a:r>
              <a:endParaRPr lang="zh-CN" altLang="en-US" sz="16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1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Vibe Coding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拥抱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AI，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从给自己做个工具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开始</a:t>
            </a:r>
            <a:endParaRPr lang="zh-CN" altLang="en-US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它真正的意义是：让懂业务痛点的人，第一次可以直接参与制造工具</a:t>
            </a:r>
            <a:endParaRPr lang="zh-CN" altLang="en-US">
              <a:solidFill>
                <a:srgbClr val="A7ADB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11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9934222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quote_30"/>
          <p:cNvGrpSpPr/>
          <p:nvPr/>
        </p:nvGrpSpPr>
        <p:grpSpPr>
          <a:xfrm>
            <a:off x="1422400" y="3888105"/>
            <a:ext cx="13411200" cy="1143000"/>
            <a:chOff x="1422400" y="2870200"/>
            <a:chExt cx="13411200" cy="1143000"/>
          </a:xfrm>
        </p:grpSpPr>
        <p:sp>
          <p:nvSpPr>
            <p:cNvPr id="45" name="矩形: 圆角 44"/>
            <p:cNvSpPr/>
            <p:nvPr/>
          </p:nvSpPr>
          <p:spPr>
            <a:xfrm>
              <a:off x="1422400" y="2870200"/>
              <a:ext cx="13411200" cy="1143000"/>
            </a:xfrm>
            <a:prstGeom prst="roundRect">
              <a:avLst/>
            </a:prstGeom>
            <a:solidFill>
              <a:srgbClr val="D6AD61">
                <a:alpha val="12000"/>
              </a:srgbClr>
            </a:solidFill>
            <a:ln w="12700" cap="flat" cmpd="sng" algn="ctr">
              <a:solidFill>
                <a:srgbClr val="D6AD61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1422400" y="2870200"/>
              <a:ext cx="76200" cy="1143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778000" y="3073400"/>
              <a:ext cx="12750800" cy="3847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5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Vibe Coding </a:t>
              </a:r>
              <a:r>
                <a:rPr lang="zh-CN" altLang="en-US" sz="25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不是让产品变程序员，而是让最懂钉子的人，也能参与造锤子。</a:t>
              </a:r>
              <a:endParaRPr lang="zh-CN" altLang="en-US" sz="2500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Method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从痛点到工具的六步</a:t>
            </a:r>
            <a:endParaRPr lang="zh-CN" altLang="en-US" sz="3600" b="1">
              <a:solidFill>
                <a:srgbClr val="EFECE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不要直接让 </a:t>
            </a:r>
            <a:r>
              <a:rPr lang="en-US" altLang="zh-CN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 </a:t>
            </a:r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写方案，先让它补齐缺失信息</a:t>
            </a:r>
            <a:endParaRPr lang="zh-CN" altLang="en-US">
              <a:solidFill>
                <a:srgbClr val="A7ADB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12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10837333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step_1"/>
          <p:cNvGrpSpPr/>
          <p:nvPr/>
        </p:nvGrpSpPr>
        <p:grpSpPr>
          <a:xfrm>
            <a:off x="1168400" y="3238500"/>
            <a:ext cx="2214033" cy="2413000"/>
            <a:chOff x="1168400" y="3238500"/>
            <a:chExt cx="2214033" cy="2413000"/>
          </a:xfrm>
        </p:grpSpPr>
        <p:sp>
          <p:nvSpPr>
            <p:cNvPr id="45" name="矩形: 圆角 44"/>
            <p:cNvSpPr/>
            <p:nvPr/>
          </p:nvSpPr>
          <p:spPr>
            <a:xfrm>
              <a:off x="1168400" y="3238500"/>
              <a:ext cx="2214033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397000" y="3467100"/>
              <a:ext cx="457200" cy="457200"/>
            </a:xfrm>
            <a:prstGeom prst="ellipse">
              <a:avLst/>
            </a:prstGeom>
            <a:noFill/>
            <a:ln w="15240" cap="flat" cmpd="sng" algn="ctr">
              <a:solidFill>
                <a:srgbClr val="D6AD6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397000" y="3543300"/>
              <a:ext cx="457200" cy="200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en-US" altLang="zh-CN" sz="1300" b="1">
                  <a:solidFill>
                    <a:srgbClr val="D6AD61"/>
                  </a:solidFill>
                  <a:latin typeface="Consolas" panose="020B0609020204030204" pitchFamily="49" charset="0"/>
                </a:rPr>
                <a:t>1</a:t>
              </a:r>
              <a:endParaRPr lang="zh-CN" altLang="en-US" sz="1300" b="1">
                <a:solidFill>
                  <a:srgbClr val="D6AD6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397000" y="4102100"/>
              <a:ext cx="1807633" cy="29238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9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找钉子</a:t>
              </a:r>
              <a:endParaRPr lang="zh-CN" altLang="en-US" sz="19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397000" y="4559300"/>
              <a:ext cx="1833033" cy="4001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3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哪件事反复痛、每周重复、靠人肉同步？</a:t>
              </a:r>
              <a:endParaRPr lang="zh-CN" altLang="en-US" sz="13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6" name="step_2"/>
          <p:cNvGrpSpPr/>
          <p:nvPr/>
        </p:nvGrpSpPr>
        <p:grpSpPr>
          <a:xfrm>
            <a:off x="3509433" y="3238500"/>
            <a:ext cx="2214034" cy="2413000"/>
            <a:chOff x="3509433" y="3238500"/>
            <a:chExt cx="2214034" cy="2413000"/>
          </a:xfrm>
        </p:grpSpPr>
        <p:sp>
          <p:nvSpPr>
            <p:cNvPr id="51" name="矩形: 圆角 50"/>
            <p:cNvSpPr/>
            <p:nvPr/>
          </p:nvSpPr>
          <p:spPr>
            <a:xfrm>
              <a:off x="3509433" y="3238500"/>
              <a:ext cx="2214034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3738033" y="3467100"/>
              <a:ext cx="457200" cy="457200"/>
            </a:xfrm>
            <a:prstGeom prst="ellipse">
              <a:avLst/>
            </a:prstGeom>
            <a:noFill/>
            <a:ln w="15240" cap="flat" cmpd="sng" algn="ctr">
              <a:solidFill>
                <a:srgbClr val="D6AD6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3738033" y="3543300"/>
              <a:ext cx="457200" cy="200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en-US" altLang="zh-CN" sz="1300" b="1">
                  <a:solidFill>
                    <a:srgbClr val="D6AD61"/>
                  </a:solidFill>
                  <a:latin typeface="Consolas" panose="020B0609020204030204" pitchFamily="49" charset="0"/>
                </a:rPr>
                <a:t>2</a:t>
              </a:r>
              <a:endParaRPr lang="zh-CN" altLang="en-US" sz="1300" b="1">
                <a:solidFill>
                  <a:srgbClr val="D6AD6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3738033" y="4102100"/>
              <a:ext cx="1807633" cy="29238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9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讲痛点</a:t>
              </a:r>
              <a:endParaRPr lang="zh-CN" altLang="en-US" sz="19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3738033" y="4559300"/>
              <a:ext cx="1833033" cy="4001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3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谁在何时遇到什么问题？错了会怎样？</a:t>
              </a:r>
              <a:endParaRPr lang="zh-CN" altLang="en-US" sz="13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62" name="step_3"/>
          <p:cNvGrpSpPr/>
          <p:nvPr/>
        </p:nvGrpSpPr>
        <p:grpSpPr>
          <a:xfrm>
            <a:off x="5850467" y="3238500"/>
            <a:ext cx="2214033" cy="2413000"/>
            <a:chOff x="5850467" y="3238500"/>
            <a:chExt cx="2214033" cy="2413000"/>
          </a:xfrm>
        </p:grpSpPr>
        <p:sp>
          <p:nvSpPr>
            <p:cNvPr id="57" name="矩形: 圆角 56"/>
            <p:cNvSpPr/>
            <p:nvPr/>
          </p:nvSpPr>
          <p:spPr>
            <a:xfrm>
              <a:off x="5850467" y="3238500"/>
              <a:ext cx="2214033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6079067" y="3467100"/>
              <a:ext cx="457199" cy="457200"/>
            </a:xfrm>
            <a:prstGeom prst="ellipse">
              <a:avLst/>
            </a:prstGeom>
            <a:noFill/>
            <a:ln w="15240" cap="flat" cmpd="sng" algn="ctr">
              <a:solidFill>
                <a:srgbClr val="D6AD6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6079067" y="3543300"/>
              <a:ext cx="457200" cy="200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en-US" altLang="zh-CN" sz="1300" b="1">
                  <a:solidFill>
                    <a:srgbClr val="D6AD61"/>
                  </a:solidFill>
                  <a:latin typeface="Consolas" panose="020B0609020204030204" pitchFamily="49" charset="0"/>
                </a:rPr>
                <a:t>3</a:t>
              </a:r>
              <a:endParaRPr lang="zh-CN" altLang="en-US" sz="1300" b="1">
                <a:solidFill>
                  <a:srgbClr val="D6AD6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6079067" y="4102100"/>
              <a:ext cx="1807633" cy="29238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9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让 </a:t>
              </a:r>
              <a:r>
                <a:rPr lang="en-US" altLang="zh-CN" sz="19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AI </a:t>
              </a:r>
              <a:r>
                <a:rPr lang="zh-CN" altLang="en-US" sz="19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追问</a:t>
              </a:r>
              <a:endParaRPr lang="zh-CN" altLang="en-US" sz="19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6079067" y="4559300"/>
              <a:ext cx="1833033" cy="4001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3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先补上下文，不急着写代码或方案。</a:t>
              </a:r>
              <a:endParaRPr lang="zh-CN" altLang="en-US" sz="13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68" name="step_4"/>
          <p:cNvGrpSpPr/>
          <p:nvPr/>
        </p:nvGrpSpPr>
        <p:grpSpPr>
          <a:xfrm>
            <a:off x="8191500" y="3238500"/>
            <a:ext cx="2214033" cy="2413000"/>
            <a:chOff x="8191500" y="3238500"/>
            <a:chExt cx="2214033" cy="2413000"/>
          </a:xfrm>
        </p:grpSpPr>
        <p:sp>
          <p:nvSpPr>
            <p:cNvPr id="63" name="矩形: 圆角 62"/>
            <p:cNvSpPr/>
            <p:nvPr/>
          </p:nvSpPr>
          <p:spPr>
            <a:xfrm>
              <a:off x="8191500" y="3238500"/>
              <a:ext cx="2214033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8420100" y="3467100"/>
              <a:ext cx="457200" cy="457200"/>
            </a:xfrm>
            <a:prstGeom prst="ellipse">
              <a:avLst/>
            </a:prstGeom>
            <a:noFill/>
            <a:ln w="15240" cap="flat" cmpd="sng" algn="ctr">
              <a:solidFill>
                <a:srgbClr val="D6AD6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8420100" y="3543300"/>
              <a:ext cx="457200" cy="200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en-US" altLang="zh-CN" sz="1300" b="1">
                  <a:solidFill>
                    <a:srgbClr val="D6AD61"/>
                  </a:solidFill>
                  <a:latin typeface="Consolas" panose="020B0609020204030204" pitchFamily="49" charset="0"/>
                </a:rPr>
                <a:t>4</a:t>
              </a:r>
              <a:endParaRPr lang="zh-CN" altLang="en-US" sz="1300" b="1">
                <a:solidFill>
                  <a:srgbClr val="D6AD6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66" name="文本框 65"/>
            <p:cNvSpPr txBox="1"/>
            <p:nvPr/>
          </p:nvSpPr>
          <p:spPr>
            <a:xfrm>
              <a:off x="8420100" y="4102100"/>
              <a:ext cx="1807633" cy="29238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9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形成流程</a:t>
              </a:r>
              <a:endParaRPr lang="zh-CN" altLang="en-US" sz="19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8420100" y="4559300"/>
              <a:ext cx="1833033" cy="4001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3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哪些步骤规则化？哪些判断必须人做？</a:t>
              </a:r>
              <a:endParaRPr lang="zh-CN" altLang="en-US" sz="13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74" name="step_5"/>
          <p:cNvGrpSpPr/>
          <p:nvPr/>
        </p:nvGrpSpPr>
        <p:grpSpPr>
          <a:xfrm>
            <a:off x="10532533" y="3238500"/>
            <a:ext cx="2214033" cy="2413000"/>
            <a:chOff x="10532533" y="3238500"/>
            <a:chExt cx="2214033" cy="2413000"/>
          </a:xfrm>
        </p:grpSpPr>
        <p:sp>
          <p:nvSpPr>
            <p:cNvPr id="69" name="矩形: 圆角 68"/>
            <p:cNvSpPr/>
            <p:nvPr/>
          </p:nvSpPr>
          <p:spPr>
            <a:xfrm>
              <a:off x="10532533" y="3238500"/>
              <a:ext cx="2214033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0761133" y="3467100"/>
              <a:ext cx="457200" cy="457200"/>
            </a:xfrm>
            <a:prstGeom prst="ellipse">
              <a:avLst/>
            </a:prstGeom>
            <a:noFill/>
            <a:ln w="15240" cap="flat" cmpd="sng" algn="ctr">
              <a:solidFill>
                <a:srgbClr val="D6AD6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10761133" y="3543300"/>
              <a:ext cx="457200" cy="200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en-US" altLang="zh-CN" sz="1300" b="1">
                  <a:solidFill>
                    <a:srgbClr val="D6AD61"/>
                  </a:solidFill>
                  <a:latin typeface="Consolas" panose="020B0609020204030204" pitchFamily="49" charset="0"/>
                </a:rPr>
                <a:t>5</a:t>
              </a:r>
              <a:endParaRPr lang="zh-CN" altLang="en-US" sz="1300" b="1">
                <a:solidFill>
                  <a:srgbClr val="D6AD6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10761133" y="4102100"/>
              <a:ext cx="1807633" cy="29238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9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做成工具</a:t>
              </a:r>
              <a:endParaRPr lang="zh-CN" altLang="en-US" sz="19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0761133" y="4559300"/>
              <a:ext cx="1833033" cy="4001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3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提示词、</a:t>
              </a:r>
              <a:r>
                <a:rPr lang="en-US" altLang="zh-CN" sz="13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Checklist</a:t>
              </a:r>
              <a:r>
                <a:rPr lang="zh-CN" altLang="en-US" sz="13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、表格、小网页、脚本。</a:t>
              </a:r>
              <a:endParaRPr lang="zh-CN" altLang="en-US" sz="13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80" name="step_6"/>
          <p:cNvGrpSpPr/>
          <p:nvPr/>
        </p:nvGrpSpPr>
        <p:grpSpPr>
          <a:xfrm>
            <a:off x="12873567" y="3238500"/>
            <a:ext cx="2214033" cy="2413000"/>
            <a:chOff x="12873567" y="3238500"/>
            <a:chExt cx="2214033" cy="2413000"/>
          </a:xfrm>
        </p:grpSpPr>
        <p:sp>
          <p:nvSpPr>
            <p:cNvPr id="75" name="矩形: 圆角 74"/>
            <p:cNvSpPr/>
            <p:nvPr/>
          </p:nvSpPr>
          <p:spPr>
            <a:xfrm>
              <a:off x="12873567" y="3238500"/>
              <a:ext cx="2214033" cy="2413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>
              <a:solidFill>
                <a:srgbClr val="2B34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/>
            <p:cNvSpPr/>
            <p:nvPr/>
          </p:nvSpPr>
          <p:spPr>
            <a:xfrm>
              <a:off x="13102166" y="3467100"/>
              <a:ext cx="457200" cy="457200"/>
            </a:xfrm>
            <a:prstGeom prst="ellipse">
              <a:avLst/>
            </a:prstGeom>
            <a:noFill/>
            <a:ln w="15240" cap="flat" cmpd="sng" algn="ctr">
              <a:solidFill>
                <a:srgbClr val="D6AD61"/>
              </a:solidFill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3102166" y="3543300"/>
              <a:ext cx="457200" cy="20005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pPr algn="ctr"/>
              <a:r>
                <a:rPr lang="en-US" altLang="zh-CN" sz="1300" b="1">
                  <a:solidFill>
                    <a:srgbClr val="D6AD61"/>
                  </a:solidFill>
                  <a:latin typeface="Consolas" panose="020B0609020204030204" pitchFamily="49" charset="0"/>
                </a:rPr>
                <a:t>6</a:t>
              </a:r>
              <a:endParaRPr lang="zh-CN" altLang="en-US" sz="1300" b="1">
                <a:solidFill>
                  <a:srgbClr val="D6AD6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13102166" y="4102100"/>
              <a:ext cx="1807633" cy="29238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9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复用迭代</a:t>
              </a:r>
              <a:endParaRPr lang="zh-CN" altLang="en-US" sz="19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13102166" y="4559300"/>
              <a:ext cx="1833033" cy="4001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3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跑一次不算提效，下次复用才是提效。</a:t>
              </a:r>
              <a:endParaRPr lang="zh-CN" altLang="en-US" sz="13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PART 3</a:t>
            </a:r>
            <a:endParaRPr lang="en-US" altLang="zh-CN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AI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发展太快了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，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不如再等等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？</a:t>
            </a:r>
            <a:endParaRPr lang="en-US" altLang="zh-CN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02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1806222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4" name="card_2"/>
          <p:cNvGrpSpPr/>
          <p:nvPr/>
        </p:nvGrpSpPr>
        <p:grpSpPr>
          <a:xfrm>
            <a:off x="1625600" y="2821940"/>
            <a:ext cx="13500735" cy="920115"/>
            <a:chOff x="1168400" y="4229100"/>
            <a:chExt cx="3793139" cy="2286000"/>
          </a:xfrm>
        </p:grpSpPr>
        <p:sp>
          <p:nvSpPr>
            <p:cNvPr id="49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chemeClr val="bg2">
                <a:lumMod val="10000"/>
                <a:alpha val="93000"/>
              </a:scheme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100" b="1">
                  <a:solidFill>
                    <a:schemeClr val="bg2">
                      <a:lumMod val="25000"/>
                    </a:schemeClr>
                  </a:solidFill>
                  <a:latin typeface="宋体" pitchFamily="2" charset="-122"/>
                  <a:ea typeface="宋体" pitchFamily="2" charset="-122"/>
                </a:rPr>
                <a:t>Question 01</a:t>
              </a:r>
              <a:endParaRPr lang="en-US" altLang="zh-CN" sz="2100" b="1">
                <a:solidFill>
                  <a:schemeClr val="bg2">
                    <a:lumMod val="25000"/>
                  </a:schemeClr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为什么很多人觉得 </a:t>
              </a:r>
              <a:r>
                <a:rPr lang="en-US" altLang="zh-CN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 </a:t>
              </a:r>
              <a:r>
                <a:rPr lang="zh-CN" altLang="en-US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不好用？</a:t>
              </a:r>
              <a:endParaRPr lang="zh-CN" altLang="en-US" sz="2000">
                <a:solidFill>
                  <a:schemeClr val="bg2">
                    <a:lumMod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45" name="card_2"/>
          <p:cNvGrpSpPr/>
          <p:nvPr/>
        </p:nvGrpSpPr>
        <p:grpSpPr>
          <a:xfrm>
            <a:off x="1625600" y="4048125"/>
            <a:ext cx="13500735" cy="920115"/>
            <a:chOff x="1168400" y="4229100"/>
            <a:chExt cx="3793139" cy="2286000"/>
          </a:xfrm>
        </p:grpSpPr>
        <p:sp>
          <p:nvSpPr>
            <p:cNvPr id="46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chemeClr val="bg2">
                <a:lumMod val="10000"/>
                <a:alpha val="93000"/>
              </a:scheme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3E8D26">
                <a:alpha val="73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100" b="1">
                  <a:solidFill>
                    <a:schemeClr val="bg2">
                      <a:lumMod val="25000"/>
                    </a:schemeClr>
                  </a:solidFill>
                  <a:latin typeface="宋体" pitchFamily="2" charset="-122"/>
                  <a:ea typeface="宋体" pitchFamily="2" charset="-122"/>
                </a:rPr>
                <a:t>Question 02</a:t>
              </a:r>
              <a:endParaRPr lang="en-US" altLang="zh-CN" sz="2100" b="1">
                <a:solidFill>
                  <a:schemeClr val="bg2">
                    <a:lumMod val="25000"/>
                  </a:schemeClr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</a:t>
              </a:r>
              <a:r>
                <a:rPr lang="zh-CN" altLang="en-US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都做了</a:t>
              </a:r>
              <a:r>
                <a:rPr lang="en-US" altLang="zh-CN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、</a:t>
              </a:r>
              <a:r>
                <a:rPr lang="zh-CN" altLang="en-US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我做啥</a:t>
              </a:r>
              <a:r>
                <a:rPr lang="en-US" altLang="zh-CN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？</a:t>
              </a:r>
              <a:endParaRPr lang="en-US" altLang="zh-CN" sz="2000">
                <a:solidFill>
                  <a:schemeClr val="bg2">
                    <a:lumMod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74" name="card_2"/>
          <p:cNvGrpSpPr/>
          <p:nvPr/>
        </p:nvGrpSpPr>
        <p:grpSpPr>
          <a:xfrm>
            <a:off x="1625600" y="5325110"/>
            <a:ext cx="13500735" cy="920115"/>
            <a:chOff x="1168400" y="4229100"/>
            <a:chExt cx="3793139" cy="2286000"/>
          </a:xfrm>
        </p:grpSpPr>
        <p:sp>
          <p:nvSpPr>
            <p:cNvPr id="75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9B75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Question 03</a:t>
              </a:r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发展太快了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，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根本跟不上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，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不如等个终极版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？</a:t>
              </a:r>
              <a:endParaRPr lang="en-US" altLang="zh-CN" sz="20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79" name="card_2"/>
          <p:cNvGrpSpPr/>
          <p:nvPr/>
        </p:nvGrpSpPr>
        <p:grpSpPr>
          <a:xfrm>
            <a:off x="1625600" y="6568440"/>
            <a:ext cx="13500735" cy="920115"/>
            <a:chOff x="1168400" y="4229100"/>
            <a:chExt cx="3793139" cy="2286000"/>
          </a:xfrm>
        </p:grpSpPr>
        <p:sp>
          <p:nvSpPr>
            <p:cNvPr id="80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4C8D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Question 04</a:t>
              </a:r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用上了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，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但也完全没觉得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变轻松</a:t>
              </a:r>
              <a:endParaRPr lang="zh-CN" altLang="en-US" sz="20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PART 3</a:t>
            </a:r>
            <a:endParaRPr lang="en-US" altLang="zh-CN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未来的最小生产单元是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“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人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 + AI”</a:t>
            </a:r>
            <a:endParaRPr lang="en-US" altLang="zh-CN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02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1806222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2036445" y="2581910"/>
            <a:ext cx="11679555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2800">
                <a:solidFill>
                  <a:schemeClr val="bg1"/>
                </a:solidFill>
                <a:sym typeface="+mn-ea"/>
              </a:rPr>
              <a:t>1. AI </a:t>
            </a:r>
            <a:r>
              <a:rPr lang="zh-CN" altLang="en-US" sz="2800">
                <a:solidFill>
                  <a:schemeClr val="bg1"/>
                </a:solidFill>
                <a:sym typeface="+mn-ea"/>
              </a:rPr>
              <a:t>不会平均提升所有人，它会放大人的自驱力和思考差异。</a:t>
            </a:r>
            <a:endParaRPr lang="zh-CN" altLang="en-US" sz="2800">
              <a:solidFill>
                <a:schemeClr val="bg1"/>
              </a:solidFill>
            </a:endParaRPr>
          </a:p>
          <a:p>
            <a:pPr algn="l"/>
            <a:r>
              <a:rPr lang="en-US" altLang="zh-CN" sz="2800">
                <a:solidFill>
                  <a:schemeClr val="bg1"/>
                </a:solidFill>
                <a:sym typeface="+mn-ea"/>
              </a:rPr>
              <a:t>2. </a:t>
            </a:r>
            <a:r>
              <a:rPr lang="zh-CN" altLang="en-US" sz="2800">
                <a:solidFill>
                  <a:schemeClr val="bg1"/>
                </a:solidFill>
                <a:sym typeface="+mn-ea"/>
              </a:rPr>
              <a:t>未来要回答的问题不是</a:t>
            </a:r>
            <a:r>
              <a:rPr lang="en-US" altLang="zh-CN" sz="2800">
                <a:solidFill>
                  <a:schemeClr val="bg1"/>
                </a:solidFill>
                <a:sym typeface="+mn-ea"/>
              </a:rPr>
              <a:t>“AI </a:t>
            </a:r>
            <a:r>
              <a:rPr lang="zh-CN" altLang="en-US" sz="2800">
                <a:solidFill>
                  <a:schemeClr val="bg1"/>
                </a:solidFill>
                <a:sym typeface="+mn-ea"/>
              </a:rPr>
              <a:t>会不会替代我</a:t>
            </a:r>
            <a:r>
              <a:rPr lang="en-US" altLang="zh-CN" sz="2800">
                <a:solidFill>
                  <a:schemeClr val="bg1"/>
                </a:solidFill>
                <a:sym typeface="+mn-ea"/>
              </a:rPr>
              <a:t>”</a:t>
            </a:r>
            <a:r>
              <a:rPr lang="zh-CN" altLang="en-US" sz="2800">
                <a:solidFill>
                  <a:schemeClr val="bg1"/>
                </a:solidFill>
                <a:sym typeface="+mn-ea"/>
              </a:rPr>
              <a:t>，而是</a:t>
            </a:r>
            <a:r>
              <a:rPr lang="en-US" altLang="zh-CN" sz="2800">
                <a:solidFill>
                  <a:schemeClr val="bg1"/>
                </a:solidFill>
                <a:sym typeface="+mn-ea"/>
              </a:rPr>
              <a:t>“</a:t>
            </a:r>
            <a:r>
              <a:rPr lang="zh-CN" altLang="en-US" sz="2800">
                <a:solidFill>
                  <a:schemeClr val="bg1"/>
                </a:solidFill>
                <a:sym typeface="+mn-ea"/>
              </a:rPr>
              <a:t>有我</a:t>
            </a:r>
            <a:r>
              <a:rPr lang="en-US" altLang="zh-CN" sz="2800">
                <a:solidFill>
                  <a:schemeClr val="bg1"/>
                </a:solidFill>
                <a:sym typeface="+mn-ea"/>
              </a:rPr>
              <a:t> + AI</a:t>
            </a:r>
            <a:r>
              <a:rPr lang="zh-CN" altLang="en-US" sz="2800">
                <a:solidFill>
                  <a:schemeClr val="bg1"/>
                </a:solidFill>
                <a:sym typeface="+mn-ea"/>
              </a:rPr>
              <a:t>，为什么比只有</a:t>
            </a:r>
            <a:r>
              <a:rPr lang="en-US" altLang="zh-CN" sz="2800">
                <a:solidFill>
                  <a:schemeClr val="bg1"/>
                </a:solidFill>
                <a:sym typeface="+mn-ea"/>
              </a:rPr>
              <a:t> AI </a:t>
            </a:r>
            <a:r>
              <a:rPr lang="zh-CN" altLang="en-US" sz="2800">
                <a:solidFill>
                  <a:schemeClr val="bg1"/>
                </a:solidFill>
                <a:sym typeface="+mn-ea"/>
              </a:rPr>
              <a:t>更好</a:t>
            </a:r>
            <a:r>
              <a:rPr lang="en-US" altLang="zh-CN" sz="2800">
                <a:solidFill>
                  <a:schemeClr val="bg1"/>
                </a:solidFill>
                <a:sym typeface="+mn-ea"/>
              </a:rPr>
              <a:t>”</a:t>
            </a:r>
            <a:r>
              <a:rPr lang="zh-CN" altLang="en-US" sz="2800">
                <a:solidFill>
                  <a:schemeClr val="bg1"/>
                </a:solidFill>
                <a:sym typeface="+mn-ea"/>
              </a:rPr>
              <a:t>。</a:t>
            </a:r>
            <a:endParaRPr lang="zh-CN" altLang="en-US" sz="2800">
              <a:solidFill>
                <a:schemeClr val="bg1"/>
              </a:solidFill>
            </a:endParaRPr>
          </a:p>
          <a:p>
            <a:pPr algn="l"/>
            <a:r>
              <a:rPr lang="en-US" altLang="zh-CN" sz="2800">
                <a:solidFill>
                  <a:schemeClr val="bg1"/>
                </a:solidFill>
                <a:sym typeface="+mn-ea"/>
              </a:rPr>
              <a:t>3. </a:t>
            </a:r>
            <a:r>
              <a:rPr lang="zh-CN" altLang="en-US" sz="2800">
                <a:solidFill>
                  <a:schemeClr val="bg1"/>
                </a:solidFill>
                <a:sym typeface="+mn-ea"/>
              </a:rPr>
              <a:t>你要熟悉</a:t>
            </a:r>
            <a:r>
              <a:rPr lang="zh-CN" altLang="en-US" sz="2800">
                <a:solidFill>
                  <a:schemeClr val="bg1"/>
                </a:solidFill>
                <a:sym typeface="+mn-ea"/>
              </a:rPr>
              <a:t>的不是某个工具，而是协作接口。</a:t>
            </a:r>
            <a:endParaRPr lang="zh-CN" altLang="en-US" sz="2800">
              <a:solidFill>
                <a:schemeClr val="bg1"/>
              </a:solidFill>
            </a:endParaRPr>
          </a:p>
        </p:txBody>
      </p:sp>
      <p:grpSp>
        <p:nvGrpSpPr>
          <p:cNvPr id="63" name="quote_40"/>
          <p:cNvGrpSpPr/>
          <p:nvPr/>
        </p:nvGrpSpPr>
        <p:grpSpPr>
          <a:xfrm>
            <a:off x="914400" y="7670800"/>
            <a:ext cx="14427200" cy="889000"/>
            <a:chOff x="914400" y="7670800"/>
            <a:chExt cx="14427200" cy="889000"/>
          </a:xfrm>
        </p:grpSpPr>
        <p:sp>
          <p:nvSpPr>
            <p:cNvPr id="62" name="矩形: 圆角 59"/>
            <p:cNvSpPr/>
            <p:nvPr/>
          </p:nvSpPr>
          <p:spPr>
            <a:xfrm>
              <a:off x="914400" y="7670800"/>
              <a:ext cx="14427200" cy="889000"/>
            </a:xfrm>
            <a:prstGeom prst="roundRect">
              <a:avLst/>
            </a:prstGeom>
            <a:solidFill>
              <a:srgbClr val="20C7AE">
                <a:alpha val="12000"/>
              </a:srgbClr>
            </a:solidFill>
            <a:ln w="12700" cap="flat" cmpd="sng" algn="ctr">
              <a:solidFill>
                <a:srgbClr val="20C7AE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4" name="矩形 63"/>
            <p:cNvSpPr/>
            <p:nvPr/>
          </p:nvSpPr>
          <p:spPr>
            <a:xfrm>
              <a:off x="914400" y="7670800"/>
              <a:ext cx="76200" cy="889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5" name="文本框 64"/>
            <p:cNvSpPr txBox="1"/>
            <p:nvPr/>
          </p:nvSpPr>
          <p:spPr>
            <a:xfrm>
              <a:off x="1270000" y="7874000"/>
              <a:ext cx="13766800" cy="2768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zh-CN" altLang="en-US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不会有一个一键完美交付的</a:t>
              </a:r>
              <a:r>
                <a:rPr lang="en-US" altLang="zh-CN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AI，</a:t>
              </a:r>
              <a:r>
                <a:rPr lang="zh-CN" altLang="en-US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我们需要早点“驯化”出自己的伙伴</a:t>
              </a:r>
              <a:r>
                <a:rPr lang="en-US" altLang="zh-CN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。</a:t>
              </a:r>
              <a:r>
                <a:rPr lang="zh-CN" altLang="en-US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“等”就是在消耗自己的时间</a:t>
              </a:r>
              <a:r>
                <a:rPr lang="zh-CN" altLang="en-US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成本</a:t>
              </a:r>
              <a:endParaRPr lang="zh-CN" altLang="en-US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PART 4</a:t>
            </a:r>
            <a:endParaRPr lang="en-US" altLang="zh-CN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越用越累</a:t>
            </a:r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？</a:t>
            </a:r>
            <a:endParaRPr lang="en-US" altLang="zh-CN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02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1806222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4" name="card_2"/>
          <p:cNvGrpSpPr/>
          <p:nvPr/>
        </p:nvGrpSpPr>
        <p:grpSpPr>
          <a:xfrm>
            <a:off x="1625600" y="2821940"/>
            <a:ext cx="13500735" cy="920115"/>
            <a:chOff x="1168400" y="4229100"/>
            <a:chExt cx="3793139" cy="2286000"/>
          </a:xfrm>
        </p:grpSpPr>
        <p:sp>
          <p:nvSpPr>
            <p:cNvPr id="49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chemeClr val="bg2">
                <a:lumMod val="10000"/>
                <a:alpha val="93000"/>
              </a:scheme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chemeClr val="accent4">
                <a:lumMod val="5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100" b="1">
                  <a:solidFill>
                    <a:schemeClr val="bg2">
                      <a:lumMod val="25000"/>
                    </a:schemeClr>
                  </a:solidFill>
                  <a:latin typeface="宋体" pitchFamily="2" charset="-122"/>
                  <a:ea typeface="宋体" pitchFamily="2" charset="-122"/>
                </a:rPr>
                <a:t>Question 01</a:t>
              </a:r>
              <a:endParaRPr lang="en-US" altLang="zh-CN" sz="2100" b="1">
                <a:solidFill>
                  <a:schemeClr val="bg2">
                    <a:lumMod val="25000"/>
                  </a:schemeClr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为什么很多人觉得 </a:t>
              </a:r>
              <a:r>
                <a:rPr lang="en-US" altLang="zh-CN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 </a:t>
              </a:r>
              <a:r>
                <a:rPr lang="zh-CN" altLang="en-US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不好用？</a:t>
              </a:r>
              <a:endParaRPr lang="zh-CN" altLang="en-US" sz="2000">
                <a:solidFill>
                  <a:schemeClr val="bg2">
                    <a:lumMod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45" name="card_2"/>
          <p:cNvGrpSpPr/>
          <p:nvPr/>
        </p:nvGrpSpPr>
        <p:grpSpPr>
          <a:xfrm>
            <a:off x="1625600" y="4048125"/>
            <a:ext cx="13500735" cy="920115"/>
            <a:chOff x="1168400" y="4229100"/>
            <a:chExt cx="3793139" cy="2286000"/>
          </a:xfrm>
        </p:grpSpPr>
        <p:sp>
          <p:nvSpPr>
            <p:cNvPr id="46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chemeClr val="bg2">
                <a:lumMod val="10000"/>
                <a:alpha val="93000"/>
              </a:scheme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3E8D26">
                <a:alpha val="73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100" b="1">
                  <a:solidFill>
                    <a:schemeClr val="bg2">
                      <a:lumMod val="25000"/>
                    </a:schemeClr>
                  </a:solidFill>
                  <a:latin typeface="宋体" pitchFamily="2" charset="-122"/>
                  <a:ea typeface="宋体" pitchFamily="2" charset="-122"/>
                </a:rPr>
                <a:t>Question 02</a:t>
              </a:r>
              <a:endParaRPr lang="en-US" altLang="zh-CN" sz="2100" b="1">
                <a:solidFill>
                  <a:schemeClr val="bg2">
                    <a:lumMod val="25000"/>
                  </a:schemeClr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</a:t>
              </a:r>
              <a:r>
                <a:rPr lang="zh-CN" altLang="en-US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都做了</a:t>
              </a:r>
              <a:r>
                <a:rPr lang="en-US" altLang="zh-CN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、</a:t>
              </a:r>
              <a:r>
                <a:rPr lang="zh-CN" altLang="en-US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我做啥</a:t>
              </a:r>
              <a:r>
                <a:rPr lang="en-US" altLang="zh-CN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？</a:t>
              </a:r>
              <a:endParaRPr lang="en-US" altLang="zh-CN" sz="2000">
                <a:solidFill>
                  <a:schemeClr val="bg2">
                    <a:lumMod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74" name="card_2"/>
          <p:cNvGrpSpPr/>
          <p:nvPr/>
        </p:nvGrpSpPr>
        <p:grpSpPr>
          <a:xfrm>
            <a:off x="1625600" y="5325110"/>
            <a:ext cx="13500735" cy="920115"/>
            <a:chOff x="1168400" y="4229100"/>
            <a:chExt cx="3793139" cy="2286000"/>
          </a:xfrm>
        </p:grpSpPr>
        <p:sp>
          <p:nvSpPr>
            <p:cNvPr id="75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chemeClr val="bg2">
                <a:lumMod val="10000"/>
                <a:alpha val="93000"/>
              </a:scheme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6" name="矩形 75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9B75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100" b="1">
                  <a:solidFill>
                    <a:schemeClr val="bg2">
                      <a:lumMod val="25000"/>
                    </a:schemeClr>
                  </a:solidFill>
                  <a:latin typeface="宋体" pitchFamily="2" charset="-122"/>
                  <a:ea typeface="宋体" pitchFamily="2" charset="-122"/>
                </a:rPr>
                <a:t>Question 03</a:t>
              </a:r>
              <a:endParaRPr lang="en-US" altLang="zh-CN" sz="2100" b="1">
                <a:solidFill>
                  <a:schemeClr val="bg2">
                    <a:lumMod val="25000"/>
                  </a:schemeClr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</a:t>
              </a:r>
              <a:r>
                <a:rPr lang="zh-CN" altLang="en-US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发展太快了</a:t>
              </a:r>
              <a:r>
                <a:rPr lang="en-US" altLang="zh-CN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，</a:t>
              </a:r>
              <a:r>
                <a:rPr lang="zh-CN" altLang="en-US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根本跟不上</a:t>
              </a:r>
              <a:r>
                <a:rPr lang="en-US" altLang="zh-CN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，</a:t>
              </a:r>
              <a:r>
                <a:rPr lang="zh-CN" altLang="en-US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不如等个终极版</a:t>
              </a:r>
              <a:r>
                <a:rPr lang="en-US" altLang="zh-CN" sz="2000">
                  <a:solidFill>
                    <a:schemeClr val="bg2">
                      <a:lumMod val="25000"/>
                    </a:schemeClr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？</a:t>
              </a:r>
              <a:endParaRPr lang="en-US" altLang="zh-CN" sz="2000">
                <a:solidFill>
                  <a:schemeClr val="bg2">
                    <a:lumMod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79" name="card_2"/>
          <p:cNvGrpSpPr/>
          <p:nvPr/>
        </p:nvGrpSpPr>
        <p:grpSpPr>
          <a:xfrm>
            <a:off x="1625600" y="6568440"/>
            <a:ext cx="13500735" cy="920115"/>
            <a:chOff x="1168400" y="4229100"/>
            <a:chExt cx="3793139" cy="2286000"/>
          </a:xfrm>
        </p:grpSpPr>
        <p:sp>
          <p:nvSpPr>
            <p:cNvPr id="80" name="矩形: 圆角 48"/>
            <p:cNvSpPr/>
            <p:nvPr/>
          </p:nvSpPr>
          <p:spPr>
            <a:xfrm>
              <a:off x="1168400" y="4229100"/>
              <a:ext cx="3308350" cy="2286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1" name="矩形 80"/>
            <p:cNvSpPr/>
            <p:nvPr/>
          </p:nvSpPr>
          <p:spPr>
            <a:xfrm>
              <a:off x="1168400" y="4229100"/>
              <a:ext cx="63500" cy="2286000"/>
            </a:xfrm>
            <a:prstGeom prst="rect">
              <a:avLst/>
            </a:prstGeom>
            <a:solidFill>
              <a:srgbClr val="4C8D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1498600" y="4800600"/>
              <a:ext cx="2749550" cy="80144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en-US" altLang="zh-CN" sz="2100" b="1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Question 04</a:t>
              </a:r>
              <a:endParaRPr lang="zh-CN" altLang="en-US" sz="21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2211989" y="4877435"/>
              <a:ext cx="2749550" cy="76357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p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用上了</a:t>
              </a:r>
              <a:r>
                <a:rPr lang="en-US" altLang="zh-CN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，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但也完全没觉得</a:t>
              </a:r>
              <a:r>
                <a:rPr lang="zh-CN" altLang="en-US" sz="20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变轻松</a:t>
              </a:r>
              <a:endParaRPr lang="zh-CN" altLang="en-US" sz="20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Practical Use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990600"/>
            <a:ext cx="13208000" cy="5537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结合我们自己的工作：现阶段</a:t>
            </a:r>
            <a:r>
              <a:rPr lang="en-US" altLang="zh-CN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AI</a:t>
            </a:r>
            <a:r>
              <a:rPr lang="zh-CN" altLang="en-US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可以快速发挥作用的是什么</a:t>
            </a:r>
            <a:r>
              <a:rPr lang="en-US" altLang="zh-CN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lang="en-US" altLang="zh-CN" sz="3600" b="1">
              <a:solidFill>
                <a:srgbClr val="EFECE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不是替人做最终决定，而是把中间产物变得可见、可追问、可复用</a:t>
            </a:r>
            <a:endParaRPr lang="zh-CN" altLang="en-US">
              <a:solidFill>
                <a:srgbClr val="A7ADB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15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13546666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card_45"/>
          <p:cNvGrpSpPr/>
          <p:nvPr/>
        </p:nvGrpSpPr>
        <p:grpSpPr>
          <a:xfrm>
            <a:off x="1168400" y="2857500"/>
            <a:ext cx="3308350" cy="2159000"/>
            <a:chOff x="1168400" y="2857500"/>
            <a:chExt cx="3308350" cy="2159000"/>
          </a:xfrm>
        </p:grpSpPr>
        <p:sp>
          <p:nvSpPr>
            <p:cNvPr id="45" name="矩形: 圆角 44"/>
            <p:cNvSpPr/>
            <p:nvPr/>
          </p:nvSpPr>
          <p:spPr>
            <a:xfrm>
              <a:off x="1168400" y="2857500"/>
              <a:ext cx="3308350" cy="2159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1168400" y="2857500"/>
              <a:ext cx="63500" cy="2159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498600" y="3136900"/>
              <a:ext cx="2749550" cy="64633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1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把散落信息压缩成判断材料</a:t>
              </a:r>
              <a:endParaRPr lang="zh-CN" altLang="en-US" sz="21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498600" y="3683000"/>
              <a:ext cx="2749550" cy="73866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PM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系统、钉钉群、会议纪要、需求文档、周报日报、候选人材料。</a:t>
              </a:r>
              <a:endParaRPr lang="zh-CN" altLang="en-US" sz="16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4" name="card_46"/>
          <p:cNvGrpSpPr/>
          <p:nvPr/>
        </p:nvGrpSpPr>
        <p:grpSpPr>
          <a:xfrm>
            <a:off x="4705350" y="2857500"/>
            <a:ext cx="3308350" cy="2159000"/>
            <a:chOff x="4705350" y="2857500"/>
            <a:chExt cx="3308350" cy="2159000"/>
          </a:xfrm>
        </p:grpSpPr>
        <p:sp>
          <p:nvSpPr>
            <p:cNvPr id="50" name="矩形: 圆角 49"/>
            <p:cNvSpPr/>
            <p:nvPr/>
          </p:nvSpPr>
          <p:spPr>
            <a:xfrm>
              <a:off x="4705350" y="2857500"/>
              <a:ext cx="3308350" cy="2159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4705350" y="2857500"/>
              <a:ext cx="63500" cy="2159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5035550" y="3136900"/>
              <a:ext cx="2749550" cy="64633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1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把空白页变成 </a:t>
              </a:r>
              <a:r>
                <a:rPr lang="en-US" altLang="zh-CN" sz="21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60 </a:t>
              </a:r>
              <a:r>
                <a:rPr lang="zh-CN" altLang="en-US" sz="21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分初稿</a:t>
              </a:r>
              <a:endParaRPr lang="zh-CN" altLang="en-US" sz="21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5035550" y="3683000"/>
              <a:ext cx="2749550" cy="492443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需求文档、复盘提纲、汇报材料、面试评价、方案评审意见。</a:t>
              </a:r>
              <a:endParaRPr lang="zh-CN" altLang="en-US" sz="16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9" name="card_47"/>
          <p:cNvGrpSpPr/>
          <p:nvPr/>
        </p:nvGrpSpPr>
        <p:grpSpPr>
          <a:xfrm>
            <a:off x="8242300" y="2857500"/>
            <a:ext cx="3308350" cy="2159000"/>
            <a:chOff x="8242300" y="2857500"/>
            <a:chExt cx="3308350" cy="2159000"/>
          </a:xfrm>
        </p:grpSpPr>
        <p:sp>
          <p:nvSpPr>
            <p:cNvPr id="55" name="矩形: 圆角 54"/>
            <p:cNvSpPr/>
            <p:nvPr/>
          </p:nvSpPr>
          <p:spPr>
            <a:xfrm>
              <a:off x="8242300" y="2857500"/>
              <a:ext cx="3308350" cy="2159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8242300" y="2857500"/>
              <a:ext cx="63500" cy="2159000"/>
            </a:xfrm>
            <a:prstGeom prst="rect">
              <a:avLst/>
            </a:prstGeom>
            <a:solidFill>
              <a:srgbClr val="9B75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8572500" y="3136900"/>
              <a:ext cx="2749550" cy="32316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1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穷举、反问、找盲区</a:t>
              </a:r>
              <a:endParaRPr lang="zh-CN" altLang="en-US" sz="21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8572500" y="3683000"/>
              <a:ext cx="2749550" cy="492443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用户、研发、测试、运营、制作人多视角挑战方案。</a:t>
              </a:r>
              <a:endParaRPr lang="zh-CN" altLang="en-US" sz="16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64" name="card_48"/>
          <p:cNvGrpSpPr/>
          <p:nvPr/>
        </p:nvGrpSpPr>
        <p:grpSpPr>
          <a:xfrm>
            <a:off x="11779250" y="2857500"/>
            <a:ext cx="3308350" cy="2159000"/>
            <a:chOff x="11779250" y="2857500"/>
            <a:chExt cx="3308350" cy="2159000"/>
          </a:xfrm>
        </p:grpSpPr>
        <p:sp>
          <p:nvSpPr>
            <p:cNvPr id="60" name="矩形: 圆角 59"/>
            <p:cNvSpPr/>
            <p:nvPr/>
          </p:nvSpPr>
          <p:spPr>
            <a:xfrm>
              <a:off x="11779250" y="2857500"/>
              <a:ext cx="3308350" cy="2159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11779250" y="2857500"/>
              <a:ext cx="63500" cy="2159000"/>
            </a:xfrm>
            <a:prstGeom prst="rect">
              <a:avLst/>
            </a:prstGeom>
            <a:solidFill>
              <a:srgbClr val="4C8D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12109450" y="3136900"/>
              <a:ext cx="2749550" cy="323165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1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把一次经验沉淀成流程</a:t>
              </a:r>
              <a:endParaRPr lang="zh-CN" altLang="en-US" sz="21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12109450" y="3683000"/>
              <a:ext cx="2749550" cy="492443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Skill / SOP /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模板 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/ Checklist /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工作流，下一次不用重来。</a:t>
              </a:r>
              <a:endParaRPr lang="zh-CN" altLang="en-US" sz="16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6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Boundary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AI </a:t>
            </a:r>
            <a:r>
              <a:rPr lang="zh-CN" altLang="en-US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不擅长：替人做价值判断和责任判断</a:t>
            </a:r>
            <a:endParaRPr lang="zh-CN" altLang="en-US" sz="3600" b="1">
              <a:solidFill>
                <a:srgbClr val="EFECE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越贴近我们的工作，越不能神化 </a:t>
            </a:r>
            <a:r>
              <a:rPr lang="en-US" altLang="zh-CN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AI</a:t>
            </a:r>
            <a:endParaRPr lang="zh-CN" altLang="en-US">
              <a:solidFill>
                <a:srgbClr val="A7ADB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16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14449778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list_49"/>
          <p:cNvGrpSpPr/>
          <p:nvPr/>
        </p:nvGrpSpPr>
        <p:grpSpPr>
          <a:xfrm>
            <a:off x="1168400" y="2921000"/>
            <a:ext cx="6819900" cy="3937000"/>
            <a:chOff x="1168400" y="2921000"/>
            <a:chExt cx="6819900" cy="3937000"/>
          </a:xfrm>
        </p:grpSpPr>
        <p:sp>
          <p:nvSpPr>
            <p:cNvPr id="45" name="矩形: 圆角 44"/>
            <p:cNvSpPr/>
            <p:nvPr/>
          </p:nvSpPr>
          <p:spPr>
            <a:xfrm>
              <a:off x="1168400" y="2921000"/>
              <a:ext cx="6819900" cy="393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FF5F7D">
                  <a:alpha val="6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1168400" y="2921000"/>
              <a:ext cx="63500" cy="3937000"/>
            </a:xfrm>
            <a:prstGeom prst="rect">
              <a:avLst/>
            </a:prstGeom>
            <a:solidFill>
              <a:srgbClr val="FF5F7D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498600" y="3200400"/>
              <a:ext cx="62611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不能替人负责</a:t>
              </a:r>
              <a:endParaRPr lang="zh-CN" altLang="en-US" sz="24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524000" y="3810000"/>
              <a:ext cx="6134100" cy="78483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不能替制作人决定版本取舍
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不能替管理者判断人怎么培养
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不能替负责人承担上线风险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4" name="list_50"/>
          <p:cNvGrpSpPr/>
          <p:nvPr/>
        </p:nvGrpSpPr>
        <p:grpSpPr>
          <a:xfrm>
            <a:off x="8267700" y="2921000"/>
            <a:ext cx="6819900" cy="3937000"/>
            <a:chOff x="8267700" y="2921000"/>
            <a:chExt cx="6819900" cy="3937000"/>
          </a:xfrm>
        </p:grpSpPr>
        <p:sp>
          <p:nvSpPr>
            <p:cNvPr id="50" name="矩形: 圆角 49"/>
            <p:cNvSpPr/>
            <p:nvPr/>
          </p:nvSpPr>
          <p:spPr>
            <a:xfrm>
              <a:off x="8267700" y="2921000"/>
              <a:ext cx="6819900" cy="3937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D6AD61">
                  <a:alpha val="6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8267700" y="2921000"/>
              <a:ext cx="63500" cy="3937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8597900" y="3200400"/>
              <a:ext cx="62611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不能当事实数据源</a:t>
              </a:r>
              <a:endParaRPr lang="zh-CN" altLang="en-US" sz="24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8623300" y="3810000"/>
              <a:ext cx="6134100" cy="104644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排期要看 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PM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系统
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日程、待办、文档状态要查系统
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代码脚本要跑测试
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人事评价要回到事实证据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8" name="quote_51"/>
          <p:cNvGrpSpPr/>
          <p:nvPr/>
        </p:nvGrpSpPr>
        <p:grpSpPr>
          <a:xfrm>
            <a:off x="914400" y="7670800"/>
            <a:ext cx="14427200" cy="889000"/>
            <a:chOff x="914400" y="7670800"/>
            <a:chExt cx="14427200" cy="889000"/>
          </a:xfrm>
        </p:grpSpPr>
        <p:sp>
          <p:nvSpPr>
            <p:cNvPr id="55" name="矩形: 圆角 54"/>
            <p:cNvSpPr/>
            <p:nvPr/>
          </p:nvSpPr>
          <p:spPr>
            <a:xfrm>
              <a:off x="914400" y="7670800"/>
              <a:ext cx="14427200" cy="889000"/>
            </a:xfrm>
            <a:prstGeom prst="roundRect">
              <a:avLst/>
            </a:prstGeom>
            <a:solidFill>
              <a:srgbClr val="20C7AE">
                <a:alpha val="12000"/>
              </a:srgbClr>
            </a:solidFill>
            <a:ln w="12700" cap="flat" cmpd="sng" algn="ctr">
              <a:solidFill>
                <a:srgbClr val="20C7AE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矩形 55"/>
            <p:cNvSpPr/>
            <p:nvPr/>
          </p:nvSpPr>
          <p:spPr>
            <a:xfrm>
              <a:off x="914400" y="7670800"/>
              <a:ext cx="76200" cy="889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270000" y="7874000"/>
              <a:ext cx="13766800" cy="27699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边界：</a:t>
              </a:r>
              <a:r>
                <a:rPr lang="en-US" altLang="zh-CN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AI </a:t>
              </a:r>
              <a:r>
                <a:rPr lang="zh-CN" altLang="en-US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可以帮你想得更全，但不能替你负责。涉及事实、数字、排期、权限和执行结果，必须回到系统校验。</a:t>
              </a:r>
              <a:endParaRPr lang="zh-CN" altLang="en-US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26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PART 2</a:t>
            </a:r>
            <a:endParaRPr lang="en-US" altLang="zh-CN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AI </a:t>
            </a:r>
            <a:r>
              <a:rPr lang="zh-CN" altLang="en-US" sz="3600" b="1">
                <a:solidFill>
                  <a:srgbClr val="EFECE5"/>
                </a:solidFill>
                <a:latin typeface="宋体" pitchFamily="2" charset="-122"/>
                <a:ea typeface="宋体" pitchFamily="2" charset="-122"/>
              </a:rPr>
              <a:t>省掉执行时间，但新增判断负荷</a:t>
            </a:r>
            <a:endParaRPr lang="zh-CN" altLang="en-US" sz="3600" b="1">
              <a:solidFill>
                <a:srgbClr val="EFECE5"/>
              </a:solidFill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人的责任没有消失，只是位置变了</a:t>
            </a:r>
            <a:endParaRPr lang="zh-CN" altLang="en-US">
              <a:solidFill>
                <a:srgbClr val="A7ADB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05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4515555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quote_13"/>
          <p:cNvGrpSpPr/>
          <p:nvPr/>
        </p:nvGrpSpPr>
        <p:grpSpPr>
          <a:xfrm>
            <a:off x="1422400" y="2870200"/>
            <a:ext cx="13411200" cy="1143000"/>
            <a:chOff x="1422400" y="2870200"/>
            <a:chExt cx="13411200" cy="1143000"/>
          </a:xfrm>
        </p:grpSpPr>
        <p:sp>
          <p:nvSpPr>
            <p:cNvPr id="45" name="矩形: 圆角 44"/>
            <p:cNvSpPr/>
            <p:nvPr/>
          </p:nvSpPr>
          <p:spPr>
            <a:xfrm>
              <a:off x="1422400" y="2870200"/>
              <a:ext cx="13411200" cy="1143000"/>
            </a:xfrm>
            <a:prstGeom prst="roundRect">
              <a:avLst/>
            </a:prstGeom>
            <a:solidFill>
              <a:srgbClr val="D6AD61">
                <a:alpha val="12000"/>
              </a:srgbClr>
            </a:solidFill>
            <a:ln w="12700" cap="flat" cmpd="sng" algn="ctr">
              <a:solidFill>
                <a:srgbClr val="D6AD61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1422400" y="2870200"/>
              <a:ext cx="76200" cy="1143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778000" y="3073400"/>
              <a:ext cx="12750800" cy="38472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5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AI </a:t>
              </a:r>
              <a:r>
                <a:rPr lang="zh-CN" altLang="en-US" sz="25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没有让人天然更轻松，它只是把工作从执行迁移到了判断。</a:t>
              </a:r>
              <a:endParaRPr lang="zh-CN" altLang="en-US" sz="2500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4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04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3612445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5" name="quote_12"/>
          <p:cNvGrpSpPr/>
          <p:nvPr/>
        </p:nvGrpSpPr>
        <p:grpSpPr>
          <a:xfrm>
            <a:off x="812800" y="2951480"/>
            <a:ext cx="14427200" cy="2738120"/>
            <a:chOff x="914400" y="7670800"/>
            <a:chExt cx="14427200" cy="889000"/>
          </a:xfrm>
        </p:grpSpPr>
        <p:sp>
          <p:nvSpPr>
            <p:cNvPr id="66" name="矩形: 圆角 59"/>
            <p:cNvSpPr/>
            <p:nvPr/>
          </p:nvSpPr>
          <p:spPr>
            <a:xfrm>
              <a:off x="914400" y="7670800"/>
              <a:ext cx="14427200" cy="889000"/>
            </a:xfrm>
            <a:prstGeom prst="roundRect">
              <a:avLst/>
            </a:prstGeom>
            <a:solidFill>
              <a:srgbClr val="20C7AE">
                <a:alpha val="12000"/>
              </a:srgbClr>
            </a:solidFill>
            <a:ln w="12700" cap="flat" cmpd="sng" algn="ctr">
              <a:solidFill>
                <a:srgbClr val="20C7AE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7" name="矩形 66"/>
            <p:cNvSpPr/>
            <p:nvPr/>
          </p:nvSpPr>
          <p:spPr>
            <a:xfrm>
              <a:off x="914400" y="7670800"/>
              <a:ext cx="76200" cy="889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270000" y="7874000"/>
              <a:ext cx="13766800" cy="239774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sym typeface="+mn-ea"/>
                </a:rPr>
                <a:t>新生产力需要新生产关系：岗位边界、协作流程、信息流转都会被重构。</a:t>
              </a:r>
              <a:endParaRPr lang="zh-CN" altLang="en-US" sz="2400">
                <a:solidFill>
                  <a:schemeClr val="bg1"/>
                </a:solidFill>
              </a:endParaRPr>
            </a:p>
            <a:p>
              <a:r>
                <a:rPr lang="zh-CN" altLang="en-US" sz="24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这是一场漫长的变革</a:t>
              </a:r>
              <a:r>
                <a:rPr lang="en-US" altLang="zh-CN" sz="24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，</a:t>
              </a:r>
              <a:r>
                <a:rPr lang="zh-CN" altLang="en-US" sz="24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大家都要重新</a:t>
              </a:r>
              <a:r>
                <a:rPr lang="zh-CN" altLang="en-US" sz="2400">
                  <a:solidFill>
                    <a:srgbClr val="EFECE5"/>
                  </a:solidFill>
                  <a:latin typeface="宋体" pitchFamily="2" charset="-122"/>
                  <a:ea typeface="宋体" pitchFamily="2" charset="-122"/>
                </a:rPr>
                <a:t>适应</a:t>
              </a:r>
              <a:endParaRPr lang="zh-CN" altLang="en-US" sz="2400">
                <a:solidFill>
                  <a:srgbClr val="EFECE5"/>
                </a:solidFill>
                <a:latin typeface="宋体" pitchFamily="2" charset="-122"/>
                <a:ea typeface="宋体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7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Action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行动指南：今天下班前完成一轮驯化</a:t>
            </a:r>
            <a:endParaRPr lang="zh-CN" altLang="en-US" sz="3600" b="1">
              <a:solidFill>
                <a:srgbClr val="EFECE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1905000"/>
            <a:ext cx="12700000" cy="276999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选一个 </a:t>
            </a:r>
            <a:r>
              <a:rPr lang="en-US" altLang="zh-CN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30 </a:t>
            </a:r>
            <a:r>
              <a:rPr lang="zh-CN" altLang="en-US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分钟以上、以后还会重复出现的真实任务</a:t>
            </a:r>
            <a:endParaRPr lang="zh-CN" altLang="en-US">
              <a:solidFill>
                <a:srgbClr val="A7ADBB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17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0" y="9093200"/>
            <a:ext cx="15352889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9" name="list_52"/>
          <p:cNvGrpSpPr/>
          <p:nvPr/>
        </p:nvGrpSpPr>
        <p:grpSpPr>
          <a:xfrm>
            <a:off x="1168400" y="2921000"/>
            <a:ext cx="6819900" cy="4445000"/>
            <a:chOff x="1168400" y="2921000"/>
            <a:chExt cx="6819900" cy="4445000"/>
          </a:xfrm>
        </p:grpSpPr>
        <p:sp>
          <p:nvSpPr>
            <p:cNvPr id="45" name="矩形: 圆角 44"/>
            <p:cNvSpPr/>
            <p:nvPr/>
          </p:nvSpPr>
          <p:spPr>
            <a:xfrm>
              <a:off x="1168400" y="2921000"/>
              <a:ext cx="6819900" cy="4445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0C7AE">
                  <a:alpha val="6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1168400" y="2921000"/>
              <a:ext cx="63500" cy="4445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498600" y="3200400"/>
              <a:ext cx="62611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最小行动</a:t>
              </a:r>
              <a:endParaRPr lang="zh-CN" altLang="en-US" sz="24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524000" y="3810000"/>
              <a:ext cx="6134100" cy="1231106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写下它痛在哪里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让 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先问 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3-5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个关键问题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判断适合模板、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Checklist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、小工具还是系统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出第一版产物，至少反馈两轮
</a:t>
              </a:r>
              <a:r>
                <a:rPr lang="en-US" altLang="zh-CN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6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把有效提示词或工具雏形存下来，明天复用一次</a:t>
              </a:r>
              <a:endParaRPr lang="zh-CN" altLang="en-US" sz="16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4" name="list_53"/>
          <p:cNvGrpSpPr/>
          <p:nvPr/>
        </p:nvGrpSpPr>
        <p:grpSpPr>
          <a:xfrm>
            <a:off x="8267700" y="2921000"/>
            <a:ext cx="6819900" cy="4445000"/>
            <a:chOff x="8267700" y="2921000"/>
            <a:chExt cx="6819900" cy="4445000"/>
          </a:xfrm>
        </p:grpSpPr>
        <p:sp>
          <p:nvSpPr>
            <p:cNvPr id="50" name="矩形: 圆角 49"/>
            <p:cNvSpPr/>
            <p:nvPr/>
          </p:nvSpPr>
          <p:spPr>
            <a:xfrm>
              <a:off x="8267700" y="2921000"/>
              <a:ext cx="6819900" cy="4445000"/>
            </a:xfrm>
            <a:prstGeom prst="roundRect">
              <a:avLst/>
            </a:prstGeom>
            <a:solidFill>
              <a:srgbClr val="050812"/>
            </a:solidFill>
            <a:ln w="12700" cap="flat" cmpd="sng" algn="ctr">
              <a:solidFill>
                <a:srgbClr val="4C8DFF">
                  <a:alpha val="6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8267700" y="2921000"/>
              <a:ext cx="63500" cy="4445000"/>
            </a:xfrm>
            <a:prstGeom prst="rect">
              <a:avLst/>
            </a:prstGeom>
            <a:solidFill>
              <a:srgbClr val="4C8D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8597900" y="3200400"/>
              <a:ext cx="62611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提示词模板</a:t>
              </a:r>
              <a:endParaRPr lang="zh-CN" altLang="en-US" sz="24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8623300" y="3810000"/>
              <a:ext cx="6134100" cy="15696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我有一个反复出现的工作痛点：
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【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描述场景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】
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现在的做法是：
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【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谁在什么时候，用什么方式处理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】
•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请先不要直接给方案。先问我 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5 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个关键问题，帮我判断真正的钉子是什么、哪些可规则化、第一版最小可用方案是什么。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_18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70B1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6256000" cy="63500"/>
          </a:xfrm>
          <a:prstGeom prst="rect">
            <a:avLst/>
          </a:prstGeom>
          <a:solidFill>
            <a:srgbClr val="D6AD6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762000" y="571500"/>
            <a:ext cx="3937000" cy="3937000"/>
          </a:xfrm>
          <a:prstGeom prst="ellipse">
            <a:avLst/>
          </a:prstGeom>
          <a:solidFill>
            <a:srgbClr val="D6AD61">
              <a:alpha val="1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11430000" y="889000"/>
            <a:ext cx="3556000" cy="3556000"/>
          </a:xfrm>
          <a:prstGeom prst="ellipse">
            <a:avLst/>
          </a:prstGeom>
          <a:solidFill>
            <a:srgbClr val="20C7AE">
              <a:alpha val="16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0414000" y="5969000"/>
            <a:ext cx="3302000" cy="3302000"/>
          </a:xfrm>
          <a:prstGeom prst="ellipse">
            <a:avLst/>
          </a:prstGeom>
          <a:solidFill>
            <a:srgbClr val="9B75FF">
              <a:alpha val="1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12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625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2438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251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064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876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689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6502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7315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>
            <a:off x="8128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8940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9753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10566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1379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121920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30048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>
            <a:off x="138176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146304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/>
          <p:cNvCxnSpPr/>
          <p:nvPr/>
        </p:nvCxnSpPr>
        <p:spPr>
          <a:xfrm>
            <a:off x="15443200" y="0"/>
            <a:ext cx="0" cy="914400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>
            <a:off x="0" y="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0" y="812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0" y="1625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0" y="2438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>
            <a:off x="0" y="3251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0" y="4064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0" y="4876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0" y="56896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/>
          <p:cNvCxnSpPr/>
          <p:nvPr/>
        </p:nvCxnSpPr>
        <p:spPr>
          <a:xfrm>
            <a:off x="0" y="65024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>
            <a:off x="0" y="73152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0" y="81280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/>
        </p:nvCxnSpPr>
        <p:spPr>
          <a:xfrm>
            <a:off x="0" y="8940800"/>
            <a:ext cx="16256000" cy="0"/>
          </a:xfrm>
          <a:prstGeom prst="line">
            <a:avLst/>
          </a:prstGeom>
          <a:ln w="3175" cap="flat" cmpd="sng" algn="ctr">
            <a:solidFill>
              <a:srgbClr val="151B2A">
                <a:alpha val="2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914400" y="6096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altLang="zh-CN" sz="1400">
                <a:solidFill>
                  <a:srgbClr val="D6AD61"/>
                </a:solidFill>
                <a:latin typeface="Consolas" panose="020B0609020204030204" pitchFamily="49" charset="0"/>
              </a:rPr>
              <a:t>Closing</a:t>
            </a:r>
            <a:endParaRPr lang="zh-CN" altLang="en-US" sz="1400">
              <a:solidFill>
                <a:srgbClr val="D6AD61"/>
              </a:solidFill>
              <a:latin typeface="Consolas" panose="020B0609020204030204" pitchFamily="49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914400" y="990600"/>
            <a:ext cx="13208000" cy="55399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别从“学 </a:t>
            </a:r>
            <a:r>
              <a:rPr lang="en-US" altLang="zh-CN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AI </a:t>
            </a:r>
            <a:r>
              <a:rPr lang="zh-CN" altLang="en-US" sz="36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工具”开始</a:t>
            </a:r>
            <a:endParaRPr lang="zh-CN" altLang="en-US" sz="3600" b="1">
              <a:solidFill>
                <a:srgbClr val="EFECE5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914400" y="8686800"/>
            <a:ext cx="3302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r>
              <a:rPr lang="zh-CN" altLang="en-US" sz="1100">
                <a:solidFill>
                  <a:srgbClr val="69718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驯化野生硅基伙伴</a:t>
            </a:r>
            <a:endParaRPr lang="zh-CN" altLang="en-US" sz="1100">
              <a:solidFill>
                <a:srgbClr val="697184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732000" y="8686800"/>
            <a:ext cx="889000" cy="169277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spAutoFit/>
          </a:bodyPr>
          <a:lstStyle/>
          <a:p>
            <a:pPr algn="r"/>
            <a:r>
              <a:rPr lang="en-US" altLang="zh-CN" sz="1100">
                <a:solidFill>
                  <a:srgbClr val="697184"/>
                </a:solidFill>
                <a:latin typeface="Consolas" panose="020B0609020204030204" pitchFamily="49" charset="0"/>
              </a:rPr>
              <a:t>18 / 18</a:t>
            </a:r>
            <a:endParaRPr lang="zh-CN" altLang="en-US" sz="1100">
              <a:solidFill>
                <a:srgbClr val="697184"/>
              </a:solidFill>
              <a:latin typeface="Consolas" panose="020B0609020204030204" pitchFamily="49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0" y="9093200"/>
            <a:ext cx="16256000" cy="50800"/>
          </a:xfrm>
          <a:prstGeom prst="rect">
            <a:avLst/>
          </a:prstGeom>
          <a:solidFill>
            <a:srgbClr val="20C7A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7" name="quote_54"/>
          <p:cNvGrpSpPr/>
          <p:nvPr/>
        </p:nvGrpSpPr>
        <p:grpSpPr>
          <a:xfrm>
            <a:off x="1168400" y="2603500"/>
            <a:ext cx="13919200" cy="1270000"/>
            <a:chOff x="1168400" y="2603500"/>
            <a:chExt cx="13919200" cy="1270000"/>
          </a:xfrm>
        </p:grpSpPr>
        <p:sp>
          <p:nvSpPr>
            <p:cNvPr id="44" name="矩形: 圆角 43"/>
            <p:cNvSpPr/>
            <p:nvPr/>
          </p:nvSpPr>
          <p:spPr>
            <a:xfrm>
              <a:off x="1168400" y="2603500"/>
              <a:ext cx="13919200" cy="1270000"/>
            </a:xfrm>
            <a:prstGeom prst="roundRect">
              <a:avLst/>
            </a:prstGeom>
            <a:solidFill>
              <a:srgbClr val="D6AD61">
                <a:alpha val="12000"/>
              </a:srgbClr>
            </a:solidFill>
            <a:ln w="12700" cap="flat" cmpd="sng" algn="ctr">
              <a:solidFill>
                <a:srgbClr val="D6AD61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>
              <a:off x="1168400" y="2603500"/>
              <a:ext cx="76200" cy="1270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524000" y="2806700"/>
              <a:ext cx="13258800" cy="4001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600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从找一颗真实钉子，训练一个能帮你解决它的硅基伙伴开始。</a:t>
              </a:r>
              <a:endParaRPr lang="zh-CN" altLang="en-US" sz="2600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52" name="card_55"/>
          <p:cNvGrpSpPr/>
          <p:nvPr/>
        </p:nvGrpSpPr>
        <p:grpSpPr>
          <a:xfrm>
            <a:off x="1168400" y="4229100"/>
            <a:ext cx="6845300" cy="1905000"/>
            <a:chOff x="1168400" y="4229100"/>
            <a:chExt cx="6845300" cy="1905000"/>
          </a:xfrm>
        </p:grpSpPr>
        <p:sp>
          <p:nvSpPr>
            <p:cNvPr id="48" name="矩形: 圆角 47"/>
            <p:cNvSpPr/>
            <p:nvPr/>
          </p:nvSpPr>
          <p:spPr>
            <a:xfrm>
              <a:off x="1168400" y="4229100"/>
              <a:ext cx="6845300" cy="1905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矩形 48"/>
            <p:cNvSpPr/>
            <p:nvPr/>
          </p:nvSpPr>
          <p:spPr>
            <a:xfrm>
              <a:off x="1168400" y="4229100"/>
              <a:ext cx="63500" cy="1905000"/>
            </a:xfrm>
            <a:prstGeom prst="rect">
              <a:avLst/>
            </a:prstGeom>
            <a:solidFill>
              <a:srgbClr val="D6AD6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1498600" y="4508500"/>
              <a:ext cx="62865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en-US" altLang="zh-CN" sz="24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AI </a:t>
              </a:r>
              <a:r>
                <a:rPr lang="zh-CN" altLang="en-US" sz="24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是放大器，不是灵魂</a:t>
              </a:r>
              <a:endParaRPr lang="zh-CN" altLang="en-US" sz="24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498600" y="5054600"/>
              <a:ext cx="6286500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不要把思考外包给 </a:t>
              </a:r>
              <a:r>
                <a:rPr lang="en-US" altLang="zh-CN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AI</a:t>
              </a:r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。我们训练硅基伙伴，不是为了让它替我们思考，而是为了把人从重复劳动里解放出来。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57" name="card_56"/>
          <p:cNvGrpSpPr/>
          <p:nvPr/>
        </p:nvGrpSpPr>
        <p:grpSpPr>
          <a:xfrm>
            <a:off x="8242300" y="4229100"/>
            <a:ext cx="6845300" cy="1905000"/>
            <a:chOff x="8242300" y="4229100"/>
            <a:chExt cx="6845300" cy="1905000"/>
          </a:xfrm>
        </p:grpSpPr>
        <p:sp>
          <p:nvSpPr>
            <p:cNvPr id="53" name="矩形: 圆角 52"/>
            <p:cNvSpPr/>
            <p:nvPr/>
          </p:nvSpPr>
          <p:spPr>
            <a:xfrm>
              <a:off x="8242300" y="4229100"/>
              <a:ext cx="6845300" cy="1905000"/>
            </a:xfrm>
            <a:prstGeom prst="roundRect">
              <a:avLst/>
            </a:prstGeom>
            <a:solidFill>
              <a:srgbClr val="111A2B">
                <a:alpha val="93000"/>
              </a:srgbClr>
            </a:solidFill>
            <a:ln w="12700" cap="flat" cmpd="sng" algn="ctr">
              <a:solidFill>
                <a:srgbClr val="283245">
                  <a:alpha val="9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8242300" y="4229100"/>
              <a:ext cx="63500" cy="1905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8572500" y="4508500"/>
              <a:ext cx="6286500" cy="369332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2400" b="1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人的价值</a:t>
              </a:r>
              <a:endParaRPr lang="zh-CN" altLang="en-US" sz="2400" b="1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8572500" y="5054600"/>
              <a:ext cx="6286500" cy="5232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 sz="1700">
                  <a:solidFill>
                    <a:srgbClr val="A7ADBB"/>
                  </a:solidFill>
                  <a:latin typeface="Microsoft YaHei UI" panose="020B0503020204020204" pitchFamily="34" charset="-122"/>
                  <a:ea typeface="Microsoft YaHei UI" panose="020B0503020204020204" pitchFamily="34" charset="-122"/>
                </a:rPr>
                <a:t>找到真问题，定义好标准，做出取舍，并把一次解决变成可复用生产力。</a:t>
              </a:r>
              <a:endParaRPr lang="zh-CN" altLang="en-US" sz="1700">
                <a:solidFill>
                  <a:srgbClr val="A7ADBB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endParaRPr>
            </a:p>
          </p:txBody>
        </p:sp>
      </p:grpSp>
      <p:grpSp>
        <p:nvGrpSpPr>
          <p:cNvPr id="61" name="quote_57"/>
          <p:cNvGrpSpPr/>
          <p:nvPr/>
        </p:nvGrpSpPr>
        <p:grpSpPr>
          <a:xfrm>
            <a:off x="914400" y="7797800"/>
            <a:ext cx="14427200" cy="889000"/>
            <a:chOff x="914400" y="7797800"/>
            <a:chExt cx="14427200" cy="889000"/>
          </a:xfrm>
        </p:grpSpPr>
        <p:sp>
          <p:nvSpPr>
            <p:cNvPr id="58" name="矩形: 圆角 57"/>
            <p:cNvSpPr/>
            <p:nvPr/>
          </p:nvSpPr>
          <p:spPr>
            <a:xfrm>
              <a:off x="914400" y="7797800"/>
              <a:ext cx="14427200" cy="889000"/>
            </a:xfrm>
            <a:prstGeom prst="roundRect">
              <a:avLst/>
            </a:prstGeom>
            <a:solidFill>
              <a:srgbClr val="20C7AE">
                <a:alpha val="12000"/>
              </a:srgbClr>
            </a:solidFill>
            <a:ln w="12700" cap="flat" cmpd="sng" algn="ctr">
              <a:solidFill>
                <a:srgbClr val="20C7AE">
                  <a:alpha val="55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矩形 58"/>
            <p:cNvSpPr/>
            <p:nvPr/>
          </p:nvSpPr>
          <p:spPr>
            <a:xfrm>
              <a:off x="914400" y="7797800"/>
              <a:ext cx="76200" cy="889000"/>
            </a:xfrm>
            <a:prstGeom prst="rect">
              <a:avLst/>
            </a:prstGeom>
            <a:solidFill>
              <a:srgbClr val="20C7A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270000" y="8001000"/>
              <a:ext cx="13766800" cy="55399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t">
              <a:spAutoFit/>
            </a:bodyPr>
            <a:lstStyle/>
            <a:p>
              <a:r>
                <a:rPr lang="zh-CN" altLang="en-US">
                  <a:solidFill>
                    <a:srgbClr val="EFECE5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最终收束：概率性硅基负责理解、生成、追问和辅助判断；确定性硅基负责稳定执行、自动流转和降低损耗。判断、选择和创造，仍然是人的责任。</a:t>
              </a:r>
              <a:endParaRPr lang="zh-CN" altLang="en-US">
                <a:solidFill>
                  <a:srgbClr val="EFECE5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4216</Words>
  <Application>WPS 表格</Application>
  <PresentationFormat>自定义</PresentationFormat>
  <Paragraphs>601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53" baseType="lpstr">
      <vt:lpstr>Arial</vt:lpstr>
      <vt:lpstr>宋体</vt:lpstr>
      <vt:lpstr>Wingdings</vt:lpstr>
      <vt:lpstr>Consolas</vt:lpstr>
      <vt:lpstr>苹方-简</vt:lpstr>
      <vt:lpstr>宋体</vt:lpstr>
      <vt:lpstr>Microsoft YaHei UI</vt:lpstr>
      <vt:lpstr>等线</vt:lpstr>
      <vt:lpstr>汉仪中等线KW</vt:lpstr>
      <vt:lpstr>汉仪书宋二KW</vt:lpstr>
      <vt:lpstr>微软雅黑</vt:lpstr>
      <vt:lpstr>汉仪旗黑</vt:lpstr>
      <vt:lpstr>宋体</vt:lpstr>
      <vt:lpstr>Arial Unicode MS</vt:lpstr>
      <vt:lpstr>等线 Light</vt:lpstr>
      <vt:lpstr>Calibri</vt:lpstr>
      <vt:lpstr>Helvetica Neue</vt:lpstr>
      <vt:lpstr>Microsoft YaHei UI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grissy sun</dc:creator>
  <cp:lastModifiedBy>sy</cp:lastModifiedBy>
  <cp:revision>5</cp:revision>
  <dcterms:created xsi:type="dcterms:W3CDTF">2026-05-04T07:16:09Z</dcterms:created>
  <dcterms:modified xsi:type="dcterms:W3CDTF">2026-05-04T07:16:09Z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A6E6DF2D25D050E4BE56F7695EB75DEA_42</vt:lpwstr>
  </property>
  <property fmtid="{D5CDD505-2E9C-101B-9397-08002B2CF9AE}" pid="3" name="KSOProductBuildVer">
    <vt:lpwstr>2052-6.13.2.8918</vt:lpwstr>
  </property>
</Properties>
</file>